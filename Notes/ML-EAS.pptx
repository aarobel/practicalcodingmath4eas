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6"/>
  </p:notesMasterIdLst>
  <p:sldIdLst>
    <p:sldId id="392" r:id="rId2"/>
    <p:sldId id="256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1" r:id="rId16"/>
    <p:sldId id="369" r:id="rId17"/>
    <p:sldId id="370" r:id="rId18"/>
    <p:sldId id="376" r:id="rId19"/>
    <p:sldId id="395" r:id="rId20"/>
    <p:sldId id="397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99" r:id="rId29"/>
    <p:sldId id="386" r:id="rId30"/>
    <p:sldId id="387" r:id="rId31"/>
    <p:sldId id="389" r:id="rId32"/>
    <p:sldId id="388" r:id="rId33"/>
    <p:sldId id="393" r:id="rId34"/>
    <p:sldId id="39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1"/>
    <p:restoredTop sz="94730"/>
  </p:normalViewPr>
  <p:slideViewPr>
    <p:cSldViewPr snapToGrid="0">
      <p:cViewPr>
        <p:scale>
          <a:sx n="122" d="100"/>
          <a:sy n="122" d="100"/>
        </p:scale>
        <p:origin x="8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0E7C9-330E-3B43-BD4E-ADCF5A14305B}" type="datetimeFigureOut">
              <a:rPr lang="en-US" smtClean="0"/>
              <a:t>11/1/24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C0598-B3FD-D64E-BD2F-286FC2D5E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1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AAD8E-D3A1-7E51-3DBC-599F1FD5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9AAD7-CBE1-0837-BB49-F6583FA61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9A4E5-F46D-A5B5-5867-388B43F0A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55DF8-D2CB-D56C-ED68-3D8458821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04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26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27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3BB8-9908-E044-B31F-4F25F9E88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DD24F-8D90-90AE-F94D-C92A57094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DF703-AECF-B963-1AEE-04FB4500A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3621-ED72-3517-8822-1A1D47BEB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26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FE8A-56D7-AE5F-AD99-1955F872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68B6B-D790-AA33-9613-AE9553BE2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53228-FD6E-3178-94DA-E6B02D3E5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3C9BF-4482-AF73-F0DD-440B2964C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51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499CA-5DF7-C0BA-EA7C-2D120402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711C7-9EF8-8B15-E964-38799EFF1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E4351-3921-6BAF-416C-434F53202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ACBA1-3E08-085F-727B-20AA676B1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1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6CE4-1AD2-3151-5B48-B477E092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3EB52-866A-D1C4-77E0-612FCEC02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67BF6-6CB2-513C-E4BB-A0D1462C9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305DA-3E9E-8A8A-9AD0-45491889B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44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53A40-611D-3A37-F79B-C41C5794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BC3C0-55C6-E109-717B-A1B56C44F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AB4D9-F790-3248-85BB-02A3CB01B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942E0-F0FF-FAFC-B7B8-DADC1FD7F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40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4EBC-15AE-DDC1-C441-A45C01BE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FFAD3-0042-2AB7-7CB3-D55083633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DC71F-10FB-4E2F-89D1-2F9FFC0A5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5C37D-32A1-A00E-10E8-DB6E27081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19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BDA0-F952-A22C-47FD-ACF0CC30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7D78B-3122-9E9E-5400-11148816E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A130D-D527-A59F-133F-66AF8378D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344D-898D-4BF4-206A-24F009392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18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0774-9917-9E79-6581-5B3E63FD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7F150-4630-F3CB-8B64-8FE7D2FD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2C92-E2E4-BD4F-BB7B-274F22165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13E8D-2502-7521-8193-6D0B97511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19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9E39-BE38-7DCB-6247-26D86739A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6E211-A8F0-249A-0D75-D0CF542DB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35876-0FC7-9C10-62AE-57FFF770E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482B9-846F-3F3E-DE16-F0504E294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17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3BBA-56AE-70FE-4CC4-BE64DE85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68AC8-2483-0083-9758-B3E93E101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9F5E8-55FB-AEFC-714D-46B3E36EC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E6493-CFC4-0B2F-E443-48CC8EA36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26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004D-B3E7-D842-3B81-A2AA10EB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4316D-7998-2C98-EB57-AF1C6B294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102EC-CD36-6F7C-AFE4-23E5DDA3D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A86A8-49A7-6EA7-2F8F-EA0377AF4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70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52BE-9212-E58D-DF88-2B17DDBD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D7B23-432F-F26A-3388-37A2D6932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6C667F-86FC-E18A-7DC7-514AEAEDD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C916E-80CB-ED08-6017-3EB3EE57F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07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EF90-1895-8D70-0980-0A5A677E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5B2B1-1416-4F93-24BF-DB76A3954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9A1A0-DCA9-7138-0556-8C8C09853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996F-CAB4-9420-FBBA-EF7D49015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32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3F25-B192-22B6-2F20-33F3F899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FFF51-41C0-FCE7-6AFC-CDAC20407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13C7D-BB80-E9BC-2D1E-4CD73C24E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257DB-E443-7FB1-011F-5B827C92C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7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8496-54CA-04F2-88EE-44E59F4C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8B648-2734-02BF-1438-B64E42521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88765-F564-9359-22A6-61CDD3B95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5A1D7-9989-37AE-9897-C1E3BE877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27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E609-A86D-1C1C-1053-E8099C88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D8FC6-D6DC-525C-125E-F5ED2BAFE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53DE0-B8EC-9B87-5D09-ED8303C32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D479C-A227-8B15-1537-BF8B51386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15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B4A6-DCA9-92AD-2BD5-BCEB35DF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6E139-5986-CFB1-04C9-F875215D3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84AD8-4344-A78A-9E7F-FA09DB440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1D4AC-CB0C-743B-0160-0EC19B348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10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8088-495B-3F4E-7171-083D0620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C129F-2C23-CC8F-3B23-EA7996B89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E439F-7613-4430-F3D4-D97DC7693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95A76-9D55-11CD-BB37-76AFDC3B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38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87BEC-E20B-8DF8-4BC1-C851466F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283CB-C453-EAB5-D6A8-4C72B14BC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D71C5-950D-EF11-1567-59EE4BD3D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8DCC3-334F-1930-DCD3-AA1C8A5D1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62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94B91-E808-463B-726E-B2067402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EABDF-88F7-3500-5344-70A88FCC9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C35A9-1AE2-84FE-F247-E339CA85E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image is dived by smaller subsets and our cortex is processing these </a:t>
            </a:r>
            <a:r>
              <a:rPr lang="en-US" dirty="0" err="1"/>
              <a:t>subimages</a:t>
            </a:r>
            <a:r>
              <a:rPr lang="en-US" dirty="0"/>
              <a:t>, basically patterns are preserved!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AA8D1-FBE4-5B0A-7D60-FACD73AE7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573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4148-F1EB-34BB-EDEA-34517857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40DF3-6700-C340-A377-84DAF2BF6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FC029-9A1D-B6AF-3654-924C06A1C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28AFD-AA3D-0FE4-FDF1-BA0A3997D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02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3F3E-D37B-98D1-00DF-0C39040F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F0494-D77C-2FE6-637B-68E6A7940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10F1C-55B5-6963-D86F-4181ECB5D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Weighting windows, kernel and filter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7A344-2BEE-B329-910E-74F41D67D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68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31047-8C72-5E62-C0CA-7D1DCC74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353DC-4485-1D9E-5613-18B5387B9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B4AF3-70AB-7CA2-6057-FB512BAE8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D7887-19F6-42C1-E1D5-D9DA5A006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357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B736-7C48-A820-6A84-B4E9C989F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891DC-6934-4339-DA8F-E901F82BE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A85B3-41E9-90D3-BE55-33528192A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7EFF6-E18A-1241-B75E-F43AD129F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534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D9C79-872C-F2BC-2614-404139D3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5B3C3-5574-9508-6C73-1A08CF68D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8F2BD-F227-CE3D-4CB1-74445163F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convolutional NN leans the weights for the filters to best extract patterns to maximize the accuracy of the model on </a:t>
            </a:r>
            <a:r>
              <a:rPr lang="en-US" dirty="0" err="1"/>
              <a:t>traning</a:t>
            </a:r>
            <a:r>
              <a:rPr lang="en-US" dirty="0"/>
              <a:t> data</a:t>
            </a:r>
          </a:p>
          <a:p>
            <a:r>
              <a:rPr lang="en-US" dirty="0" err="1"/>
              <a:t>Typlically</a:t>
            </a:r>
            <a:r>
              <a:rPr lang="en-US" dirty="0"/>
              <a:t> multiple filters are </a:t>
            </a:r>
            <a:r>
              <a:rPr lang="en-US" dirty="0" err="1"/>
              <a:t>tranined</a:t>
            </a:r>
            <a:r>
              <a:rPr lang="en-US" dirty="0"/>
              <a:t> on each convolutional layer to extract various structure from the image. This increases feature map depth/channels</a:t>
            </a:r>
          </a:p>
          <a:p>
            <a:r>
              <a:rPr lang="en-US" dirty="0"/>
              <a:t>Padding make a dimensionality reduction, it leads to translation invariance, or pattern detection will be insensitive to location.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FEB7F-A981-84CC-D3B0-05976FAB0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275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B7652-0C27-D120-EEC5-16A534E8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4FAF3-8257-4FCA-D1AA-05F259A84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DA41E-E992-409A-3651-43E910C00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pattern of CNN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BD48A-8C83-63EA-3D80-8F31D5B77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858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8F78-AC7B-1240-B99B-3AA6B8F1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B5D6B-4CB8-38F8-BAB7-B5748513B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23FAD-E2D9-7931-DE6F-C2F7956B1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1E2C4-5FF8-35E8-1BA2-86D16A90E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999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283B-C0B1-EAE6-A1C4-9692F459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7F208-0002-AA69-EFFD-EBCF7D594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85819-E643-BE5A-A965-1A7F454A5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41FA2-4C6C-CB4A-D368-DCC05C50D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0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5BB2D-FE00-28EE-44DF-0B2EA7EB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A7251-3916-10BE-318F-D66DF6D2F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5E904-6E22-5010-5355-5CCFF61F0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4A622-7CA7-3E2C-7820-C271D7CC4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C0598-B3FD-D64E-BD2F-286FC2D5E62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1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6061-69E5-1A8C-BF84-DD02EEF9B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C52BE-1BB8-C2A5-F043-C793C5300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CA566-0B7C-CAD2-7376-7AFC2CCA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89ACF-47A0-0541-A36B-B2365CB5FE9B}" type="datetime1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5F698-138D-A3B9-81D0-85EAA8C3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5D906-FC9C-BE91-87B3-BD0986CC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1F0F-72A5-A810-1BBD-FE9A7EF0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3137D-8186-ED86-D290-A7E1A777A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CAA0C-3A8D-2357-D361-136488C7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CF254-3169-8249-B6DE-4604C50960BC}" type="datetime1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6AD04-8B85-DBB8-E136-16569D72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A1F2-9835-49C4-D7E6-F6513589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1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7C4C-C652-D1E0-F663-490026EC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A809A-0714-E00D-EC2B-2A237D645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56D3D-4A04-D15E-125C-39C59FDE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B572-600B-6D4F-A5C6-6AE87D6A113C}" type="datetime1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C183F-823B-E7FC-4416-513D95FC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3D34F-285F-94B3-BFBF-BD5A7B52C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3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F473-DEEA-AD9E-9BE9-FECC33BA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D0033-399B-FFAE-CB2E-CA502CF64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D0896-DADF-8D06-9576-65E44D776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B2658-63E1-831F-D9C3-8A7CC53A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0FF0-2A1C-5D46-8706-266EB6E0EB35}" type="datetime1">
              <a:rPr lang="en-US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235C-8806-E0A0-7DC7-CB12BA57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4CD38-938B-686A-17EC-8C02ED2B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6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ED0E-3086-626F-7C3B-071FD7CA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DF99C-394F-8DBC-58A7-3CA45C7A8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9BC4B-AAE7-A4E0-5721-1DBF413FD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E5FFC-4A77-ED07-1510-3BCF76F65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4994C-79A4-0395-7148-7B5E0FB89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37C20-145B-0A6D-4D0E-8C504A2B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C5AC7-6E44-2441-900A-23DE752EEA60}" type="datetime1">
              <a:rPr lang="en-US" smtClean="0"/>
              <a:t>11/1/24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3DE88-5280-453D-DE8B-EAEEBE2F3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AA2814-40DE-4681-AB2F-7BE0CE5F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63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58C2-F976-03BA-88FE-438BCDC9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0A502-6FE9-3411-CEE4-5EB99D73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9479A-63E5-E441-B5DB-02BEA466C30D}" type="datetime1">
              <a:rPr lang="en-US" smtClean="0"/>
              <a:t>11/1/24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CC8C97-7A48-1250-FEBF-7356D364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B8A5C-DD69-F5AE-3288-60AB9452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5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0ACE8-E3A5-38F2-CBBF-543F6E6B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3DFF-C82A-FA4E-A25C-E5AD5F463851}" type="datetime1">
              <a:rPr lang="en-US" smtClean="0"/>
              <a:t>11/1/24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A8B12-09CC-970E-6A25-40DB467D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8BDFC-2169-0D1E-3409-A23B0BAA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4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1698-C24F-5FE0-A66E-41A671D5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80F9-BC18-66B4-7B0C-E08AF0A18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5959E-E2BC-0BCD-0664-9C9AC6145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0F603-4111-DCF6-71D6-A76B5047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E06C6-E2DE-314C-98D5-92427A3EC031}" type="datetime1">
              <a:rPr lang="en-US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6602F-80BE-94F1-8055-B876FB84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28549-FC61-4D2F-E9D0-ADCBE53B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7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3E8E-A1DC-1B2F-3B1F-0A99505F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AE78C-23E0-3D6F-3B31-DEFE77330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C9112-6184-8034-DE2D-3CC07BA9B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9E53D-663F-AB34-019E-E4405BCC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B0FC-E3C3-9D42-8D5A-3AF7A3642D0E}" type="datetime1">
              <a:rPr lang="en-US" smtClean="0"/>
              <a:t>11/1/24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FD2CA-D06D-82AD-93DD-252607B8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C9ADB-F32D-5518-87E6-148DE6AF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1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7510-3156-DF19-F44D-9E2BB897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7CF9E-AE84-61C6-A64D-FC06C5632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2313A-C1C1-FD51-D413-60C9A3C22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A499-D88E-1C48-82F2-36BDAB6C6DC9}" type="datetime1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AE2EE-9197-252C-E0EF-3EA74AD0B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E3C-CEA2-1D8E-D968-C01CEFEE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2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7F5E5-B9C8-C73C-8141-A68CBEA49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E9FB8-3F26-3636-8065-BE767041C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8F1B-4BF6-9FD5-E037-444CC6FE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C48DE-9B7C-474F-A77D-DC40F4568E77}" type="datetime1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66992-ACB0-C5F7-7A75-9D027BDC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A57B8-506F-E0F6-6542-ED76DA35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8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A25C3-3D21-8FFD-3835-64753CC1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076A4-AA26-4AB1-6D02-A9845C9FC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C1223-9B0C-D427-F90C-9C99877D5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A7DFA-FD8C-E141-8D8F-D7B885E4A47B}" type="datetime1">
              <a:rPr lang="en-US" smtClean="0"/>
              <a:t>11/1/24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45E3F-200D-3F9D-4C95-1280863B5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67F8-A95F-1CEB-66D9-BC668AC8F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292F9-EAF5-4F4A-8C2F-5B3D93BDC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2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8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7.png"/><Relationship Id="rId30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480.png"/><Relationship Id="rId10" Type="http://schemas.openxmlformats.org/officeDocument/2006/relationships/image" Target="../media/image56.png"/><Relationship Id="rId4" Type="http://schemas.openxmlformats.org/officeDocument/2006/relationships/image" Target="../media/image50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1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4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6.png"/><Relationship Id="rId4" Type="http://schemas.openxmlformats.org/officeDocument/2006/relationships/image" Target="../media/image52.gif"/><Relationship Id="rId9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73.png"/><Relationship Id="rId3" Type="http://schemas.openxmlformats.org/officeDocument/2006/relationships/image" Target="../media/image69.png"/><Relationship Id="rId7" Type="http://schemas.openxmlformats.org/officeDocument/2006/relationships/image" Target="../media/image100.png"/><Relationship Id="rId12" Type="http://schemas.openxmlformats.org/officeDocument/2006/relationships/image" Target="../media/image52.gif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72.png"/><Relationship Id="rId5" Type="http://schemas.openxmlformats.org/officeDocument/2006/relationships/image" Target="../media/image71.png"/><Relationship Id="rId15" Type="http://schemas.openxmlformats.org/officeDocument/2006/relationships/image" Target="../media/image75.png"/><Relationship Id="rId10" Type="http://schemas.openxmlformats.org/officeDocument/2006/relationships/image" Target="../media/image103.png"/><Relationship Id="rId4" Type="http://schemas.openxmlformats.org/officeDocument/2006/relationships/image" Target="../media/image70.png"/><Relationship Id="rId9" Type="http://schemas.openxmlformats.org/officeDocument/2006/relationships/image" Target="../media/image102.png"/><Relationship Id="rId1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16.png"/><Relationship Id="rId5" Type="http://schemas.openxmlformats.org/officeDocument/2006/relationships/image" Target="../media/image105.png"/><Relationship Id="rId10" Type="http://schemas.openxmlformats.org/officeDocument/2006/relationships/image" Target="../media/image81.png"/><Relationship Id="rId4" Type="http://schemas.openxmlformats.org/officeDocument/2006/relationships/image" Target="../media/image63.jpeg"/><Relationship Id="rId9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7" Type="http://schemas.openxmlformats.org/officeDocument/2006/relationships/image" Target="../media/image8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10.png"/><Relationship Id="rId4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0.png"/><Relationship Id="rId3" Type="http://schemas.openxmlformats.org/officeDocument/2006/relationships/image" Target="../media/image93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8.png"/><Relationship Id="rId5" Type="http://schemas.openxmlformats.org/officeDocument/2006/relationships/image" Target="../media/image970.png"/><Relationship Id="rId10" Type="http://schemas.openxmlformats.org/officeDocument/2006/relationships/image" Target="../media/image107.png"/><Relationship Id="rId4" Type="http://schemas.openxmlformats.org/officeDocument/2006/relationships/image" Target="../media/image960.png"/><Relationship Id="rId9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9.png"/><Relationship Id="rId4" Type="http://schemas.openxmlformats.org/officeDocument/2006/relationships/image" Target="../media/image97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gif"/><Relationship Id="rId7" Type="http://schemas.openxmlformats.org/officeDocument/2006/relationships/image" Target="../media/image113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owardsdatascience.com/intuitively-understanding-convolutions-for-deep-learning-1f6f42faee1" TargetMode="External"/><Relationship Id="rId5" Type="http://schemas.openxmlformats.org/officeDocument/2006/relationships/image" Target="../media/image112.gif"/><Relationship Id="rId4" Type="http://schemas.openxmlformats.org/officeDocument/2006/relationships/image" Target="../media/image111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eostatsguy.github.io/GeostatsPyDemos_Book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317D-1E98-0D9F-F280-923F6EC4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D5021-85D2-BE7F-505F-FB139C479487}"/>
              </a:ext>
            </a:extLst>
          </p:cNvPr>
          <p:cNvSpPr txBox="1"/>
          <p:nvPr/>
        </p:nvSpPr>
        <p:spPr>
          <a:xfrm>
            <a:off x="1482173" y="2567226"/>
            <a:ext cx="88557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/>
              <a:t>Introduction to Deep Learning</a:t>
            </a:r>
          </a:p>
        </p:txBody>
      </p:sp>
    </p:spTree>
    <p:extLst>
      <p:ext uri="{BB962C8B-B14F-4D97-AF65-F5344CB8AC3E}">
        <p14:creationId xmlns:p14="http://schemas.microsoft.com/office/powerpoint/2010/main" val="1433903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641051-7F73-5E0B-EC43-4AA452CB3ED8}"/>
              </a:ext>
            </a:extLst>
          </p:cNvPr>
          <p:cNvSpPr txBox="1"/>
          <p:nvPr/>
        </p:nvSpPr>
        <p:spPr>
          <a:xfrm>
            <a:off x="1333948" y="516367"/>
            <a:ext cx="1346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vs ML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BA5208-AEA9-1E70-E9B8-DC8457FDCC75}"/>
              </a:ext>
            </a:extLst>
          </p:cNvPr>
          <p:cNvGrpSpPr/>
          <p:nvPr/>
        </p:nvGrpSpPr>
        <p:grpSpPr>
          <a:xfrm>
            <a:off x="2570921" y="1755381"/>
            <a:ext cx="7050157" cy="3347238"/>
            <a:chOff x="0" y="2097741"/>
            <a:chExt cx="7050157" cy="33472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8F5DE1E-DBC3-7706-7726-3DD476EE09F1}"/>
                </a:ext>
              </a:extLst>
            </p:cNvPr>
            <p:cNvGrpSpPr/>
            <p:nvPr/>
          </p:nvGrpSpPr>
          <p:grpSpPr>
            <a:xfrm>
              <a:off x="0" y="2097741"/>
              <a:ext cx="7050157" cy="3347238"/>
              <a:chOff x="149346" y="2097741"/>
              <a:chExt cx="5946654" cy="2845320"/>
            </a:xfrm>
          </p:grpSpPr>
          <p:pic>
            <p:nvPicPr>
              <p:cNvPr id="1028" name="Picture 4" descr="ZOOX: Robotaxi by Amazon| Zoom">
                <a:extLst>
                  <a:ext uri="{FF2B5EF4-FFF2-40B4-BE49-F238E27FC236}">
                    <a16:creationId xmlns:a16="http://schemas.microsoft.com/office/drawing/2014/main" id="{3DD197C8-0DBE-5F30-D3AE-24990D47DD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268" t="28951" r="15008"/>
              <a:stretch/>
            </p:blipFill>
            <p:spPr bwMode="auto">
              <a:xfrm>
                <a:off x="4846506" y="3607200"/>
                <a:ext cx="767771" cy="4616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3270044-0968-27DB-20B6-C83ADEC10604}"/>
                  </a:ext>
                </a:extLst>
              </p:cNvPr>
              <p:cNvSpPr/>
              <p:nvPr/>
            </p:nvSpPr>
            <p:spPr>
              <a:xfrm>
                <a:off x="149346" y="2097741"/>
                <a:ext cx="5946654" cy="284532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47DEDAC-32D3-39D6-607D-F1BD26AB50C6}"/>
                  </a:ext>
                </a:extLst>
              </p:cNvPr>
              <p:cNvSpPr/>
              <p:nvPr/>
            </p:nvSpPr>
            <p:spPr>
              <a:xfrm>
                <a:off x="252805" y="2730155"/>
                <a:ext cx="2733100" cy="1632746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0154FC-9B2D-1E79-8A6D-F2F5AC6E4D27}"/>
                  </a:ext>
                </a:extLst>
              </p:cNvPr>
              <p:cNvSpPr txBox="1"/>
              <p:nvPr/>
            </p:nvSpPr>
            <p:spPr>
              <a:xfrm>
                <a:off x="2838862" y="2951366"/>
                <a:ext cx="1394663" cy="2747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solidFill>
                      <a:srgbClr val="FF0000"/>
                    </a:solidFill>
                  </a:rPr>
                  <a:t>Machine Learning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B5C333-F16F-1257-35C0-D3D2AB5C3460}"/>
                  </a:ext>
                </a:extLst>
              </p:cNvPr>
              <p:cNvSpPr txBox="1"/>
              <p:nvPr/>
            </p:nvSpPr>
            <p:spPr>
              <a:xfrm>
                <a:off x="2947000" y="3186056"/>
                <a:ext cx="1459347" cy="627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Logistic Regression,</a:t>
                </a:r>
              </a:p>
              <a:p>
                <a:pPr algn="ctr"/>
                <a:r>
                  <a:rPr lang="en-US" sz="1400" dirty="0"/>
                  <a:t>Random Forest, </a:t>
                </a:r>
              </a:p>
              <a:p>
                <a:pPr algn="ctr"/>
                <a:r>
                  <a:rPr lang="en-US" sz="1400" dirty="0"/>
                  <a:t>SVM, </a:t>
                </a:r>
                <a:r>
                  <a:rPr lang="en-US" sz="14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ANN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F97621-B495-4BA1-2A6B-F0202ACEE085}"/>
                  </a:ext>
                </a:extLst>
              </p:cNvPr>
              <p:cNvSpPr txBox="1"/>
              <p:nvPr/>
            </p:nvSpPr>
            <p:spPr>
              <a:xfrm>
                <a:off x="4986731" y="2781737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AI</a:t>
                </a:r>
              </a:p>
            </p:txBody>
          </p:sp>
          <p:pic>
            <p:nvPicPr>
              <p:cNvPr id="1026" name="Picture 2" descr="Computer Vision in Robotics - An Autonomous Revolution - viso.ai">
                <a:extLst>
                  <a:ext uri="{FF2B5EF4-FFF2-40B4-BE49-F238E27FC236}">
                    <a16:creationId xmlns:a16="http://schemas.microsoft.com/office/drawing/2014/main" id="{9D36557E-36F8-C8D7-F310-40004E4D65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993" r="18415"/>
              <a:stretch/>
            </p:blipFill>
            <p:spPr bwMode="auto">
              <a:xfrm>
                <a:off x="4962562" y="3015537"/>
                <a:ext cx="548128" cy="5753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C336DFE-4E3A-80BC-182F-6E8A211E5C00}"/>
                </a:ext>
              </a:extLst>
            </p:cNvPr>
            <p:cNvSpPr/>
            <p:nvPr/>
          </p:nvSpPr>
          <p:spPr>
            <a:xfrm>
              <a:off x="122657" y="2530258"/>
              <a:ext cx="4908399" cy="2395834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502940-0B07-32E8-1E8D-357BD182DE5D}"/>
                </a:ext>
              </a:extLst>
            </p:cNvPr>
            <p:cNvSpPr txBox="1"/>
            <p:nvPr/>
          </p:nvSpPr>
          <p:spPr>
            <a:xfrm>
              <a:off x="833310" y="3263528"/>
              <a:ext cx="233352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solidFill>
                    <a:srgbClr val="FF0000"/>
                  </a:solidFill>
                </a:rPr>
                <a:t>Deep Learning</a:t>
              </a:r>
            </a:p>
            <a:p>
              <a:endParaRPr lang="en-US" sz="1500" dirty="0">
                <a:solidFill>
                  <a:srgbClr val="FF0000"/>
                </a:solidFill>
              </a:endParaRPr>
            </a:p>
            <a:p>
              <a:r>
                <a:rPr lang="en-US" sz="15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CNN</a:t>
              </a:r>
              <a:r>
                <a:rPr lang="en-US" sz="1500" dirty="0"/>
                <a:t>, LSTM, autoencoder,</a:t>
              </a:r>
            </a:p>
            <a:p>
              <a:r>
                <a:rPr lang="en-US" sz="1500" dirty="0"/>
                <a:t>Transformers …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A6B4A2-1AF3-A5B3-3FC6-7A7F4BAA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9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DF863-AB9F-D5A9-51D1-371286EA2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47D04B-085D-97E5-F0A9-E36F14958550}"/>
              </a:ext>
            </a:extLst>
          </p:cNvPr>
          <p:cNvSpPr txBox="1"/>
          <p:nvPr/>
        </p:nvSpPr>
        <p:spPr>
          <a:xfrm>
            <a:off x="1333948" y="516367"/>
            <a:ext cx="38105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Machine Learning</a:t>
            </a:r>
          </a:p>
        </p:txBody>
      </p:sp>
      <p:sp>
        <p:nvSpPr>
          <p:cNvPr id="2" name="Google Shape;463;p57">
            <a:extLst>
              <a:ext uri="{FF2B5EF4-FFF2-40B4-BE49-F238E27FC236}">
                <a16:creationId xmlns:a16="http://schemas.microsoft.com/office/drawing/2014/main" id="{B409C544-0D92-AC3B-5E3B-395B3E274006}"/>
              </a:ext>
            </a:extLst>
          </p:cNvPr>
          <p:cNvSpPr txBox="1">
            <a:spLocks/>
          </p:cNvSpPr>
          <p:nvPr/>
        </p:nvSpPr>
        <p:spPr>
          <a:xfrm>
            <a:off x="2545976" y="1648721"/>
            <a:ext cx="8845985" cy="489019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 dirty="0"/>
              <a:t>Unsupervised learning</a:t>
            </a:r>
            <a:br>
              <a:rPr lang="en-US" b="1" dirty="0"/>
            </a:br>
            <a:r>
              <a:rPr lang="en-US" sz="1800" dirty="0">
                <a:solidFill>
                  <a:schemeClr val="dk2"/>
                </a:solidFill>
              </a:rPr>
              <a:t>Finds hidden/undetected patterns in data without labels and minimal human input, e.g.</a:t>
            </a: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principal component analysis, dimensionality reduction</a:t>
            </a: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clustering methods (k-means, hierarchical, self-organizing maps)</a:t>
            </a:r>
          </a:p>
          <a:p>
            <a:pPr marL="171450" indent="-1714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2"/>
                </a:solidFill>
              </a:rPr>
              <a:t>autoencoders</a:t>
            </a:r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Supervised learning</a:t>
            </a:r>
            <a:br>
              <a:rPr lang="en-US" b="1" dirty="0"/>
            </a:br>
            <a:r>
              <a:rPr lang="en-US" sz="1800" dirty="0">
                <a:solidFill>
                  <a:schemeClr val="dk2"/>
                </a:solidFill>
              </a:rPr>
              <a:t>Learning a function that maps an input to an output based on </a:t>
            </a:r>
            <a:r>
              <a:rPr lang="en-US" sz="1800" dirty="0" err="1">
                <a:solidFill>
                  <a:schemeClr val="dk2"/>
                </a:solidFill>
              </a:rPr>
              <a:t>labled</a:t>
            </a:r>
            <a:r>
              <a:rPr lang="en-US" sz="1800" dirty="0">
                <a:solidFill>
                  <a:schemeClr val="dk2"/>
                </a:solidFill>
              </a:rPr>
              <a:t> input-output pairs. 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800" dirty="0">
                <a:solidFill>
                  <a:schemeClr val="dk2"/>
                </a:solidFill>
              </a:rPr>
              <a:t>Regression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800" dirty="0">
                <a:solidFill>
                  <a:schemeClr val="dk2"/>
                </a:solidFill>
              </a:rPr>
              <a:t>Decision trees and random forests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800" dirty="0">
                <a:solidFill>
                  <a:schemeClr val="dk2"/>
                </a:solidFill>
              </a:rPr>
              <a:t>Support vector machines (SVM)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800" dirty="0">
                <a:solidFill>
                  <a:schemeClr val="dk2"/>
                </a:solidFill>
              </a:rPr>
              <a:t>Artificial neural networks (ANN)</a:t>
            </a:r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endParaRPr lang="en-US" dirty="0"/>
          </a:p>
          <a:p>
            <a:pPr marL="457200" algn="l">
              <a:spcBef>
                <a:spcPts val="0"/>
              </a:spcBef>
            </a:pPr>
            <a:endParaRPr lang="en-US" sz="1200" dirty="0">
              <a:solidFill>
                <a:schemeClr val="dk2"/>
              </a:solidFill>
            </a:endParaRPr>
          </a:p>
          <a:p>
            <a:pPr marL="457200" algn="l">
              <a:spcBef>
                <a:spcPts val="0"/>
              </a:spcBef>
            </a:pPr>
            <a:endParaRPr lang="en-US" sz="1200" dirty="0">
              <a:solidFill>
                <a:schemeClr val="dk2"/>
              </a:solidFill>
            </a:endParaRPr>
          </a:p>
        </p:txBody>
      </p:sp>
      <p:pic>
        <p:nvPicPr>
          <p:cNvPr id="3074" name="Picture 2" descr="Clustering in Machine Learning - Javatpoint">
            <a:extLst>
              <a:ext uri="{FF2B5EF4-FFF2-40B4-BE49-F238E27FC236}">
                <a16:creationId xmlns:a16="http://schemas.microsoft.com/office/drawing/2014/main" id="{F0245EBB-DBFC-C994-5BB8-742430B24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0" y="1225121"/>
            <a:ext cx="2219415" cy="197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Artificial Neural Networks and its ...">
            <a:extLst>
              <a:ext uri="{FF2B5EF4-FFF2-40B4-BE49-F238E27FC236}">
                <a16:creationId xmlns:a16="http://schemas.microsoft.com/office/drawing/2014/main" id="{4EAEE969-CA7C-7E9D-E7CF-EDF664F932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2"/>
          <a:stretch/>
        </p:blipFill>
        <p:spPr bwMode="auto">
          <a:xfrm>
            <a:off x="0" y="3657601"/>
            <a:ext cx="2545976" cy="170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5E0AC8-B31B-AB81-1883-05634897DB2A}"/>
              </a:ext>
            </a:extLst>
          </p:cNvPr>
          <p:cNvSpPr/>
          <p:nvPr/>
        </p:nvSpPr>
        <p:spPr>
          <a:xfrm>
            <a:off x="2725271" y="4993340"/>
            <a:ext cx="3505200" cy="2868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68690-8216-39F8-A626-C2F56F36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4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AF1F9-146F-7365-C344-3D4144AAB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4BAC30-22BE-495C-F64C-E8A008647D60}"/>
              </a:ext>
            </a:extLst>
          </p:cNvPr>
          <p:cNvSpPr txBox="1"/>
          <p:nvPr/>
        </p:nvSpPr>
        <p:spPr>
          <a:xfrm>
            <a:off x="1333948" y="516367"/>
            <a:ext cx="46570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Neural Networks (ANNs)</a:t>
            </a:r>
          </a:p>
        </p:txBody>
      </p:sp>
      <p:sp>
        <p:nvSpPr>
          <p:cNvPr id="14" name="A biological neural network is a network of neurons connected by synapses.…">
            <a:extLst>
              <a:ext uri="{FF2B5EF4-FFF2-40B4-BE49-F238E27FC236}">
                <a16:creationId xmlns:a16="http://schemas.microsoft.com/office/drawing/2014/main" id="{EFF733F6-B6B6-9D80-AEE5-34A479E436B3}"/>
              </a:ext>
            </a:extLst>
          </p:cNvPr>
          <p:cNvSpPr txBox="1">
            <a:spLocks/>
          </p:cNvSpPr>
          <p:nvPr/>
        </p:nvSpPr>
        <p:spPr>
          <a:xfrm>
            <a:off x="906307" y="2817550"/>
            <a:ext cx="6716280" cy="28270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2"/>
                </a:solidFill>
              </a:rPr>
              <a:t>A biological neural network is a network of neurons connected by synapses.</a:t>
            </a:r>
          </a:p>
          <a:p>
            <a:pPr algn="l"/>
            <a:endParaRPr lang="en-US" sz="2000" dirty="0">
              <a:solidFill>
                <a:schemeClr val="dk2"/>
              </a:solidFill>
            </a:endParaRPr>
          </a:p>
          <a:p>
            <a:pPr algn="l"/>
            <a:endParaRPr lang="en-US" sz="2000" dirty="0">
              <a:solidFill>
                <a:schemeClr val="dk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2"/>
                </a:solidFill>
              </a:rPr>
              <a:t>Each neuron can be connected to many other neurons.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2"/>
                </a:solidFill>
              </a:rPr>
              <a:t>Connections between nodes act as artificial synapses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2"/>
                </a:solidFill>
              </a:rPr>
              <a:t>Intelligence emerges from the interconnection of multiple processors</a:t>
            </a:r>
          </a:p>
        </p:txBody>
      </p:sp>
      <p:pic>
        <p:nvPicPr>
          <p:cNvPr id="15" name="Blausen_0657_MultipolarNeuron.png" descr="Blausen_0657_MultipolarNeuron.png">
            <a:extLst>
              <a:ext uri="{FF2B5EF4-FFF2-40B4-BE49-F238E27FC236}">
                <a16:creationId xmlns:a16="http://schemas.microsoft.com/office/drawing/2014/main" id="{F78B4E88-CFE6-9702-DB38-6D6297EF6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029" y="1474086"/>
            <a:ext cx="4626091" cy="2982904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Google Shape;1965;p141">
            <a:extLst>
              <a:ext uri="{FF2B5EF4-FFF2-40B4-BE49-F238E27FC236}">
                <a16:creationId xmlns:a16="http://schemas.microsoft.com/office/drawing/2014/main" id="{6012B584-17EA-ED15-7709-29698F49CD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7871" t="10993" r="8065" b="27213"/>
          <a:stretch/>
        </p:blipFill>
        <p:spPr>
          <a:xfrm>
            <a:off x="7947958" y="4598825"/>
            <a:ext cx="3112000" cy="22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56ED93-8C8B-9D58-BCAD-54666928E487}"/>
              </a:ext>
            </a:extLst>
          </p:cNvPr>
          <p:cNvSpPr txBox="1"/>
          <p:nvPr/>
        </p:nvSpPr>
        <p:spPr>
          <a:xfrm>
            <a:off x="1035309" y="1474086"/>
            <a:ext cx="6317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Seeking inspiration from nature to develop innovative problem-solving methods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81EBA-8961-87A5-1FC1-D5817E06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5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9273-5F89-4215-701C-75E789B2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FD62E1-C8EA-92DA-76BA-D529CD6D5385}"/>
              </a:ext>
            </a:extLst>
          </p:cNvPr>
          <p:cNvSpPr txBox="1"/>
          <p:nvPr/>
        </p:nvSpPr>
        <p:spPr>
          <a:xfrm>
            <a:off x="1333948" y="516367"/>
            <a:ext cx="46570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Neural Networks (ANNs)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F6FB3BD-23BB-1711-EA79-68E15B41F2BA}"/>
              </a:ext>
            </a:extLst>
          </p:cNvPr>
          <p:cNvGrpSpPr/>
          <p:nvPr/>
        </p:nvGrpSpPr>
        <p:grpSpPr>
          <a:xfrm>
            <a:off x="1991564" y="1680183"/>
            <a:ext cx="8208872" cy="3934607"/>
            <a:chOff x="2073090" y="1632475"/>
            <a:chExt cx="8208872" cy="393460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1806FCE-1307-3C46-7DA8-EA5606E92F00}"/>
                </a:ext>
              </a:extLst>
            </p:cNvPr>
            <p:cNvGrpSpPr/>
            <p:nvPr/>
          </p:nvGrpSpPr>
          <p:grpSpPr>
            <a:xfrm>
              <a:off x="3978090" y="2353234"/>
              <a:ext cx="367554" cy="2835253"/>
              <a:chOff x="1927411" y="1976717"/>
              <a:chExt cx="367554" cy="28352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Oval 1">
                    <a:extLst>
                      <a:ext uri="{FF2B5EF4-FFF2-40B4-BE49-F238E27FC236}">
                        <a16:creationId xmlns:a16="http://schemas.microsoft.com/office/drawing/2014/main" id="{6C10A735-3DFF-A521-EBD6-BECFF2DBDAD5}"/>
                      </a:ext>
                    </a:extLst>
                  </p:cNvPr>
                  <p:cNvSpPr/>
                  <p:nvPr/>
                </p:nvSpPr>
                <p:spPr>
                  <a:xfrm>
                    <a:off x="1927413" y="1976717"/>
                    <a:ext cx="367552" cy="358588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" name="Oval 1">
                    <a:extLst>
                      <a:ext uri="{FF2B5EF4-FFF2-40B4-BE49-F238E27FC236}">
                        <a16:creationId xmlns:a16="http://schemas.microsoft.com/office/drawing/2014/main" id="{6C10A735-3DFF-A521-EBD6-BECFF2DBDA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3" y="1976717"/>
                    <a:ext cx="367552" cy="358588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49E7E7CB-7570-B63A-106F-EE3AEC1304A3}"/>
                      </a:ext>
                    </a:extLst>
                  </p:cNvPr>
                  <p:cNvSpPr/>
                  <p:nvPr/>
                </p:nvSpPr>
                <p:spPr>
                  <a:xfrm>
                    <a:off x="1927411" y="2523565"/>
                    <a:ext cx="367552" cy="358588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49E7E7CB-7570-B63A-106F-EE3AEC1304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1" y="2523565"/>
                    <a:ext cx="367552" cy="358588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58FDB8BB-2E0F-9724-2F9F-D8CCF6391DDC}"/>
                      </a:ext>
                    </a:extLst>
                  </p:cNvPr>
                  <p:cNvSpPr/>
                  <p:nvPr/>
                </p:nvSpPr>
                <p:spPr>
                  <a:xfrm>
                    <a:off x="1927413" y="3070412"/>
                    <a:ext cx="367552" cy="358588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58FDB8BB-2E0F-9724-2F9F-D8CCF6391DD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3" y="3070412"/>
                    <a:ext cx="367552" cy="358588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C15E24FD-6AD6-47EF-92FC-4C6AB4FFD790}"/>
                      </a:ext>
                    </a:extLst>
                  </p:cNvPr>
                  <p:cNvSpPr/>
                  <p:nvPr/>
                </p:nvSpPr>
                <p:spPr>
                  <a:xfrm>
                    <a:off x="1927411" y="4453382"/>
                    <a:ext cx="367552" cy="358588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C15E24FD-6AD6-47EF-92FC-4C6AB4FFD79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1" y="4453382"/>
                    <a:ext cx="367552" cy="358588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A00A9D1-B5AF-6974-49AD-C7A2976936B7}"/>
                </a:ext>
              </a:extLst>
            </p:cNvPr>
            <p:cNvGrpSpPr/>
            <p:nvPr/>
          </p:nvGrpSpPr>
          <p:grpSpPr>
            <a:xfrm>
              <a:off x="6004113" y="2900081"/>
              <a:ext cx="367554" cy="1586753"/>
              <a:chOff x="1927411" y="1976717"/>
              <a:chExt cx="367554" cy="15867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62C47AEF-FE28-8F85-3CA0-7318AA0E379E}"/>
                      </a:ext>
                    </a:extLst>
                  </p:cNvPr>
                  <p:cNvSpPr/>
                  <p:nvPr/>
                </p:nvSpPr>
                <p:spPr>
                  <a:xfrm>
                    <a:off x="1927413" y="1976717"/>
                    <a:ext cx="367552" cy="3585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62C47AEF-FE28-8F85-3CA0-7318AA0E37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3" y="1976717"/>
                    <a:ext cx="367552" cy="358588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5C0060C-7A30-83AC-D679-B6C2929C70FC}"/>
                      </a:ext>
                    </a:extLst>
                  </p:cNvPr>
                  <p:cNvSpPr/>
                  <p:nvPr/>
                </p:nvSpPr>
                <p:spPr>
                  <a:xfrm>
                    <a:off x="1927411" y="2523565"/>
                    <a:ext cx="367552" cy="3585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5C0060C-7A30-83AC-D679-B6C2929C70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1" y="2523565"/>
                    <a:ext cx="367552" cy="358588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2882DAE3-24CB-A90A-75E7-84E4F7A10E40}"/>
                      </a:ext>
                    </a:extLst>
                  </p:cNvPr>
                  <p:cNvSpPr/>
                  <p:nvPr/>
                </p:nvSpPr>
                <p:spPr>
                  <a:xfrm>
                    <a:off x="1927411" y="3204882"/>
                    <a:ext cx="367552" cy="3585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2882DAE3-24CB-A90A-75E7-84E4F7A10E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1" y="3204882"/>
                    <a:ext cx="367552" cy="358588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BA12434-A69A-A5DF-1375-5DA8D824BC2C}"/>
                </a:ext>
              </a:extLst>
            </p:cNvPr>
            <p:cNvCxnSpPr>
              <a:stCxn id="2" idx="6"/>
              <a:endCxn id="18" idx="2"/>
            </p:cNvCxnSpPr>
            <p:nvPr/>
          </p:nvCxnSpPr>
          <p:spPr>
            <a:xfrm>
              <a:off x="4345644" y="2532528"/>
              <a:ext cx="1658471" cy="5468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2F241DD-1FF2-99EB-1AF6-A7EABCE52BDB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4345643" y="2522359"/>
              <a:ext cx="1658470" cy="11038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FC786BA-8BD9-470D-EF68-549F1BEC30E0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>
              <a:off x="4345642" y="2542096"/>
              <a:ext cx="1658471" cy="17654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9ED2DD0-C9FE-48C9-4354-8FED72129A3D}"/>
                </a:ext>
              </a:extLst>
            </p:cNvPr>
            <p:cNvCxnSpPr>
              <a:cxnSpLocks/>
              <a:stCxn id="11" idx="6"/>
              <a:endCxn id="18" idx="2"/>
            </p:cNvCxnSpPr>
            <p:nvPr/>
          </p:nvCxnSpPr>
          <p:spPr>
            <a:xfrm flipV="1">
              <a:off x="4345642" y="3079375"/>
              <a:ext cx="1658473" cy="1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96A9477-A0CD-9F22-F5C2-27BFD41EEB6E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4345641" y="3088943"/>
              <a:ext cx="1658472" cy="53728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DD8D3B5-C119-6EF4-983B-72E22BE200C6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>
              <a:off x="4345640" y="3098511"/>
              <a:ext cx="1658473" cy="1209029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2D6B0DB-559B-1DC1-2B77-37F56F31B952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4345640" y="3079375"/>
              <a:ext cx="1658475" cy="493393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EA8F626-4989-E07D-E9AC-132C6812BAF2}"/>
                </a:ext>
              </a:extLst>
            </p:cNvPr>
            <p:cNvCxnSpPr>
              <a:cxnSpLocks/>
              <a:stCxn id="12" idx="6"/>
              <a:endCxn id="19" idx="2"/>
            </p:cNvCxnSpPr>
            <p:nvPr/>
          </p:nvCxnSpPr>
          <p:spPr>
            <a:xfrm>
              <a:off x="4345644" y="3626223"/>
              <a:ext cx="1658469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6629C95-95FE-2D3A-D80E-A68D89CFD4C4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>
              <a:off x="4345640" y="3626223"/>
              <a:ext cx="1658473" cy="68131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06D466C-663D-456C-6BB5-094140570DE8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flipV="1">
              <a:off x="4345639" y="3079375"/>
              <a:ext cx="1658476" cy="191188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5BDE4A9-C995-BD58-54AC-09450E0E4EC5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V="1">
              <a:off x="4345638" y="3626223"/>
              <a:ext cx="1658475" cy="1388654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A73A349-743F-030F-511B-716014757129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V="1">
              <a:off x="4345637" y="4307540"/>
              <a:ext cx="1658476" cy="716904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B32EF9BF-C559-3B3E-CBDF-6DB40EF7FEBF}"/>
                </a:ext>
              </a:extLst>
            </p:cNvPr>
            <p:cNvCxnSpPr/>
            <p:nvPr/>
          </p:nvCxnSpPr>
          <p:spPr>
            <a:xfrm>
              <a:off x="2516843" y="2532528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57DDF69-B970-CF3A-E1E9-AF4A49421A66}"/>
                </a:ext>
              </a:extLst>
            </p:cNvPr>
            <p:cNvCxnSpPr/>
            <p:nvPr/>
          </p:nvCxnSpPr>
          <p:spPr>
            <a:xfrm>
              <a:off x="2516842" y="3074291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BA02E74-9114-E3A2-93B1-B5919BFEA5DD}"/>
                </a:ext>
              </a:extLst>
            </p:cNvPr>
            <p:cNvCxnSpPr/>
            <p:nvPr/>
          </p:nvCxnSpPr>
          <p:spPr>
            <a:xfrm>
              <a:off x="2516842" y="3625620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961D960-0407-6AFE-9024-B9FA8BB15EB7}"/>
                </a:ext>
              </a:extLst>
            </p:cNvPr>
            <p:cNvCxnSpPr/>
            <p:nvPr/>
          </p:nvCxnSpPr>
          <p:spPr>
            <a:xfrm>
              <a:off x="2516841" y="5024444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B335AB3-6F7C-DF41-E797-E4A477198E04}"/>
                    </a:ext>
                  </a:extLst>
                </p:cNvPr>
                <p:cNvSpPr txBox="1"/>
                <p:nvPr/>
              </p:nvSpPr>
              <p:spPr>
                <a:xfrm>
                  <a:off x="2073090" y="2337693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B335AB3-6F7C-DF41-E797-E4A477198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2337693"/>
                  <a:ext cx="295835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FBF9911-89E5-D951-560E-92F85744CE90}"/>
                    </a:ext>
                  </a:extLst>
                </p:cNvPr>
                <p:cNvSpPr txBox="1"/>
                <p:nvPr/>
              </p:nvSpPr>
              <p:spPr>
                <a:xfrm>
                  <a:off x="2073090" y="2842122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BFBF9911-89E5-D951-560E-92F85744C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2842122"/>
                  <a:ext cx="295835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38F0A28-390E-FA0D-C112-5883A67CED49}"/>
                    </a:ext>
                  </a:extLst>
                </p:cNvPr>
                <p:cNvSpPr txBox="1"/>
                <p:nvPr/>
              </p:nvSpPr>
              <p:spPr>
                <a:xfrm>
                  <a:off x="2073090" y="3388102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638F0A28-390E-FA0D-C112-5883A67CE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3388102"/>
                  <a:ext cx="295835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84EB2AB8-DA5C-0B47-F90B-D744336AD550}"/>
                    </a:ext>
                  </a:extLst>
                </p:cNvPr>
                <p:cNvSpPr txBox="1"/>
                <p:nvPr/>
              </p:nvSpPr>
              <p:spPr>
                <a:xfrm>
                  <a:off x="2073090" y="4806597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84EB2AB8-DA5C-0B47-F90B-D744336AD5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4806597"/>
                  <a:ext cx="295835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F0F89E94-388A-6BE2-F715-82B57E27AE98}"/>
                </a:ext>
              </a:extLst>
            </p:cNvPr>
            <p:cNvSpPr/>
            <p:nvPr/>
          </p:nvSpPr>
          <p:spPr>
            <a:xfrm>
              <a:off x="3720353" y="2034988"/>
              <a:ext cx="905435" cy="3532094"/>
            </a:xfrm>
            <a:prstGeom prst="roundRect">
              <a:avLst/>
            </a:prstGeom>
            <a:solidFill>
              <a:schemeClr val="bg2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1800588F-ED5E-D189-876F-D7C44B4785E0}"/>
                </a:ext>
              </a:extLst>
            </p:cNvPr>
            <p:cNvSpPr/>
            <p:nvPr/>
          </p:nvSpPr>
          <p:spPr>
            <a:xfrm>
              <a:off x="5754458" y="2667002"/>
              <a:ext cx="905435" cy="2139596"/>
            </a:xfrm>
            <a:prstGeom prst="roundRect">
              <a:avLst/>
            </a:prstGeom>
            <a:solidFill>
              <a:schemeClr val="bg2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DDCAC34-8FAA-3FC6-F925-DEFAD4634C1A}"/>
                </a:ext>
              </a:extLst>
            </p:cNvPr>
            <p:cNvSpPr txBox="1"/>
            <p:nvPr/>
          </p:nvSpPr>
          <p:spPr>
            <a:xfrm>
              <a:off x="3809846" y="1632475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0D19A66-93DF-A8C9-D3B1-253B55DB8B78}"/>
                </a:ext>
              </a:extLst>
            </p:cNvPr>
            <p:cNvSpPr txBox="1"/>
            <p:nvPr/>
          </p:nvSpPr>
          <p:spPr>
            <a:xfrm>
              <a:off x="5671116" y="1999458"/>
              <a:ext cx="9797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Hidden 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Layer1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B685653A-33CC-0B84-ACA3-117EBF2C707C}"/>
                </a:ext>
              </a:extLst>
            </p:cNvPr>
            <p:cNvGrpSpPr/>
            <p:nvPr/>
          </p:nvGrpSpPr>
          <p:grpSpPr>
            <a:xfrm>
              <a:off x="7809945" y="2900081"/>
              <a:ext cx="367554" cy="1586753"/>
              <a:chOff x="1927411" y="1976717"/>
              <a:chExt cx="367554" cy="158675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0F9F5B75-EF8C-94F3-5CAD-C4C848907323}"/>
                      </a:ext>
                    </a:extLst>
                  </p:cNvPr>
                  <p:cNvSpPr/>
                  <p:nvPr/>
                </p:nvSpPr>
                <p:spPr>
                  <a:xfrm>
                    <a:off x="1927413" y="1976717"/>
                    <a:ext cx="367552" cy="3585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0F9F5B75-EF8C-94F3-5CAD-C4C8489073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3" y="1976717"/>
                    <a:ext cx="367552" cy="358588"/>
                  </a:xfrm>
                  <a:prstGeom prst="ellipse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881190AA-6CB3-9432-CA71-0AE561E125DE}"/>
                      </a:ext>
                    </a:extLst>
                  </p:cNvPr>
                  <p:cNvSpPr/>
                  <p:nvPr/>
                </p:nvSpPr>
                <p:spPr>
                  <a:xfrm>
                    <a:off x="1927411" y="2523565"/>
                    <a:ext cx="367552" cy="3585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881190AA-6CB3-9432-CA71-0AE561E125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1" y="2523565"/>
                    <a:ext cx="367552" cy="358588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2F0ECCF7-92E1-1455-4EE6-646626E56DF5}"/>
                      </a:ext>
                    </a:extLst>
                  </p:cNvPr>
                  <p:cNvSpPr/>
                  <p:nvPr/>
                </p:nvSpPr>
                <p:spPr>
                  <a:xfrm>
                    <a:off x="1927411" y="3204882"/>
                    <a:ext cx="367552" cy="35858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2F0ECCF7-92E1-1455-4EE6-646626E56D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7411" y="3204882"/>
                    <a:ext cx="367552" cy="358588"/>
                  </a:xfrm>
                  <a:prstGeom prst="ellipse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93FA9ABE-9A20-6D12-E2AE-00696B85C54A}"/>
                    </a:ext>
                  </a:extLst>
                </p:cNvPr>
                <p:cNvSpPr/>
                <p:nvPr/>
              </p:nvSpPr>
              <p:spPr>
                <a:xfrm>
                  <a:off x="9652190" y="3375209"/>
                  <a:ext cx="367552" cy="358588"/>
                </a:xfrm>
                <a:prstGeom prst="ellipse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93FA9ABE-9A20-6D12-E2AE-00696B85C5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190" y="3375209"/>
                  <a:ext cx="367552" cy="358588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455B5E02-D5CE-51EF-90FC-408DAB47CAA4}"/>
                </a:ext>
              </a:extLst>
            </p:cNvPr>
            <p:cNvCxnSpPr>
              <a:cxnSpLocks/>
              <a:endCxn id="95" idx="2"/>
            </p:cNvCxnSpPr>
            <p:nvPr/>
          </p:nvCxnSpPr>
          <p:spPr>
            <a:xfrm>
              <a:off x="8177493" y="3026788"/>
              <a:ext cx="1474697" cy="5277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EFAB9831-7F7B-E4CA-57C5-E07B84FF9904}"/>
                </a:ext>
              </a:extLst>
            </p:cNvPr>
            <p:cNvCxnSpPr>
              <a:cxnSpLocks/>
              <a:stCxn id="93" idx="6"/>
              <a:endCxn id="95" idx="2"/>
            </p:cNvCxnSpPr>
            <p:nvPr/>
          </p:nvCxnSpPr>
          <p:spPr>
            <a:xfrm flipV="1">
              <a:off x="8177497" y="3554503"/>
              <a:ext cx="1474693" cy="717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402655D7-B0ED-C0BB-81A6-D33E71FCF2F2}"/>
                </a:ext>
              </a:extLst>
            </p:cNvPr>
            <p:cNvCxnSpPr>
              <a:cxnSpLocks/>
              <a:stCxn id="94" idx="6"/>
              <a:endCxn id="95" idx="2"/>
            </p:cNvCxnSpPr>
            <p:nvPr/>
          </p:nvCxnSpPr>
          <p:spPr>
            <a:xfrm flipV="1">
              <a:off x="8177497" y="3554503"/>
              <a:ext cx="1474693" cy="7530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0582928F-FB2D-946E-10B2-2ADCCAE629A8}"/>
                    </a:ext>
                  </a:extLst>
                </p:cNvPr>
                <p:cNvSpPr/>
                <p:nvPr/>
              </p:nvSpPr>
              <p:spPr>
                <a:xfrm>
                  <a:off x="9652190" y="3824043"/>
                  <a:ext cx="367552" cy="358588"/>
                </a:xfrm>
                <a:prstGeom prst="ellipse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0582928F-FB2D-946E-10B2-2ADCCAE629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2190" y="3824043"/>
                  <a:ext cx="367552" cy="358588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BE50ED63-6D35-4F93-82D5-FC3C06CB573C}"/>
                </a:ext>
              </a:extLst>
            </p:cNvPr>
            <p:cNvCxnSpPr>
              <a:cxnSpLocks/>
              <a:endCxn id="99" idx="2"/>
            </p:cNvCxnSpPr>
            <p:nvPr/>
          </p:nvCxnSpPr>
          <p:spPr>
            <a:xfrm>
              <a:off x="8177490" y="3045053"/>
              <a:ext cx="1474700" cy="958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E5FD987-F331-24DC-E275-33E02D61A1D8}"/>
                </a:ext>
              </a:extLst>
            </p:cNvPr>
            <p:cNvCxnSpPr>
              <a:cxnSpLocks/>
              <a:stCxn id="93" idx="6"/>
              <a:endCxn id="99" idx="2"/>
            </p:cNvCxnSpPr>
            <p:nvPr/>
          </p:nvCxnSpPr>
          <p:spPr>
            <a:xfrm>
              <a:off x="8177497" y="3626223"/>
              <a:ext cx="1474693" cy="3771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DB511E5-D179-C2B4-9BCD-493109BC2B84}"/>
                </a:ext>
              </a:extLst>
            </p:cNvPr>
            <p:cNvCxnSpPr>
              <a:cxnSpLocks/>
              <a:stCxn id="94" idx="6"/>
              <a:endCxn id="99" idx="2"/>
            </p:cNvCxnSpPr>
            <p:nvPr/>
          </p:nvCxnSpPr>
          <p:spPr>
            <a:xfrm flipV="1">
              <a:off x="8177497" y="4003337"/>
              <a:ext cx="1474693" cy="3042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578FCD3A-827B-D3EE-C5CA-D42E7BBF4C97}"/>
                </a:ext>
              </a:extLst>
            </p:cNvPr>
            <p:cNvSpPr/>
            <p:nvPr/>
          </p:nvSpPr>
          <p:spPr>
            <a:xfrm>
              <a:off x="7597236" y="2667002"/>
              <a:ext cx="905435" cy="2139596"/>
            </a:xfrm>
            <a:prstGeom prst="roundRect">
              <a:avLst/>
            </a:prstGeom>
            <a:solidFill>
              <a:schemeClr val="bg2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5A0A381A-6B43-C350-91A5-6EF02F02814F}"/>
                </a:ext>
              </a:extLst>
            </p:cNvPr>
            <p:cNvSpPr/>
            <p:nvPr/>
          </p:nvSpPr>
          <p:spPr>
            <a:xfrm>
              <a:off x="9376527" y="3098511"/>
              <a:ext cx="905435" cy="1388323"/>
            </a:xfrm>
            <a:prstGeom prst="roundRect">
              <a:avLst/>
            </a:prstGeom>
            <a:solidFill>
              <a:schemeClr val="bg2">
                <a:alpha val="28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3FC7B17-AE73-3E22-2353-3C0C319EDBF3}"/>
                </a:ext>
              </a:extLst>
            </p:cNvPr>
            <p:cNvSpPr txBox="1"/>
            <p:nvPr/>
          </p:nvSpPr>
          <p:spPr>
            <a:xfrm>
              <a:off x="7476948" y="1999458"/>
              <a:ext cx="9797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Hidden 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Layer2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0520057-48B5-A096-2F54-666071092A58}"/>
                </a:ext>
              </a:extLst>
            </p:cNvPr>
            <p:cNvSpPr txBox="1"/>
            <p:nvPr/>
          </p:nvSpPr>
          <p:spPr>
            <a:xfrm>
              <a:off x="9376527" y="265356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AB3E431-F528-D586-6F32-E533CA97669A}"/>
                </a:ext>
              </a:extLst>
            </p:cNvPr>
            <p:cNvCxnSpPr/>
            <p:nvPr/>
          </p:nvCxnSpPr>
          <p:spPr>
            <a:xfrm>
              <a:off x="6370847" y="3059816"/>
              <a:ext cx="1438280" cy="242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F3B673C-0266-810E-C311-609884ADD09E}"/>
                </a:ext>
              </a:extLst>
            </p:cNvPr>
            <p:cNvCxnSpPr>
              <a:cxnSpLocks/>
              <a:endCxn id="93" idx="2"/>
            </p:cNvCxnSpPr>
            <p:nvPr/>
          </p:nvCxnSpPr>
          <p:spPr>
            <a:xfrm>
              <a:off x="6381715" y="3074291"/>
              <a:ext cx="1428230" cy="55193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45216632-153F-01BB-F029-987F2A99F470}"/>
                </a:ext>
              </a:extLst>
            </p:cNvPr>
            <p:cNvCxnSpPr>
              <a:cxnSpLocks/>
              <a:endCxn id="94" idx="2"/>
            </p:cNvCxnSpPr>
            <p:nvPr/>
          </p:nvCxnSpPr>
          <p:spPr>
            <a:xfrm>
              <a:off x="6371665" y="3074291"/>
              <a:ext cx="1438280" cy="123324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B716604-A4BF-3E58-8725-00E0D4D28FAE}"/>
                </a:ext>
              </a:extLst>
            </p:cNvPr>
            <p:cNvCxnSpPr>
              <a:cxnSpLocks/>
              <a:endCxn id="92" idx="2"/>
            </p:cNvCxnSpPr>
            <p:nvPr/>
          </p:nvCxnSpPr>
          <p:spPr>
            <a:xfrm flipV="1">
              <a:off x="6370847" y="3079375"/>
              <a:ext cx="1439100" cy="51098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14A2D37-416E-F48B-3627-ED8C964F4118}"/>
                </a:ext>
              </a:extLst>
            </p:cNvPr>
            <p:cNvCxnSpPr>
              <a:cxnSpLocks/>
              <a:endCxn id="93" idx="2"/>
            </p:cNvCxnSpPr>
            <p:nvPr/>
          </p:nvCxnSpPr>
          <p:spPr>
            <a:xfrm>
              <a:off x="6360304" y="3604217"/>
              <a:ext cx="1449641" cy="220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018F2D6-CB0D-6BED-5FA5-7E2E57F58F84}"/>
                </a:ext>
              </a:extLst>
            </p:cNvPr>
            <p:cNvCxnSpPr>
              <a:cxnSpLocks/>
              <a:endCxn id="94" idx="2"/>
            </p:cNvCxnSpPr>
            <p:nvPr/>
          </p:nvCxnSpPr>
          <p:spPr>
            <a:xfrm>
              <a:off x="6381713" y="3609298"/>
              <a:ext cx="1428232" cy="69824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D75A1FA-2CCC-E6B0-6386-898FBB24D57B}"/>
                </a:ext>
              </a:extLst>
            </p:cNvPr>
            <p:cNvCxnSpPr>
              <a:cxnSpLocks/>
              <a:endCxn id="92" idx="2"/>
            </p:cNvCxnSpPr>
            <p:nvPr/>
          </p:nvCxnSpPr>
          <p:spPr>
            <a:xfrm flipV="1">
              <a:off x="6358117" y="3079375"/>
              <a:ext cx="1451830" cy="120378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64490200-C68B-2D89-91FD-648C8BE93FD6}"/>
                </a:ext>
              </a:extLst>
            </p:cNvPr>
            <p:cNvCxnSpPr>
              <a:cxnSpLocks/>
              <a:endCxn id="93" idx="2"/>
            </p:cNvCxnSpPr>
            <p:nvPr/>
          </p:nvCxnSpPr>
          <p:spPr>
            <a:xfrm flipV="1">
              <a:off x="6358117" y="3626223"/>
              <a:ext cx="1451828" cy="66650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2729AD3-F6FB-A399-4A37-D846C98310D3}"/>
                </a:ext>
              </a:extLst>
            </p:cNvPr>
            <p:cNvCxnSpPr>
              <a:cxnSpLocks/>
              <a:endCxn id="94" idx="2"/>
            </p:cNvCxnSpPr>
            <p:nvPr/>
          </p:nvCxnSpPr>
          <p:spPr>
            <a:xfrm>
              <a:off x="6371665" y="4278374"/>
              <a:ext cx="1438280" cy="2916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8C8FBB1B-728C-27E6-55CE-31B1289F102C}"/>
              </a:ext>
            </a:extLst>
          </p:cNvPr>
          <p:cNvSpPr txBox="1"/>
          <p:nvPr/>
        </p:nvSpPr>
        <p:spPr>
          <a:xfrm>
            <a:off x="5575815" y="5614790"/>
            <a:ext cx="35316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Fully connected Deep Learning Network.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36434C-D37E-EF90-1CA9-77F89003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74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B483-BBDD-AC5E-D68E-7D45436A3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AC5F03-0F97-FA14-3EE2-82C141823880}"/>
              </a:ext>
            </a:extLst>
          </p:cNvPr>
          <p:cNvSpPr txBox="1"/>
          <p:nvPr/>
        </p:nvSpPr>
        <p:spPr>
          <a:xfrm>
            <a:off x="1333948" y="516367"/>
            <a:ext cx="46570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Neural Networks (ANNs)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1AC751-74EB-623E-791C-144442F3D7AE}"/>
              </a:ext>
            </a:extLst>
          </p:cNvPr>
          <p:cNvGrpSpPr/>
          <p:nvPr/>
        </p:nvGrpSpPr>
        <p:grpSpPr>
          <a:xfrm>
            <a:off x="7668970" y="539306"/>
            <a:ext cx="3917127" cy="1976810"/>
            <a:chOff x="2073090" y="2034988"/>
            <a:chExt cx="6403040" cy="353209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34954E5-9BD9-8E37-70DA-F47AC8985F09}"/>
                </a:ext>
              </a:extLst>
            </p:cNvPr>
            <p:cNvGrpSpPr/>
            <p:nvPr/>
          </p:nvGrpSpPr>
          <p:grpSpPr>
            <a:xfrm>
              <a:off x="3978090" y="2353234"/>
              <a:ext cx="4235820" cy="2835253"/>
              <a:chOff x="3978090" y="2353234"/>
              <a:chExt cx="4235820" cy="283525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C4A1220-1DFA-1EF6-7343-62AF0D9B0329}"/>
                  </a:ext>
                </a:extLst>
              </p:cNvPr>
              <p:cNvGrpSpPr/>
              <p:nvPr/>
            </p:nvGrpSpPr>
            <p:grpSpPr>
              <a:xfrm>
                <a:off x="3978090" y="2353234"/>
                <a:ext cx="367554" cy="2835253"/>
                <a:chOff x="1927411" y="1976717"/>
                <a:chExt cx="367554" cy="283525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Oval 1">
                      <a:extLst>
                        <a:ext uri="{FF2B5EF4-FFF2-40B4-BE49-F238E27FC236}">
                          <a16:creationId xmlns:a16="http://schemas.microsoft.com/office/drawing/2014/main" id="{2395C069-B43C-AD49-2442-C69153B4CB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3" y="1976717"/>
                      <a:ext cx="367552" cy="358588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" name="Oval 1">
                      <a:extLst>
                        <a:ext uri="{FF2B5EF4-FFF2-40B4-BE49-F238E27FC236}">
                          <a16:creationId xmlns:a16="http://schemas.microsoft.com/office/drawing/2014/main" id="{2395C069-B43C-AD49-2442-C69153B4CBF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3" y="1976717"/>
                      <a:ext cx="367552" cy="358588"/>
                    </a:xfrm>
                    <a:prstGeom prst="ellipse">
                      <a:avLst/>
                    </a:prstGeom>
                    <a:blipFill>
                      <a:blip r:embed="rId3"/>
                      <a:stretch>
                        <a:fillRect l="-15000" b="-5556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BE0C6FD5-D581-1FDB-6279-BB0BF0F95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1" y="2523565"/>
                      <a:ext cx="367552" cy="358588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Oval 10">
                      <a:extLst>
                        <a:ext uri="{FF2B5EF4-FFF2-40B4-BE49-F238E27FC236}">
                          <a16:creationId xmlns:a16="http://schemas.microsoft.com/office/drawing/2014/main" id="{BE0C6FD5-D581-1FDB-6279-BB0BF0F9541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1" y="2523565"/>
                      <a:ext cx="367552" cy="358588"/>
                    </a:xfrm>
                    <a:prstGeom prst="ellipse">
                      <a:avLst/>
                    </a:prstGeom>
                    <a:blipFill>
                      <a:blip r:embed="rId4"/>
                      <a:stretch>
                        <a:fillRect l="-15000" b="-11111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10EDA36E-0638-7BAE-2A9E-01E8D0401F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3" y="3070412"/>
                      <a:ext cx="367552" cy="358588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10EDA36E-0638-7BAE-2A9E-01E8D0401FD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3" y="3070412"/>
                      <a:ext cx="367552" cy="358588"/>
                    </a:xfrm>
                    <a:prstGeom prst="ellipse">
                      <a:avLst/>
                    </a:prstGeom>
                    <a:blipFill>
                      <a:blip r:embed="rId5"/>
                      <a:stretch>
                        <a:fillRect l="-15000" b="-11111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21BAD652-0EC2-4E2D-F2C8-01E1A71AD1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1" y="4453382"/>
                      <a:ext cx="367552" cy="358588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21BAD652-0EC2-4E2D-F2C8-01E1A71AD19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1" y="4453382"/>
                      <a:ext cx="367552" cy="358588"/>
                    </a:xfrm>
                    <a:prstGeom prst="ellipse">
                      <a:avLst/>
                    </a:prstGeom>
                    <a:blipFill>
                      <a:blip r:embed="rId6"/>
                      <a:stretch>
                        <a:fillRect l="-15000" b="-5556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35D9912-73C5-2DAE-6FE8-135662FF9FAE}"/>
                  </a:ext>
                </a:extLst>
              </p:cNvPr>
              <p:cNvGrpSpPr/>
              <p:nvPr/>
            </p:nvGrpSpPr>
            <p:grpSpPr>
              <a:xfrm>
                <a:off x="6004113" y="2900081"/>
                <a:ext cx="367554" cy="1586753"/>
                <a:chOff x="1927411" y="1976717"/>
                <a:chExt cx="367554" cy="158675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2189CBB4-8CC2-B427-6A7B-CBF24AAC9F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3" y="1976717"/>
                      <a:ext cx="367552" cy="35858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2189CBB4-8CC2-B427-6A7B-CBF24AAC9F7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3" y="1976717"/>
                      <a:ext cx="367552" cy="358588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l="-15000" b="-11111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56378CFA-1771-3539-E097-3038DE55FF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1" y="2523565"/>
                      <a:ext cx="367552" cy="35858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56378CFA-1771-3539-E097-3038DE55FF8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1" y="2523565"/>
                      <a:ext cx="367552" cy="358588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l="-20000" b="-11111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89617304-5AE2-5433-31DD-02EE2AEC5B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1" y="3204882"/>
                      <a:ext cx="367552" cy="35858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89617304-5AE2-5433-31DD-02EE2AEC5B7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1" y="3204882"/>
                      <a:ext cx="367552" cy="358588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 l="-20000" b="-5556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70B3987A-7BDE-DE97-B6D6-2104B78A42E3}"/>
                      </a:ext>
                    </a:extLst>
                  </p:cNvPr>
                  <p:cNvSpPr/>
                  <p:nvPr/>
                </p:nvSpPr>
                <p:spPr>
                  <a:xfrm>
                    <a:off x="7846358" y="3375209"/>
                    <a:ext cx="367552" cy="358588"/>
                  </a:xfrm>
                  <a:prstGeom prst="ellipse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70B3987A-7BDE-DE97-B6D6-2104B78A42E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6358" y="3375209"/>
                    <a:ext cx="367552" cy="358588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 l="-15000" b="-11111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B10AC82-830A-5A4D-CA00-C7217065C31F}"/>
                  </a:ext>
                </a:extLst>
              </p:cNvPr>
              <p:cNvCxnSpPr>
                <a:stCxn id="2" idx="6"/>
                <a:endCxn id="18" idx="2"/>
              </p:cNvCxnSpPr>
              <p:nvPr/>
            </p:nvCxnSpPr>
            <p:spPr>
              <a:xfrm>
                <a:off x="4345644" y="2532528"/>
                <a:ext cx="1658471" cy="54684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92D5E7F-3FCA-A67D-4823-6BDE03C99646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4345643" y="2522359"/>
                <a:ext cx="1658470" cy="110386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3D1AC03-0831-3CDF-8C6C-9CDF2B3DFDE9}"/>
                  </a:ext>
                </a:extLst>
              </p:cNvPr>
              <p:cNvCxnSpPr>
                <a:cxnSpLocks/>
                <a:endCxn id="20" idx="2"/>
              </p:cNvCxnSpPr>
              <p:nvPr/>
            </p:nvCxnSpPr>
            <p:spPr>
              <a:xfrm>
                <a:off x="4345642" y="2542096"/>
                <a:ext cx="1658471" cy="176544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CC3DF84-6E94-2E94-0FF0-22FF084EE1C0}"/>
                  </a:ext>
                </a:extLst>
              </p:cNvPr>
              <p:cNvCxnSpPr>
                <a:cxnSpLocks/>
                <a:stCxn id="11" idx="6"/>
                <a:endCxn id="18" idx="2"/>
              </p:cNvCxnSpPr>
              <p:nvPr/>
            </p:nvCxnSpPr>
            <p:spPr>
              <a:xfrm flipV="1">
                <a:off x="4345642" y="3079375"/>
                <a:ext cx="1658473" cy="1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9E6281-4A84-5EA4-CA5C-9B4CEFD8A31D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4345641" y="3088943"/>
                <a:ext cx="1658472" cy="537280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445D9AC-8A96-AED4-5CD7-3BAA3E59910B}"/>
                  </a:ext>
                </a:extLst>
              </p:cNvPr>
              <p:cNvCxnSpPr>
                <a:cxnSpLocks/>
                <a:endCxn id="20" idx="2"/>
              </p:cNvCxnSpPr>
              <p:nvPr/>
            </p:nvCxnSpPr>
            <p:spPr>
              <a:xfrm>
                <a:off x="4345640" y="3098511"/>
                <a:ext cx="1658473" cy="1209029"/>
              </a:xfrm>
              <a:prstGeom prst="straightConnector1">
                <a:avLst/>
              </a:prstGeom>
              <a:ln>
                <a:solidFill>
                  <a:schemeClr val="accent3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D687FA3-852A-0F0F-4F7D-3ED56EE1BB8A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 flipV="1">
                <a:off x="4345640" y="3079375"/>
                <a:ext cx="1658475" cy="493393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45B01CE-7DA8-FB15-7854-E12DEDCB6513}"/>
                  </a:ext>
                </a:extLst>
              </p:cNvPr>
              <p:cNvCxnSpPr>
                <a:cxnSpLocks/>
                <a:stCxn id="12" idx="6"/>
                <a:endCxn id="19" idx="2"/>
              </p:cNvCxnSpPr>
              <p:nvPr/>
            </p:nvCxnSpPr>
            <p:spPr>
              <a:xfrm>
                <a:off x="4345644" y="3626223"/>
                <a:ext cx="1658469" cy="0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B37EFE9-AA40-99A4-EC43-11FE842504C7}"/>
                  </a:ext>
                </a:extLst>
              </p:cNvPr>
              <p:cNvCxnSpPr>
                <a:cxnSpLocks/>
                <a:endCxn id="20" idx="2"/>
              </p:cNvCxnSpPr>
              <p:nvPr/>
            </p:nvCxnSpPr>
            <p:spPr>
              <a:xfrm>
                <a:off x="4345640" y="3626223"/>
                <a:ext cx="1658473" cy="681317"/>
              </a:xfrm>
              <a:prstGeom prst="straightConnector1">
                <a:avLst/>
              </a:prstGeom>
              <a:ln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06C3781E-1045-08F2-1361-4C07EBDE02F8}"/>
                  </a:ext>
                </a:extLst>
              </p:cNvPr>
              <p:cNvCxnSpPr>
                <a:cxnSpLocks/>
                <a:endCxn id="23" idx="2"/>
              </p:cNvCxnSpPr>
              <p:nvPr/>
            </p:nvCxnSpPr>
            <p:spPr>
              <a:xfrm>
                <a:off x="6371661" y="3026788"/>
                <a:ext cx="1474697" cy="5277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DCD1EF4F-EAA0-EA2C-9A82-76FCCBA77160}"/>
                  </a:ext>
                </a:extLst>
              </p:cNvPr>
              <p:cNvCxnSpPr>
                <a:cxnSpLocks/>
                <a:stCxn id="19" idx="6"/>
                <a:endCxn id="23" idx="2"/>
              </p:cNvCxnSpPr>
              <p:nvPr/>
            </p:nvCxnSpPr>
            <p:spPr>
              <a:xfrm flipV="1">
                <a:off x="6371665" y="3554503"/>
                <a:ext cx="1474693" cy="717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935CB40-D0AA-F093-284B-23D5AB18E838}"/>
                  </a:ext>
                </a:extLst>
              </p:cNvPr>
              <p:cNvCxnSpPr>
                <a:cxnSpLocks/>
                <a:stCxn id="20" idx="6"/>
                <a:endCxn id="23" idx="2"/>
              </p:cNvCxnSpPr>
              <p:nvPr/>
            </p:nvCxnSpPr>
            <p:spPr>
              <a:xfrm flipV="1">
                <a:off x="6371665" y="3554503"/>
                <a:ext cx="1474693" cy="7530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4D82441-36BC-7864-BE85-8B1C29DB595C}"/>
                  </a:ext>
                </a:extLst>
              </p:cNvPr>
              <p:cNvCxnSpPr>
                <a:cxnSpLocks/>
                <a:endCxn id="18" idx="2"/>
              </p:cNvCxnSpPr>
              <p:nvPr/>
            </p:nvCxnSpPr>
            <p:spPr>
              <a:xfrm flipV="1">
                <a:off x="4345639" y="3079375"/>
                <a:ext cx="1658476" cy="1911888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5091FBE4-FB7C-B717-9BCC-4E7041466AD3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 flipV="1">
                <a:off x="4345638" y="3626223"/>
                <a:ext cx="1658475" cy="1388654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76CDD8F4-12F4-C9B3-7BCB-82E76B549A0B}"/>
                  </a:ext>
                </a:extLst>
              </p:cNvPr>
              <p:cNvCxnSpPr>
                <a:cxnSpLocks/>
                <a:endCxn id="20" idx="2"/>
              </p:cNvCxnSpPr>
              <p:nvPr/>
            </p:nvCxnSpPr>
            <p:spPr>
              <a:xfrm flipV="1">
                <a:off x="4345637" y="4307540"/>
                <a:ext cx="1658476" cy="716904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F0BC19AE-AF34-461C-18D6-A4D0DCC8524E}"/>
                      </a:ext>
                    </a:extLst>
                  </p:cNvPr>
                  <p:cNvSpPr/>
                  <p:nvPr/>
                </p:nvSpPr>
                <p:spPr>
                  <a:xfrm>
                    <a:off x="7846358" y="3824043"/>
                    <a:ext cx="367552" cy="358588"/>
                  </a:xfrm>
                  <a:prstGeom prst="ellipse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F0BC19AE-AF34-461C-18D6-A4D0DCC852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46358" y="3824043"/>
                    <a:ext cx="367552" cy="358588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 l="-15000" b="-5263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9245D876-DC71-487B-D591-F1CCC22BE3FC}"/>
                  </a:ext>
                </a:extLst>
              </p:cNvPr>
              <p:cNvCxnSpPr>
                <a:cxnSpLocks/>
                <a:endCxn id="61" idx="2"/>
              </p:cNvCxnSpPr>
              <p:nvPr/>
            </p:nvCxnSpPr>
            <p:spPr>
              <a:xfrm>
                <a:off x="6371658" y="3045053"/>
                <a:ext cx="1474700" cy="9582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4616371A-BBA2-E926-C72A-C62978A44977}"/>
                  </a:ext>
                </a:extLst>
              </p:cNvPr>
              <p:cNvCxnSpPr>
                <a:cxnSpLocks/>
                <a:stCxn id="19" idx="6"/>
                <a:endCxn id="61" idx="2"/>
              </p:cNvCxnSpPr>
              <p:nvPr/>
            </p:nvCxnSpPr>
            <p:spPr>
              <a:xfrm>
                <a:off x="6371665" y="3626223"/>
                <a:ext cx="1474693" cy="3771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81FC3C72-91BC-E73D-9648-C23BA671408A}"/>
                  </a:ext>
                </a:extLst>
              </p:cNvPr>
              <p:cNvCxnSpPr>
                <a:cxnSpLocks/>
                <a:stCxn id="20" idx="6"/>
                <a:endCxn id="61" idx="2"/>
              </p:cNvCxnSpPr>
              <p:nvPr/>
            </p:nvCxnSpPr>
            <p:spPr>
              <a:xfrm flipV="1">
                <a:off x="6371665" y="4003337"/>
                <a:ext cx="1474693" cy="30420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537D715-E2CF-7069-7C03-E78A38F9B4BD}"/>
                </a:ext>
              </a:extLst>
            </p:cNvPr>
            <p:cNvCxnSpPr/>
            <p:nvPr/>
          </p:nvCxnSpPr>
          <p:spPr>
            <a:xfrm>
              <a:off x="2516843" y="2532528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1F83B78-144F-88A3-3DBB-C8A97BD43B7E}"/>
                </a:ext>
              </a:extLst>
            </p:cNvPr>
            <p:cNvCxnSpPr/>
            <p:nvPr/>
          </p:nvCxnSpPr>
          <p:spPr>
            <a:xfrm>
              <a:off x="2516842" y="3074291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1B455A3A-FC46-9BB9-3693-48CD9D3CBFEB}"/>
                </a:ext>
              </a:extLst>
            </p:cNvPr>
            <p:cNvCxnSpPr/>
            <p:nvPr/>
          </p:nvCxnSpPr>
          <p:spPr>
            <a:xfrm>
              <a:off x="2516842" y="3625620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2847047-FE29-B248-62A5-12C2B186C345}"/>
                </a:ext>
              </a:extLst>
            </p:cNvPr>
            <p:cNvCxnSpPr/>
            <p:nvPr/>
          </p:nvCxnSpPr>
          <p:spPr>
            <a:xfrm>
              <a:off x="2516841" y="5024444"/>
              <a:ext cx="1461247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9FBE616-CBD8-91B3-A972-89CFBF593A0F}"/>
                    </a:ext>
                  </a:extLst>
                </p:cNvPr>
                <p:cNvSpPr txBox="1"/>
                <p:nvPr/>
              </p:nvSpPr>
              <p:spPr>
                <a:xfrm>
                  <a:off x="2073090" y="2337693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9FBE616-CBD8-91B3-A972-89CFBF593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2337693"/>
                  <a:ext cx="295835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50000" r="-18750" b="-764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02C40B2-1550-534A-63BC-4EC101E520B6}"/>
                    </a:ext>
                  </a:extLst>
                </p:cNvPr>
                <p:cNvSpPr txBox="1"/>
                <p:nvPr/>
              </p:nvSpPr>
              <p:spPr>
                <a:xfrm>
                  <a:off x="2073090" y="2842122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02C40B2-1550-534A-63BC-4EC101E52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2842122"/>
                  <a:ext cx="295835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50000" r="-18750"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E18D379-4C18-78AC-D7B9-6C44869DD9F0}"/>
                    </a:ext>
                  </a:extLst>
                </p:cNvPr>
                <p:cNvSpPr txBox="1"/>
                <p:nvPr/>
              </p:nvSpPr>
              <p:spPr>
                <a:xfrm>
                  <a:off x="2073090" y="3388102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E18D379-4C18-78AC-D7B9-6C44869DD9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3388102"/>
                  <a:ext cx="295835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50000" r="-18750" b="-705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761BAF68-0006-4F06-A3EE-A47F9A2AB517}"/>
                    </a:ext>
                  </a:extLst>
                </p:cNvPr>
                <p:cNvSpPr txBox="1"/>
                <p:nvPr/>
              </p:nvSpPr>
              <p:spPr>
                <a:xfrm>
                  <a:off x="2073090" y="4806597"/>
                  <a:ext cx="2958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sz="1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761BAF68-0006-4F06-A3EE-A47F9A2AB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090" y="4806597"/>
                  <a:ext cx="295835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50000" r="-18750" b="-6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237636D-1385-7128-6230-DCB6B2DF070A}"/>
                </a:ext>
              </a:extLst>
            </p:cNvPr>
            <p:cNvGrpSpPr/>
            <p:nvPr/>
          </p:nvGrpSpPr>
          <p:grpSpPr>
            <a:xfrm>
              <a:off x="3720353" y="2034988"/>
              <a:ext cx="4755777" cy="3532094"/>
              <a:chOff x="3720353" y="2034988"/>
              <a:chExt cx="4755777" cy="3532094"/>
            </a:xfrm>
          </p:grpSpPr>
          <p:sp>
            <p:nvSpPr>
              <p:cNvPr id="83" name="Rounded Rectangle 82">
                <a:extLst>
                  <a:ext uri="{FF2B5EF4-FFF2-40B4-BE49-F238E27FC236}">
                    <a16:creationId xmlns:a16="http://schemas.microsoft.com/office/drawing/2014/main" id="{DF070F9A-D674-440B-B57B-9BC61A1185F8}"/>
                  </a:ext>
                </a:extLst>
              </p:cNvPr>
              <p:cNvSpPr/>
              <p:nvPr/>
            </p:nvSpPr>
            <p:spPr>
              <a:xfrm>
                <a:off x="3720353" y="2034988"/>
                <a:ext cx="905435" cy="3532094"/>
              </a:xfrm>
              <a:prstGeom prst="roundRect">
                <a:avLst/>
              </a:prstGeom>
              <a:solidFill>
                <a:schemeClr val="bg2">
                  <a:alpha val="2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F4ED1DE5-338C-63FA-8A8B-898B104AF2BD}"/>
                  </a:ext>
                </a:extLst>
              </p:cNvPr>
              <p:cNvSpPr/>
              <p:nvPr/>
            </p:nvSpPr>
            <p:spPr>
              <a:xfrm>
                <a:off x="5708277" y="2667002"/>
                <a:ext cx="905435" cy="2139596"/>
              </a:xfrm>
              <a:prstGeom prst="roundRect">
                <a:avLst/>
              </a:prstGeom>
              <a:solidFill>
                <a:schemeClr val="bg2">
                  <a:alpha val="2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E5BBECD9-58A3-EF52-8B4B-6D7D57519F9A}"/>
                  </a:ext>
                </a:extLst>
              </p:cNvPr>
              <p:cNvSpPr/>
              <p:nvPr/>
            </p:nvSpPr>
            <p:spPr>
              <a:xfrm>
                <a:off x="7570695" y="3098511"/>
                <a:ext cx="905435" cy="1388323"/>
              </a:xfrm>
              <a:prstGeom prst="roundRect">
                <a:avLst/>
              </a:prstGeom>
              <a:solidFill>
                <a:schemeClr val="bg2">
                  <a:alpha val="2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CA265EFE-4F9A-E13E-D0A1-964E09171560}"/>
              </a:ext>
            </a:extLst>
          </p:cNvPr>
          <p:cNvSpPr/>
          <p:nvPr/>
        </p:nvSpPr>
        <p:spPr>
          <a:xfrm>
            <a:off x="9684956" y="1541146"/>
            <a:ext cx="961962" cy="989225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3997EAB-CCE2-40D6-A95C-ADD8394E1AE5}"/>
              </a:ext>
            </a:extLst>
          </p:cNvPr>
          <p:cNvCxnSpPr>
            <a:cxnSpLocks/>
            <a:endCxn id="108" idx="3"/>
          </p:cNvCxnSpPr>
          <p:nvPr/>
        </p:nvCxnSpPr>
        <p:spPr>
          <a:xfrm flipV="1">
            <a:off x="8208085" y="2385502"/>
            <a:ext cx="1617747" cy="1000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Google Shape;1641;p110">
            <a:extLst>
              <a:ext uri="{FF2B5EF4-FFF2-40B4-BE49-F238E27FC236}">
                <a16:creationId xmlns:a16="http://schemas.microsoft.com/office/drawing/2014/main" id="{F4C71AEB-43D3-6BDA-F249-6E2B3132AC75}"/>
              </a:ext>
            </a:extLst>
          </p:cNvPr>
          <p:cNvSpPr txBox="1">
            <a:spLocks/>
          </p:cNvSpPr>
          <p:nvPr/>
        </p:nvSpPr>
        <p:spPr>
          <a:xfrm>
            <a:off x="454380" y="3371562"/>
            <a:ext cx="4239339" cy="163427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 each node, incoming values are weighted, summed, added with a bias term, and passed through an activation function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595F02B-547A-CC85-82BF-8A2C5B234023}"/>
              </a:ext>
            </a:extLst>
          </p:cNvPr>
          <p:cNvGrpSpPr/>
          <p:nvPr/>
        </p:nvGrpSpPr>
        <p:grpSpPr>
          <a:xfrm>
            <a:off x="5589397" y="3198314"/>
            <a:ext cx="4095559" cy="2739655"/>
            <a:chOff x="5252899" y="3027542"/>
            <a:chExt cx="4095559" cy="2739655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FEF39057-8FC7-30A9-1581-9C485D704D93}"/>
                </a:ext>
              </a:extLst>
            </p:cNvPr>
            <p:cNvGrpSpPr/>
            <p:nvPr/>
          </p:nvGrpSpPr>
          <p:grpSpPr>
            <a:xfrm>
              <a:off x="5252899" y="3027542"/>
              <a:ext cx="4095559" cy="2739655"/>
              <a:chOff x="5252899" y="3027542"/>
              <a:chExt cx="4095559" cy="2739655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D6BAA631-E5A9-B093-3B06-A9A11FF6F509}"/>
                  </a:ext>
                </a:extLst>
              </p:cNvPr>
              <p:cNvGrpSpPr/>
              <p:nvPr/>
            </p:nvGrpSpPr>
            <p:grpSpPr>
              <a:xfrm>
                <a:off x="5252899" y="3027542"/>
                <a:ext cx="4095559" cy="2739655"/>
                <a:chOff x="6581405" y="3513156"/>
                <a:chExt cx="4095559" cy="2739655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FA10BBCF-F1AA-B2B3-F63A-7F1F5D818664}"/>
                    </a:ext>
                  </a:extLst>
                </p:cNvPr>
                <p:cNvGrpSpPr/>
                <p:nvPr/>
              </p:nvGrpSpPr>
              <p:grpSpPr>
                <a:xfrm>
                  <a:off x="6581405" y="3513156"/>
                  <a:ext cx="367051" cy="2739655"/>
                  <a:chOff x="1927411" y="1976717"/>
                  <a:chExt cx="367554" cy="283525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3" name="Oval 72">
                        <a:extLst>
                          <a:ext uri="{FF2B5EF4-FFF2-40B4-BE49-F238E27FC236}">
                            <a16:creationId xmlns:a16="http://schemas.microsoft.com/office/drawing/2014/main" id="{CEDBD0A4-4613-8270-DAEE-16D9976C84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3" y="1976717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3" name="Oval 72">
                        <a:extLst>
                          <a:ext uri="{FF2B5EF4-FFF2-40B4-BE49-F238E27FC236}">
                            <a16:creationId xmlns:a16="http://schemas.microsoft.com/office/drawing/2014/main" id="{CEDBD0A4-4613-8270-DAEE-16D9976C84C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3" y="1976717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0233A2A0-CBB0-C597-D854-E657150B53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1" y="2523565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0233A2A0-CBB0-C597-D854-E657150B538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1" y="2523565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0" name="Oval 89">
                        <a:extLst>
                          <a:ext uri="{FF2B5EF4-FFF2-40B4-BE49-F238E27FC236}">
                            <a16:creationId xmlns:a16="http://schemas.microsoft.com/office/drawing/2014/main" id="{231372EB-6D8E-992A-7E35-DBB753BAE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3" y="3070412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0" name="Oval 89">
                        <a:extLst>
                          <a:ext uri="{FF2B5EF4-FFF2-40B4-BE49-F238E27FC236}">
                            <a16:creationId xmlns:a16="http://schemas.microsoft.com/office/drawing/2014/main" id="{231372EB-6D8E-992A-7E35-DBB753BAECB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3" y="3070412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9865E750-ED05-0343-CC40-C510B205A5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1" y="4453382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9865E750-ED05-0343-CC40-C510B205A5A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1" y="4453382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19"/>
                        <a:stretch>
                          <a:fillRect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7A182BE5-97BC-EE3E-F879-6B3C2C3930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9914" y="4339302"/>
                      <a:ext cx="367050" cy="346497"/>
                    </a:xfrm>
                    <a:prstGeom prst="ellipse">
                      <a:avLst/>
                    </a:prstGeom>
                    <a:solidFill>
                      <a:schemeClr val="tx2">
                        <a:lumMod val="50000"/>
                        <a:lumOff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7A182BE5-97BC-EE3E-F879-6B3C2C39306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09914" y="4339302"/>
                      <a:ext cx="367050" cy="346497"/>
                    </a:xfrm>
                    <a:prstGeom prst="ellipse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D6E12D77-F344-56A3-0DBD-EFEC963E972C}"/>
                    </a:ext>
                  </a:extLst>
                </p:cNvPr>
                <p:cNvCxnSpPr>
                  <a:cxnSpLocks/>
                  <a:stCxn id="73" idx="6"/>
                  <a:endCxn id="92" idx="1"/>
                </p:cNvCxnSpPr>
                <p:nvPr/>
              </p:nvCxnSpPr>
              <p:spPr>
                <a:xfrm>
                  <a:off x="6948456" y="3686405"/>
                  <a:ext cx="1467994" cy="822009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5B1B2770-60D3-9ADC-42E7-80F6FCAE23EC}"/>
                    </a:ext>
                  </a:extLst>
                </p:cNvPr>
                <p:cNvGrpSpPr/>
                <p:nvPr/>
              </p:nvGrpSpPr>
              <p:grpSpPr>
                <a:xfrm>
                  <a:off x="8416450" y="4273605"/>
                  <a:ext cx="1012014" cy="469617"/>
                  <a:chOff x="8010464" y="4434077"/>
                  <a:chExt cx="1012014" cy="469617"/>
                </a:xfrm>
                <a:solidFill>
                  <a:schemeClr val="bg1"/>
                </a:solidFill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085818FA-FBC1-317E-C686-787B0AADD7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464" y="4434077"/>
                        <a:ext cx="506007" cy="469617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oMath>
                          </m:oMathPara>
                        </a14:m>
                        <a:endParaRPr lang="en-US" sz="25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085818FA-FBC1-317E-C686-787B0AADD7A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10464" y="4434077"/>
                        <a:ext cx="506007" cy="469617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3" name="Rectangle 92">
                        <a:extLst>
                          <a:ext uri="{FF2B5EF4-FFF2-40B4-BE49-F238E27FC236}">
                            <a16:creationId xmlns:a16="http://schemas.microsoft.com/office/drawing/2014/main" id="{FEFD67BB-6969-BFB4-CE0A-8FD5C3BDD2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6471" y="4434077"/>
                        <a:ext cx="506007" cy="469617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m:oMathPara>
                        </a14:m>
                        <a:endParaRPr lang="en-US" sz="25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3" name="Rectangle 92">
                        <a:extLst>
                          <a:ext uri="{FF2B5EF4-FFF2-40B4-BE49-F238E27FC236}">
                            <a16:creationId xmlns:a16="http://schemas.microsoft.com/office/drawing/2014/main" id="{FEFD67BB-6969-BFB4-CE0A-8FD5C3BDD2A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16471" y="4434077"/>
                        <a:ext cx="506007" cy="469617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l="-2381" b="-1282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4E899F8D-C97C-499F-423A-80222ACF735D}"/>
                    </a:ext>
                  </a:extLst>
                </p:cNvPr>
                <p:cNvCxnSpPr>
                  <a:cxnSpLocks/>
                  <a:stCxn id="78" idx="6"/>
                  <a:endCxn id="92" idx="1"/>
                </p:cNvCxnSpPr>
                <p:nvPr/>
              </p:nvCxnSpPr>
              <p:spPr>
                <a:xfrm>
                  <a:off x="6948454" y="4214815"/>
                  <a:ext cx="1467996" cy="293599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A46650BE-5925-4352-FE63-C5D5FABFF4E4}"/>
                    </a:ext>
                  </a:extLst>
                </p:cNvPr>
                <p:cNvCxnSpPr>
                  <a:cxnSpLocks/>
                  <a:endCxn id="92" idx="1"/>
                </p:cNvCxnSpPr>
                <p:nvPr/>
              </p:nvCxnSpPr>
              <p:spPr>
                <a:xfrm flipV="1">
                  <a:off x="6941652" y="4508414"/>
                  <a:ext cx="1474798" cy="227611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A13B5474-54BF-865F-6CBF-BC87D86FDA22}"/>
                    </a:ext>
                  </a:extLst>
                </p:cNvPr>
                <p:cNvCxnSpPr>
                  <a:cxnSpLocks/>
                  <a:endCxn id="92" idx="1"/>
                </p:cNvCxnSpPr>
                <p:nvPr/>
              </p:nvCxnSpPr>
              <p:spPr>
                <a:xfrm flipV="1">
                  <a:off x="6941652" y="4508414"/>
                  <a:ext cx="1474798" cy="1512475"/>
                </a:xfrm>
                <a:prstGeom prst="straightConnector1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4273C674-421C-14CF-AF12-46690D78D5CE}"/>
                    </a:ext>
                  </a:extLst>
                </p:cNvPr>
                <p:cNvCxnSpPr>
                  <a:cxnSpLocks/>
                  <a:stCxn id="93" idx="3"/>
                </p:cNvCxnSpPr>
                <p:nvPr/>
              </p:nvCxnSpPr>
              <p:spPr>
                <a:xfrm flipV="1">
                  <a:off x="9428464" y="4508413"/>
                  <a:ext cx="870200" cy="1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2359EEEF-553F-8B9D-F3D4-B6B11833469E}"/>
                  </a:ext>
                </a:extLst>
              </p:cNvPr>
              <p:cNvGrpSpPr/>
              <p:nvPr/>
            </p:nvGrpSpPr>
            <p:grpSpPr>
              <a:xfrm>
                <a:off x="6096000" y="3235539"/>
                <a:ext cx="2565343" cy="1518804"/>
                <a:chOff x="6096000" y="3235539"/>
                <a:chExt cx="2565343" cy="151880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A2540BF2-D9F4-8E3C-CBF3-7B97F96743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6000" y="3235539"/>
                      <a:ext cx="31072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A2540BF2-D9F4-8E3C-CBF3-7B97F967430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000" y="3235539"/>
                      <a:ext cx="310726" cy="276999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8000" r="-8000" b="-1818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BB3922D9-9E2B-8190-0102-00FD69F725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955" y="3573115"/>
                      <a:ext cx="31604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BB3922D9-9E2B-8190-0102-00FD69F7250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955" y="3573115"/>
                      <a:ext cx="316049" cy="276999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7692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CE62BD5D-5919-0CBF-AD65-2AAFD47E30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5216" y="3887219"/>
                      <a:ext cx="31604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CE62BD5D-5919-0CBF-AD65-2AAFD47E304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55216" y="3887219"/>
                      <a:ext cx="316049" cy="2769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11538" r="-3846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8ACEC83B-E87B-79E1-46A7-49CC410618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265" y="4477344"/>
                      <a:ext cx="32316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8ACEC83B-E87B-79E1-46A7-49CC410618B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0265" y="4477344"/>
                      <a:ext cx="323165" cy="276999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l="-7407" b="-869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9BC6B844-FCBD-A237-9985-6DB11BDF5A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53722" y="3767036"/>
                      <a:ext cx="20762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9BC6B844-FCBD-A237-9985-6DB11BDF5AA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53722" y="3767036"/>
                      <a:ext cx="207621" cy="276999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 l="-29412" r="-23529" b="-90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7145DAB-FA5D-AE71-273B-7FF61E48C655}"/>
                </a:ext>
              </a:extLst>
            </p:cNvPr>
            <p:cNvCxnSpPr>
              <a:cxnSpLocks/>
            </p:cNvCxnSpPr>
            <p:nvPr/>
          </p:nvCxnSpPr>
          <p:spPr>
            <a:xfrm>
              <a:off x="5448575" y="4680493"/>
              <a:ext cx="0" cy="545930"/>
            </a:xfrm>
            <a:prstGeom prst="line">
              <a:avLst/>
            </a:prstGeom>
            <a:ln w="508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657394B-B576-E1B9-4272-E9BADA855AB6}"/>
                  </a:ext>
                </a:extLst>
              </p:cNvPr>
              <p:cNvSpPr txBox="1"/>
              <p:nvPr/>
            </p:nvSpPr>
            <p:spPr>
              <a:xfrm>
                <a:off x="5461642" y="6288165"/>
                <a:ext cx="6079130" cy="2923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900" b="1" dirty="0"/>
                  <a:t>O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𝒂𝒄𝒕𝒊𝒗𝒂𝒕𝒊𝒐𝒏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+…,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b="1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657394B-B576-E1B9-4272-E9BADA855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642" y="6288165"/>
                <a:ext cx="6079130" cy="292388"/>
              </a:xfrm>
              <a:prstGeom prst="rect">
                <a:avLst/>
              </a:prstGeom>
              <a:blipFill>
                <a:blip r:embed="rId28"/>
                <a:stretch>
                  <a:fillRect l="-2505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38559-A586-4017-9323-BD4E267B7921}"/>
                  </a:ext>
                </a:extLst>
              </p:cNvPr>
              <p:cNvSpPr txBox="1"/>
              <p:nvPr/>
            </p:nvSpPr>
            <p:spPr>
              <a:xfrm>
                <a:off x="7467935" y="3444957"/>
                <a:ext cx="36704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sz="1800" b="1" dirty="0"/>
              </a:p>
              <a:p>
                <a:pPr algn="just"/>
                <a:r>
                  <a:rPr lang="en-US" dirty="0"/>
                  <a:t>+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138559-A586-4017-9323-BD4E267B7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935" y="3444957"/>
                <a:ext cx="367049" cy="646331"/>
              </a:xfrm>
              <a:prstGeom prst="rect">
                <a:avLst/>
              </a:prstGeom>
              <a:blipFill>
                <a:blip r:embed="rId29"/>
                <a:stretch>
                  <a:fillRect l="-1379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5BB62-0850-CA3F-F9C3-F147C983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F360A15-636E-F89B-2B23-E5BDA507B6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15296" r="54516" b="57147"/>
          <a:stretch/>
        </p:blipFill>
        <p:spPr bwMode="auto">
          <a:xfrm>
            <a:off x="7677445" y="4496566"/>
            <a:ext cx="952564" cy="59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412EE424-81DC-D020-E958-CF7A1506607C}"/>
              </a:ext>
            </a:extLst>
          </p:cNvPr>
          <p:cNvSpPr/>
          <p:nvPr/>
        </p:nvSpPr>
        <p:spPr>
          <a:xfrm>
            <a:off x="7180864" y="3388641"/>
            <a:ext cx="1653508" cy="1682939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28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82EB-65B6-927E-418D-1AF81319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DC17890-2D57-61E4-BF5C-139BB608F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584" y="2554947"/>
            <a:ext cx="7280290" cy="366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DE2546-F2F6-4141-5C8E-24BFF2C2D5AB}"/>
              </a:ext>
            </a:extLst>
          </p:cNvPr>
          <p:cNvSpPr txBox="1"/>
          <p:nvPr/>
        </p:nvSpPr>
        <p:spPr>
          <a:xfrm>
            <a:off x="778600" y="508666"/>
            <a:ext cx="29049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Activation functions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234E238-F448-4E36-7BCC-80CD311A1D47}"/>
              </a:ext>
            </a:extLst>
          </p:cNvPr>
          <p:cNvGrpSpPr/>
          <p:nvPr/>
        </p:nvGrpSpPr>
        <p:grpSpPr>
          <a:xfrm>
            <a:off x="8888410" y="179294"/>
            <a:ext cx="2828462" cy="1948675"/>
            <a:chOff x="5252899" y="3027542"/>
            <a:chExt cx="4095559" cy="2739655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7A16FD1-F90A-03FB-1CBF-2663C6056FAB}"/>
                </a:ext>
              </a:extLst>
            </p:cNvPr>
            <p:cNvGrpSpPr/>
            <p:nvPr/>
          </p:nvGrpSpPr>
          <p:grpSpPr>
            <a:xfrm>
              <a:off x="5252899" y="3027542"/>
              <a:ext cx="4095559" cy="2739655"/>
              <a:chOff x="5252899" y="3027542"/>
              <a:chExt cx="4095559" cy="2739655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5F331BAF-0F26-B130-0B53-EFCE100504F1}"/>
                  </a:ext>
                </a:extLst>
              </p:cNvPr>
              <p:cNvGrpSpPr/>
              <p:nvPr/>
            </p:nvGrpSpPr>
            <p:grpSpPr>
              <a:xfrm>
                <a:off x="5252899" y="3027542"/>
                <a:ext cx="4095559" cy="2739655"/>
                <a:chOff x="6581405" y="3513156"/>
                <a:chExt cx="4095559" cy="2739655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67E3CF5-2408-7C7A-D682-AAE596E8EF40}"/>
                    </a:ext>
                  </a:extLst>
                </p:cNvPr>
                <p:cNvGrpSpPr/>
                <p:nvPr/>
              </p:nvGrpSpPr>
              <p:grpSpPr>
                <a:xfrm>
                  <a:off x="6581405" y="3513156"/>
                  <a:ext cx="367051" cy="2739655"/>
                  <a:chOff x="1927411" y="1976717"/>
                  <a:chExt cx="367554" cy="283525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3" name="Oval 72">
                        <a:extLst>
                          <a:ext uri="{FF2B5EF4-FFF2-40B4-BE49-F238E27FC236}">
                            <a16:creationId xmlns:a16="http://schemas.microsoft.com/office/drawing/2014/main" id="{F6BC4C38-7837-4AD8-DD81-F091E4696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3" y="1976717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3" name="Oval 72">
                        <a:extLst>
                          <a:ext uri="{FF2B5EF4-FFF2-40B4-BE49-F238E27FC236}">
                            <a16:creationId xmlns:a16="http://schemas.microsoft.com/office/drawing/2014/main" id="{F6BC4C38-7837-4AD8-DD81-F091E469632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3" y="1976717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 l="-9091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72292FEF-4893-74F9-5D23-F9F132884B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1" y="2523565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72292FEF-4893-74F9-5D23-F9F132884BEA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1" y="2523565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 l="-9091" b="-4762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0" name="Oval 89">
                        <a:extLst>
                          <a:ext uri="{FF2B5EF4-FFF2-40B4-BE49-F238E27FC236}">
                            <a16:creationId xmlns:a16="http://schemas.microsoft.com/office/drawing/2014/main" id="{4711B283-EBC8-10A4-E760-2C44D0E469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3" y="3070412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0" name="Oval 89">
                        <a:extLst>
                          <a:ext uri="{FF2B5EF4-FFF2-40B4-BE49-F238E27FC236}">
                            <a16:creationId xmlns:a16="http://schemas.microsoft.com/office/drawing/2014/main" id="{4711B283-EBC8-10A4-E760-2C44D0E4697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3" y="3070412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 l="-9091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08245F95-35EF-8BC9-F92C-16FCED89DC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1" y="4453382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08245F95-35EF-8BC9-F92C-16FCED89DC7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1" y="4453382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7"/>
                        <a:stretch>
                          <a:fillRect l="-9091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A7144741-C69F-6997-C97F-6A0A4E709A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9914" y="4339302"/>
                      <a:ext cx="367050" cy="346497"/>
                    </a:xfrm>
                    <a:prstGeom prst="ellipse">
                      <a:avLst/>
                    </a:prstGeom>
                    <a:solidFill>
                      <a:schemeClr val="tx2">
                        <a:lumMod val="50000"/>
                        <a:lumOff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A7144741-C69F-6997-C97F-6A0A4E709A5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09914" y="4339302"/>
                      <a:ext cx="367050" cy="346497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 l="-4348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4651AE25-B46A-2DA6-3CBF-8542397508AD}"/>
                    </a:ext>
                  </a:extLst>
                </p:cNvPr>
                <p:cNvCxnSpPr>
                  <a:cxnSpLocks/>
                  <a:stCxn id="73" idx="6"/>
                  <a:endCxn id="92" idx="1"/>
                </p:cNvCxnSpPr>
                <p:nvPr/>
              </p:nvCxnSpPr>
              <p:spPr>
                <a:xfrm>
                  <a:off x="6948456" y="3686405"/>
                  <a:ext cx="1467994" cy="822009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AD238BE6-FC0A-D507-B04B-CC8380B718C5}"/>
                    </a:ext>
                  </a:extLst>
                </p:cNvPr>
                <p:cNvGrpSpPr/>
                <p:nvPr/>
              </p:nvGrpSpPr>
              <p:grpSpPr>
                <a:xfrm>
                  <a:off x="8416450" y="4273605"/>
                  <a:ext cx="1012014" cy="469617"/>
                  <a:chOff x="8010464" y="4434077"/>
                  <a:chExt cx="1012014" cy="469617"/>
                </a:xfrm>
                <a:solidFill>
                  <a:schemeClr val="bg1"/>
                </a:solidFill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A99BCD53-2465-1B75-EA69-52A0A10DE8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464" y="4434077"/>
                        <a:ext cx="506007" cy="469617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oMath>
                          </m:oMathPara>
                        </a14:m>
                        <a:endParaRPr lang="en-US" sz="25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A99BCD53-2465-1B75-EA69-52A0A10DE87D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10464" y="4434077"/>
                        <a:ext cx="506007" cy="469617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3333" b="-1071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3" name="Rectangle 92">
                        <a:extLst>
                          <a:ext uri="{FF2B5EF4-FFF2-40B4-BE49-F238E27FC236}">
                            <a16:creationId xmlns:a16="http://schemas.microsoft.com/office/drawing/2014/main" id="{F508CC20-D423-CA59-E156-AAF7855882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6471" y="4434077"/>
                        <a:ext cx="506007" cy="469617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m:oMathPara>
                        </a14:m>
                        <a:endParaRPr lang="en-US" sz="25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3" name="Rectangle 92">
                        <a:extLst>
                          <a:ext uri="{FF2B5EF4-FFF2-40B4-BE49-F238E27FC236}">
                            <a16:creationId xmlns:a16="http://schemas.microsoft.com/office/drawing/2014/main" id="{F508CC20-D423-CA59-E156-AAF7855882C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16471" y="4434077"/>
                        <a:ext cx="506007" cy="469617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23333" t="-10714" r="-3333" b="-39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0D090933-0A4A-522A-4E84-9938CC8E6D2F}"/>
                    </a:ext>
                  </a:extLst>
                </p:cNvPr>
                <p:cNvCxnSpPr>
                  <a:cxnSpLocks/>
                  <a:stCxn id="78" idx="6"/>
                  <a:endCxn id="92" idx="1"/>
                </p:cNvCxnSpPr>
                <p:nvPr/>
              </p:nvCxnSpPr>
              <p:spPr>
                <a:xfrm>
                  <a:off x="6948454" y="4214815"/>
                  <a:ext cx="1467996" cy="293599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415951C8-A5A8-EEE0-E6FE-17ED36411622}"/>
                    </a:ext>
                  </a:extLst>
                </p:cNvPr>
                <p:cNvCxnSpPr>
                  <a:cxnSpLocks/>
                  <a:endCxn id="92" idx="1"/>
                </p:cNvCxnSpPr>
                <p:nvPr/>
              </p:nvCxnSpPr>
              <p:spPr>
                <a:xfrm flipV="1">
                  <a:off x="6941652" y="4508414"/>
                  <a:ext cx="1474798" cy="227611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EDAAF574-A636-BE7B-550D-41D5283402B3}"/>
                    </a:ext>
                  </a:extLst>
                </p:cNvPr>
                <p:cNvCxnSpPr>
                  <a:cxnSpLocks/>
                  <a:endCxn id="92" idx="1"/>
                </p:cNvCxnSpPr>
                <p:nvPr/>
              </p:nvCxnSpPr>
              <p:spPr>
                <a:xfrm flipV="1">
                  <a:off x="6941652" y="4508414"/>
                  <a:ext cx="1474798" cy="1512475"/>
                </a:xfrm>
                <a:prstGeom prst="straightConnector1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60DC2207-2DCF-1EE7-B693-94A35C6FCBE7}"/>
                    </a:ext>
                  </a:extLst>
                </p:cNvPr>
                <p:cNvCxnSpPr>
                  <a:cxnSpLocks/>
                  <a:stCxn id="93" idx="3"/>
                </p:cNvCxnSpPr>
                <p:nvPr/>
              </p:nvCxnSpPr>
              <p:spPr>
                <a:xfrm flipV="1">
                  <a:off x="9428464" y="4508413"/>
                  <a:ext cx="870200" cy="1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1B5C0D19-2679-3D2D-F6A2-F736FCE7CFFE}"/>
                  </a:ext>
                </a:extLst>
              </p:cNvPr>
              <p:cNvGrpSpPr/>
              <p:nvPr/>
            </p:nvGrpSpPr>
            <p:grpSpPr>
              <a:xfrm>
                <a:off x="6096000" y="3235539"/>
                <a:ext cx="2520394" cy="1518804"/>
                <a:chOff x="6096000" y="3235539"/>
                <a:chExt cx="2520394" cy="151880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CA299565-34FB-66A9-8DE1-C3B410AA165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6000" y="3235539"/>
                      <a:ext cx="31072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CA299565-34FB-66A9-8DE1-C3B410AA165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000" y="3235539"/>
                      <a:ext cx="310726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2222" r="-38889" b="-529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6D22A004-1177-BFCC-85E5-103A5D2D80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955" y="3573115"/>
                      <a:ext cx="31604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6D22A004-1177-BFCC-85E5-103A5D2D80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955" y="3573115"/>
                      <a:ext cx="316049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2222" r="-38889" b="-529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62098FF7-29C7-352E-E185-A71411846C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5216" y="3887219"/>
                      <a:ext cx="31604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62098FF7-29C7-352E-E185-A71411846C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55216" y="3887219"/>
                      <a:ext cx="316049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21053" r="-36842" b="-6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24DC8BAC-3745-A726-0E10-D23AB8E400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265" y="4477344"/>
                      <a:ext cx="32316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24DC8BAC-3745-A726-0E10-D23AB8E400F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0265" y="4477344"/>
                      <a:ext cx="323165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22222" r="-33333" b="-5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697CB2D4-CCDC-C50F-8735-17A0D641CA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53722" y="3691413"/>
                      <a:ext cx="16267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697CB2D4-CCDC-C50F-8735-17A0D641CA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53722" y="3691413"/>
                      <a:ext cx="162672" cy="27699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55556" r="-55556" b="-3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B914C88-412E-F2D1-835B-E468AB36DF44}"/>
                </a:ext>
              </a:extLst>
            </p:cNvPr>
            <p:cNvCxnSpPr>
              <a:cxnSpLocks/>
            </p:cNvCxnSpPr>
            <p:nvPr/>
          </p:nvCxnSpPr>
          <p:spPr>
            <a:xfrm>
              <a:off x="5448575" y="4680493"/>
              <a:ext cx="0" cy="545930"/>
            </a:xfrm>
            <a:prstGeom prst="line">
              <a:avLst/>
            </a:prstGeom>
            <a:ln w="508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Google Shape;1654;p111">
            <a:extLst>
              <a:ext uri="{FF2B5EF4-FFF2-40B4-BE49-F238E27FC236}">
                <a16:creationId xmlns:a16="http://schemas.microsoft.com/office/drawing/2014/main" id="{30E47AC4-7CDF-1487-9AF0-F4CBE12DF101}"/>
              </a:ext>
            </a:extLst>
          </p:cNvPr>
          <p:cNvSpPr txBox="1">
            <a:spLocks/>
          </p:cNvSpPr>
          <p:nvPr/>
        </p:nvSpPr>
        <p:spPr>
          <a:xfrm>
            <a:off x="112669" y="2554947"/>
            <a:ext cx="4130580" cy="349085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The activation function in a neural network decides if a neuron should pass information to the next layer</a:t>
            </a:r>
          </a:p>
          <a:p>
            <a:pPr marL="3429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>
              <a:spcBef>
                <a:spcPts val="0"/>
              </a:spcBef>
            </a:pP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 activation function adds nonlinearity, allowing neural networks to capture complex patterns; without it, they’d only perform linear computations.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>
              <a:spcAft>
                <a:spcPts val="1000"/>
              </a:spcAft>
            </a:pPr>
            <a:endParaRPr lang="en-US" sz="1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7B0D10-3C8E-F12D-8660-A3120B08C531}"/>
              </a:ext>
            </a:extLst>
          </p:cNvPr>
          <p:cNvSpPr/>
          <p:nvPr/>
        </p:nvSpPr>
        <p:spPr>
          <a:xfrm>
            <a:off x="10355781" y="573911"/>
            <a:ext cx="691146" cy="714164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F5D215-E808-99C2-7524-6D2DB5099F60}"/>
              </a:ext>
            </a:extLst>
          </p:cNvPr>
          <p:cNvCxnSpPr>
            <a:endCxn id="14" idx="4"/>
          </p:cNvCxnSpPr>
          <p:nvPr/>
        </p:nvCxnSpPr>
        <p:spPr>
          <a:xfrm flipV="1">
            <a:off x="8588188" y="1288075"/>
            <a:ext cx="2113166" cy="159856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B519DC-FDD4-0AE0-6411-E0C8DA18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A0C7F-4409-0AF6-3423-91DE442D6D27}"/>
              </a:ext>
            </a:extLst>
          </p:cNvPr>
          <p:cNvSpPr txBox="1"/>
          <p:nvPr/>
        </p:nvSpPr>
        <p:spPr>
          <a:xfrm>
            <a:off x="5841307" y="6598364"/>
            <a:ext cx="6094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medium.com</a:t>
            </a:r>
            <a:r>
              <a:rPr lang="en-US" sz="1000" dirty="0"/>
              <a:t>/@</a:t>
            </a:r>
            <a:r>
              <a:rPr lang="en-US" sz="1000" dirty="0" err="1"/>
              <a:t>shrutijadon</a:t>
            </a:r>
            <a:r>
              <a:rPr lang="en-US" sz="1000" dirty="0"/>
              <a:t>/survey-on-activation-functions-for-deep-learning-9689331ba092</a:t>
            </a:r>
          </a:p>
        </p:txBody>
      </p:sp>
    </p:spTree>
    <p:extLst>
      <p:ext uri="{BB962C8B-B14F-4D97-AF65-F5344CB8AC3E}">
        <p14:creationId xmlns:p14="http://schemas.microsoft.com/office/powerpoint/2010/main" val="231144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BB1B-297B-E29D-40C9-010AA3C0E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F1B63E-03D7-9EE7-726F-7604CBACEDB9}"/>
              </a:ext>
            </a:extLst>
          </p:cNvPr>
          <p:cNvSpPr txBox="1"/>
          <p:nvPr/>
        </p:nvSpPr>
        <p:spPr>
          <a:xfrm>
            <a:off x="778600" y="508666"/>
            <a:ext cx="39228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train a network?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51024F2-14C2-9BE1-40B9-D357BEDF9030}"/>
              </a:ext>
            </a:extLst>
          </p:cNvPr>
          <p:cNvGrpSpPr/>
          <p:nvPr/>
        </p:nvGrpSpPr>
        <p:grpSpPr>
          <a:xfrm>
            <a:off x="8888410" y="179294"/>
            <a:ext cx="2828462" cy="1948675"/>
            <a:chOff x="5252899" y="3027542"/>
            <a:chExt cx="4095559" cy="2739655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B623F988-829E-0EC5-D762-718742908404}"/>
                </a:ext>
              </a:extLst>
            </p:cNvPr>
            <p:cNvGrpSpPr/>
            <p:nvPr/>
          </p:nvGrpSpPr>
          <p:grpSpPr>
            <a:xfrm>
              <a:off x="5252899" y="3027542"/>
              <a:ext cx="4095559" cy="2739655"/>
              <a:chOff x="5252899" y="3027542"/>
              <a:chExt cx="4095559" cy="2739655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454A149D-07EC-662A-B40F-590BC7E8E93F}"/>
                  </a:ext>
                </a:extLst>
              </p:cNvPr>
              <p:cNvGrpSpPr/>
              <p:nvPr/>
            </p:nvGrpSpPr>
            <p:grpSpPr>
              <a:xfrm>
                <a:off x="5252899" y="3027542"/>
                <a:ext cx="4095559" cy="2739655"/>
                <a:chOff x="6581405" y="3513156"/>
                <a:chExt cx="4095559" cy="2739655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E12F399-8763-12C7-E855-EA7E51CA706C}"/>
                    </a:ext>
                  </a:extLst>
                </p:cNvPr>
                <p:cNvGrpSpPr/>
                <p:nvPr/>
              </p:nvGrpSpPr>
              <p:grpSpPr>
                <a:xfrm>
                  <a:off x="6581405" y="3513156"/>
                  <a:ext cx="367051" cy="2739655"/>
                  <a:chOff x="1927411" y="1976717"/>
                  <a:chExt cx="367554" cy="283525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3" name="Oval 72">
                        <a:extLst>
                          <a:ext uri="{FF2B5EF4-FFF2-40B4-BE49-F238E27FC236}">
                            <a16:creationId xmlns:a16="http://schemas.microsoft.com/office/drawing/2014/main" id="{AC38B1C9-063B-8865-8665-742DE3763E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3" y="1976717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3" name="Oval 72">
                        <a:extLst>
                          <a:ext uri="{FF2B5EF4-FFF2-40B4-BE49-F238E27FC236}">
                            <a16:creationId xmlns:a16="http://schemas.microsoft.com/office/drawing/2014/main" id="{AC38B1C9-063B-8865-8665-742DE3763E3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3" y="1976717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3"/>
                        <a:stretch>
                          <a:fillRect l="-9091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822DB715-B8B8-F0EE-7DC5-A243696199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1" y="2523565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822DB715-B8B8-F0EE-7DC5-A2436961992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1" y="2523565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 l="-9091" b="-4762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0" name="Oval 89">
                        <a:extLst>
                          <a:ext uri="{FF2B5EF4-FFF2-40B4-BE49-F238E27FC236}">
                            <a16:creationId xmlns:a16="http://schemas.microsoft.com/office/drawing/2014/main" id="{526D3789-8282-FB69-99FF-A4A07DDF1A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3" y="3070412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0" name="Oval 89">
                        <a:extLst>
                          <a:ext uri="{FF2B5EF4-FFF2-40B4-BE49-F238E27FC236}">
                            <a16:creationId xmlns:a16="http://schemas.microsoft.com/office/drawing/2014/main" id="{526D3789-8282-FB69-99FF-A4A07DDF1A1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3" y="3070412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 l="-9091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8CA8CCB9-CC51-1A5E-47F0-891FFC0AC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927411" y="4453382"/>
                        <a:ext cx="367552" cy="358588"/>
                      </a:xfrm>
                      <a:prstGeom prst="ellipse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1400" i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8CA8CCB9-CC51-1A5E-47F0-891FFC0AC7BD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7411" y="4453382"/>
                        <a:ext cx="367552" cy="358588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 l="-9091"/>
                        </a:stretch>
                      </a:blipFill>
                      <a:ln>
                        <a:solidFill>
                          <a:schemeClr val="tx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0FCE80E8-1200-0E72-1DB7-1703CCDC3B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9914" y="4339302"/>
                      <a:ext cx="367050" cy="346497"/>
                    </a:xfrm>
                    <a:prstGeom prst="ellipse">
                      <a:avLst/>
                    </a:prstGeom>
                    <a:solidFill>
                      <a:schemeClr val="tx2">
                        <a:lumMod val="50000"/>
                        <a:lumOff val="5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0FCE80E8-1200-0E72-1DB7-1703CCDC3B9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09914" y="4339302"/>
                      <a:ext cx="367050" cy="346497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 l="-4348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C5A66B62-5A01-39E2-4385-0EE184C3BBF5}"/>
                    </a:ext>
                  </a:extLst>
                </p:cNvPr>
                <p:cNvCxnSpPr>
                  <a:cxnSpLocks/>
                  <a:stCxn id="73" idx="6"/>
                  <a:endCxn id="92" idx="1"/>
                </p:cNvCxnSpPr>
                <p:nvPr/>
              </p:nvCxnSpPr>
              <p:spPr>
                <a:xfrm>
                  <a:off x="6948456" y="3686405"/>
                  <a:ext cx="1467994" cy="822009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BD8F5A20-CC88-6118-976B-B09334860A66}"/>
                    </a:ext>
                  </a:extLst>
                </p:cNvPr>
                <p:cNvGrpSpPr/>
                <p:nvPr/>
              </p:nvGrpSpPr>
              <p:grpSpPr>
                <a:xfrm>
                  <a:off x="8416450" y="4273605"/>
                  <a:ext cx="1012014" cy="469617"/>
                  <a:chOff x="8010464" y="4434077"/>
                  <a:chExt cx="1012014" cy="469617"/>
                </a:xfrm>
                <a:solidFill>
                  <a:schemeClr val="bg1"/>
                </a:solidFill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DCB9EDF2-93EC-FF77-96C7-4C01646CBE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464" y="4434077"/>
                        <a:ext cx="506007" cy="469617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oMath>
                          </m:oMathPara>
                        </a14:m>
                        <a:endParaRPr lang="en-US" sz="25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2" name="Rectangle 91">
                        <a:extLst>
                          <a:ext uri="{FF2B5EF4-FFF2-40B4-BE49-F238E27FC236}">
                            <a16:creationId xmlns:a16="http://schemas.microsoft.com/office/drawing/2014/main" id="{DCB9EDF2-93EC-FF77-96C7-4C01646CBEB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10464" y="4434077"/>
                        <a:ext cx="506007" cy="469617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13333" b="-1071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3" name="Rectangle 92">
                        <a:extLst>
                          <a:ext uri="{FF2B5EF4-FFF2-40B4-BE49-F238E27FC236}">
                            <a16:creationId xmlns:a16="http://schemas.microsoft.com/office/drawing/2014/main" id="{24C2D1D0-CD7E-FE18-FEAF-4FD7731A88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16471" y="4434077"/>
                        <a:ext cx="506007" cy="469617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m:oMathPara>
                        </a14:m>
                        <a:endParaRPr lang="en-US" sz="25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3" name="Rectangle 92">
                        <a:extLst>
                          <a:ext uri="{FF2B5EF4-FFF2-40B4-BE49-F238E27FC236}">
                            <a16:creationId xmlns:a16="http://schemas.microsoft.com/office/drawing/2014/main" id="{24C2D1D0-CD7E-FE18-FEAF-4FD7731A883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516471" y="4434077"/>
                        <a:ext cx="506007" cy="469617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23333" t="-10714" r="-3333" b="-39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B15061D8-F94A-F0AA-3893-28ECC308C8BD}"/>
                    </a:ext>
                  </a:extLst>
                </p:cNvPr>
                <p:cNvCxnSpPr>
                  <a:cxnSpLocks/>
                  <a:stCxn id="78" idx="6"/>
                  <a:endCxn id="92" idx="1"/>
                </p:cNvCxnSpPr>
                <p:nvPr/>
              </p:nvCxnSpPr>
              <p:spPr>
                <a:xfrm>
                  <a:off x="6948454" y="4214815"/>
                  <a:ext cx="1467996" cy="293599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Arrow Connector 97">
                  <a:extLst>
                    <a:ext uri="{FF2B5EF4-FFF2-40B4-BE49-F238E27FC236}">
                      <a16:creationId xmlns:a16="http://schemas.microsoft.com/office/drawing/2014/main" id="{A198AB21-5A96-81DF-5A34-58DA437FC8E2}"/>
                    </a:ext>
                  </a:extLst>
                </p:cNvPr>
                <p:cNvCxnSpPr>
                  <a:cxnSpLocks/>
                  <a:endCxn id="92" idx="1"/>
                </p:cNvCxnSpPr>
                <p:nvPr/>
              </p:nvCxnSpPr>
              <p:spPr>
                <a:xfrm flipV="1">
                  <a:off x="6941652" y="4508414"/>
                  <a:ext cx="1474798" cy="227611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>
                  <a:extLst>
                    <a:ext uri="{FF2B5EF4-FFF2-40B4-BE49-F238E27FC236}">
                      <a16:creationId xmlns:a16="http://schemas.microsoft.com/office/drawing/2014/main" id="{2DEA5586-40D6-B648-05B9-9B94B9BA3352}"/>
                    </a:ext>
                  </a:extLst>
                </p:cNvPr>
                <p:cNvCxnSpPr>
                  <a:cxnSpLocks/>
                  <a:endCxn id="92" idx="1"/>
                </p:cNvCxnSpPr>
                <p:nvPr/>
              </p:nvCxnSpPr>
              <p:spPr>
                <a:xfrm flipV="1">
                  <a:off x="6941652" y="4508414"/>
                  <a:ext cx="1474798" cy="1512475"/>
                </a:xfrm>
                <a:prstGeom prst="straightConnector1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17A7AAFD-D52D-750E-E50E-D63E6D5E6F66}"/>
                    </a:ext>
                  </a:extLst>
                </p:cNvPr>
                <p:cNvCxnSpPr>
                  <a:cxnSpLocks/>
                  <a:stCxn id="93" idx="3"/>
                </p:cNvCxnSpPr>
                <p:nvPr/>
              </p:nvCxnSpPr>
              <p:spPr>
                <a:xfrm flipV="1">
                  <a:off x="9428464" y="4508413"/>
                  <a:ext cx="870200" cy="1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C2DFCF6F-CD51-5395-CD20-3480B4DE0B26}"/>
                  </a:ext>
                </a:extLst>
              </p:cNvPr>
              <p:cNvGrpSpPr/>
              <p:nvPr/>
            </p:nvGrpSpPr>
            <p:grpSpPr>
              <a:xfrm>
                <a:off x="6096000" y="3235539"/>
                <a:ext cx="2520394" cy="1518804"/>
                <a:chOff x="6096000" y="3235539"/>
                <a:chExt cx="2520394" cy="151880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F3CCF51D-2CBC-8D6C-ECFB-D6425DF485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6000" y="3235539"/>
                      <a:ext cx="31072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F3CCF51D-2CBC-8D6C-ECFB-D6425DF4856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000" y="3235539"/>
                      <a:ext cx="310726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22222" r="-38889" b="-529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A4839460-3A48-00D3-952E-48BB552268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5955" y="3573115"/>
                      <a:ext cx="31604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A4839460-3A48-00D3-952E-48BB552268F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5955" y="3573115"/>
                      <a:ext cx="316049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2222" r="-38889" b="-529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BE9AA032-B2DE-8542-AF6F-9397384A7A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5216" y="3887219"/>
                      <a:ext cx="31604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BE9AA032-B2DE-8542-AF6F-9397384A7A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55216" y="3887219"/>
                      <a:ext cx="316049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1053" r="-36842" b="-6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5D3D62B8-8601-1210-6FFD-84C032498F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0265" y="4477344"/>
                      <a:ext cx="32316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5D3D62B8-8601-1210-6FFD-84C032498F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0265" y="4477344"/>
                      <a:ext cx="323165" cy="276999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22222" r="-33333" b="-5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6173B769-5583-697B-AC4E-CB62186E20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53722" y="3691413"/>
                      <a:ext cx="16267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6173B769-5583-697B-AC4E-CB62186E20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53722" y="3691413"/>
                      <a:ext cx="162672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55556" r="-55556" b="-37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32C36F1-E368-2E69-93B7-9F7B79CAADC0}"/>
                </a:ext>
              </a:extLst>
            </p:cNvPr>
            <p:cNvCxnSpPr>
              <a:cxnSpLocks/>
            </p:cNvCxnSpPr>
            <p:nvPr/>
          </p:nvCxnSpPr>
          <p:spPr>
            <a:xfrm>
              <a:off x="5448575" y="4680493"/>
              <a:ext cx="0" cy="545930"/>
            </a:xfrm>
            <a:prstGeom prst="line">
              <a:avLst/>
            </a:prstGeom>
            <a:ln w="508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466831B9-35B0-2AE6-0C0B-69E169CA62AE}"/>
                  </a:ext>
                </a:extLst>
              </p:cNvPr>
              <p:cNvSpPr txBox="1"/>
              <p:nvPr/>
            </p:nvSpPr>
            <p:spPr>
              <a:xfrm>
                <a:off x="5893798" y="5740772"/>
                <a:ext cx="5693995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900" b="1" dirty="0"/>
                  <a:t>O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𝒂𝒄𝒕𝒊𝒗𝒂𝒕𝒊𝒐𝒏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+…,</m:t>
                    </m:r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sz="1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b="1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466831B9-35B0-2AE6-0C0B-69E169CA6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798" y="5740772"/>
                <a:ext cx="5693995" cy="292388"/>
              </a:xfrm>
              <a:prstGeom prst="rect">
                <a:avLst/>
              </a:prstGeom>
              <a:blipFill>
                <a:blip r:embed="rId15"/>
                <a:stretch>
                  <a:fillRect l="-2673" t="-29167" b="-4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1668;p112">
            <a:extLst>
              <a:ext uri="{FF2B5EF4-FFF2-40B4-BE49-F238E27FC236}">
                <a16:creationId xmlns:a16="http://schemas.microsoft.com/office/drawing/2014/main" id="{53CC17DE-7A70-7436-347B-6E039E439192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096000" y="2132962"/>
            <a:ext cx="4885765" cy="348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5;p112">
            <a:extLst>
              <a:ext uri="{FF2B5EF4-FFF2-40B4-BE49-F238E27FC236}">
                <a16:creationId xmlns:a16="http://schemas.microsoft.com/office/drawing/2014/main" id="{135AC71E-BE11-F338-40C2-9BFA270FBAAD}"/>
              </a:ext>
            </a:extLst>
          </p:cNvPr>
          <p:cNvSpPr txBox="1">
            <a:spLocks/>
          </p:cNvSpPr>
          <p:nvPr/>
        </p:nvSpPr>
        <p:spPr>
          <a:xfrm>
            <a:off x="778600" y="2199064"/>
            <a:ext cx="4285775" cy="409831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Training the Network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Find the optimal weights </a:t>
            </a:r>
            <a:r>
              <a:rPr lang="en-US" sz="20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 biases </a:t>
            </a:r>
            <a:r>
              <a:rPr lang="en-US" sz="20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Activation Function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Apply a nonlinear function to capture complex patterns.</a:t>
            </a:r>
          </a:p>
          <a:p>
            <a:pPr algn="l"/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Adjust weights to produce the most accurate output, mapping inputs to desired outputs.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2BAEA0-CE43-93B2-948C-276E20C00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ABD76-5E20-00AE-7EC8-465F013F209E}"/>
              </a:ext>
            </a:extLst>
          </p:cNvPr>
          <p:cNvSpPr txBox="1"/>
          <p:nvPr/>
        </p:nvSpPr>
        <p:spPr>
          <a:xfrm>
            <a:off x="5967155" y="6567291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https://</a:t>
            </a:r>
            <a:r>
              <a:rPr lang="en-US" sz="1000" dirty="0" err="1"/>
              <a:t>towardsdatascience.com</a:t>
            </a:r>
            <a:r>
              <a:rPr lang="en-US" sz="1000" dirty="0"/>
              <a:t>/linear-regression-using-gradient-descent-97a6c8700931</a:t>
            </a:r>
          </a:p>
        </p:txBody>
      </p:sp>
    </p:spTree>
    <p:extLst>
      <p:ext uri="{BB962C8B-B14F-4D97-AF65-F5344CB8AC3E}">
        <p14:creationId xmlns:p14="http://schemas.microsoft.com/office/powerpoint/2010/main" val="217538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F2574-4AB0-251F-29C8-BE1C213C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FE358D-6DEF-C778-42A7-9B5CF4383636}"/>
              </a:ext>
            </a:extLst>
          </p:cNvPr>
          <p:cNvSpPr txBox="1"/>
          <p:nvPr/>
        </p:nvSpPr>
        <p:spPr>
          <a:xfrm>
            <a:off x="778600" y="508666"/>
            <a:ext cx="51672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 we define ‘optimal’ function?</a:t>
            </a:r>
          </a:p>
        </p:txBody>
      </p:sp>
      <p:sp>
        <p:nvSpPr>
          <p:cNvPr id="6" name="Google Shape;1665;p112">
            <a:extLst>
              <a:ext uri="{FF2B5EF4-FFF2-40B4-BE49-F238E27FC236}">
                <a16:creationId xmlns:a16="http://schemas.microsoft.com/office/drawing/2014/main" id="{80312328-FDE5-F046-FFB5-BF797CD9C0A0}"/>
              </a:ext>
            </a:extLst>
          </p:cNvPr>
          <p:cNvSpPr txBox="1">
            <a:spLocks/>
          </p:cNvSpPr>
          <p:nvPr/>
        </p:nvSpPr>
        <p:spPr>
          <a:xfrm>
            <a:off x="760079" y="1522275"/>
            <a:ext cx="3974223" cy="95192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2"/>
                </a:solidFill>
              </a:rPr>
              <a:t>Minimize the ‘loss’ to to help determine weights</a:t>
            </a:r>
          </a:p>
          <a:p>
            <a:pPr algn="l">
              <a:spcBef>
                <a:spcPts val="0"/>
              </a:spcBef>
            </a:pPr>
            <a:endParaRPr lang="en-US" sz="2000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>
              <a:spcAft>
                <a:spcPts val="1000"/>
              </a:spcAft>
            </a:pP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50F973-D854-D063-7FC9-F4CA34AF0C05}"/>
              </a:ext>
            </a:extLst>
          </p:cNvPr>
          <p:cNvGrpSpPr/>
          <p:nvPr/>
        </p:nvGrpSpPr>
        <p:grpSpPr>
          <a:xfrm>
            <a:off x="5506184" y="1927366"/>
            <a:ext cx="4998798" cy="2408016"/>
            <a:chOff x="4773170" y="2953036"/>
            <a:chExt cx="4998798" cy="24080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6364884-1DA2-4698-F1E3-5A218E73F4F0}"/>
                    </a:ext>
                  </a:extLst>
                </p:cNvPr>
                <p:cNvSpPr txBox="1"/>
                <p:nvPr/>
              </p:nvSpPr>
              <p:spPr>
                <a:xfrm>
                  <a:off x="5217458" y="2953036"/>
                  <a:ext cx="3872753" cy="9519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6364884-1DA2-4698-F1E3-5A218E73F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7458" y="2953036"/>
                  <a:ext cx="3872753" cy="951927"/>
                </a:xfrm>
                <a:prstGeom prst="rect">
                  <a:avLst/>
                </a:prstGeom>
                <a:blipFill>
                  <a:blip r:embed="rId3"/>
                  <a:stretch>
                    <a:fillRect t="-113158" b="-17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810E19D-7B2F-91CC-2410-9CCF60ED3377}"/>
                </a:ext>
              </a:extLst>
            </p:cNvPr>
            <p:cNvCxnSpPr/>
            <p:nvPr/>
          </p:nvCxnSpPr>
          <p:spPr>
            <a:xfrm flipV="1">
              <a:off x="5217458" y="3625865"/>
              <a:ext cx="621627" cy="13267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05DC22C-7AEB-9763-2ED3-82D9C278F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0403" y="3606545"/>
              <a:ext cx="619808" cy="13267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1620472-D700-663C-00CF-76A622BEBC17}"/>
                </a:ext>
              </a:extLst>
            </p:cNvPr>
            <p:cNvCxnSpPr/>
            <p:nvPr/>
          </p:nvCxnSpPr>
          <p:spPr>
            <a:xfrm flipV="1">
              <a:off x="7260039" y="3614130"/>
              <a:ext cx="621627" cy="13267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B050AD-A234-4980-1B26-CE8614D8680C}"/>
                </a:ext>
              </a:extLst>
            </p:cNvPr>
            <p:cNvSpPr txBox="1"/>
            <p:nvPr/>
          </p:nvSpPr>
          <p:spPr>
            <a:xfrm>
              <a:off x="4773170" y="4991720"/>
              <a:ext cx="1151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Loss/cost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F0935B-9C5F-CD41-CEDF-7E15F0C57E0B}"/>
                </a:ext>
              </a:extLst>
            </p:cNvPr>
            <p:cNvSpPr txBox="1"/>
            <p:nvPr/>
          </p:nvSpPr>
          <p:spPr>
            <a:xfrm>
              <a:off x="6554118" y="4991720"/>
              <a:ext cx="11994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prediction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CE17B5-43BD-AE72-CC0B-5EB1701BC8DD}"/>
                </a:ext>
              </a:extLst>
            </p:cNvPr>
            <p:cNvSpPr txBox="1"/>
            <p:nvPr/>
          </p:nvSpPr>
          <p:spPr>
            <a:xfrm>
              <a:off x="8408453" y="4952642"/>
              <a:ext cx="1363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observation</a:t>
              </a:r>
            </a:p>
          </p:txBody>
        </p:sp>
      </p:grpSp>
      <p:pic>
        <p:nvPicPr>
          <p:cNvPr id="18" name="Google Shape;1703;p115">
            <a:extLst>
              <a:ext uri="{FF2B5EF4-FFF2-40B4-BE49-F238E27FC236}">
                <a16:creationId xmlns:a16="http://schemas.microsoft.com/office/drawing/2014/main" id="{AB81CFCA-D8DA-6589-8C6F-3C3D78F1463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1982" y="4269540"/>
            <a:ext cx="5711701" cy="23798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1665;p112">
                <a:extLst>
                  <a:ext uri="{FF2B5EF4-FFF2-40B4-BE49-F238E27FC236}">
                    <a16:creationId xmlns:a16="http://schemas.microsoft.com/office/drawing/2014/main" id="{1AF22EE0-DDE3-1924-B3F6-7B6603E8EB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1523" y="3495046"/>
                <a:ext cx="3974223" cy="2944071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dk2"/>
                    </a:solidFill>
                  </a:rPr>
                  <a:t>Let’s start with an easy linear example</a:t>
                </a:r>
              </a:p>
              <a:p>
                <a:pPr algn="l">
                  <a:spcBef>
                    <a:spcPts val="0"/>
                  </a:spcBef>
                </a:pPr>
                <a:endParaRPr lang="en-US" sz="2000" dirty="0"/>
              </a:p>
              <a:p>
                <a:pPr algn="l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algn="l">
                  <a:spcBef>
                    <a:spcPts val="0"/>
                  </a:spcBef>
                </a:pPr>
                <a:endParaRPr lang="en-US" sz="2000" dirty="0"/>
              </a:p>
              <a:p>
                <a:pPr algn="l">
                  <a:spcBef>
                    <a:spcPts val="0"/>
                  </a:spcBef>
                </a:pPr>
                <a:r>
                  <a:rPr lang="en-US" sz="2000" dirty="0"/>
                  <a:t>An example loss function (MSE)</a:t>
                </a:r>
              </a:p>
              <a:p>
                <a:pPr algn="l">
                  <a:spcBef>
                    <a:spcPts val="0"/>
                  </a:spcBef>
                </a:pPr>
                <a:endParaRPr lang="en-US" sz="2000" dirty="0"/>
              </a:p>
              <a:p>
                <a:pPr marL="342900" indent="-34290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algn="l">
                  <a:spcBef>
                    <a:spcPts val="0"/>
                  </a:spcBef>
                </a:pPr>
                <a:endParaRPr lang="en-US" sz="2000" dirty="0"/>
              </a:p>
              <a:p>
                <a:pPr algn="l"/>
                <a:endParaRPr lang="en-US" dirty="0"/>
              </a:p>
              <a:p>
                <a:pPr algn="l"/>
                <a:endParaRPr lang="en-US" dirty="0"/>
              </a:p>
              <a:p>
                <a:pPr algn="l">
                  <a:spcAft>
                    <a:spcPts val="10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19" name="Google Shape;1665;p112">
                <a:extLst>
                  <a:ext uri="{FF2B5EF4-FFF2-40B4-BE49-F238E27FC236}">
                    <a16:creationId xmlns:a16="http://schemas.microsoft.com/office/drawing/2014/main" id="{1AF22EE0-DDE3-1924-B3F6-7B6603E8E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3" y="3495046"/>
                <a:ext cx="3974223" cy="2944071"/>
              </a:xfrm>
              <a:prstGeom prst="rect">
                <a:avLst/>
              </a:prstGeom>
              <a:blipFill>
                <a:blip r:embed="rId5"/>
                <a:stretch>
                  <a:fillRect l="-1592" t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ECD0D3-3723-CAB8-601E-9327F553BBD2}"/>
                  </a:ext>
                </a:extLst>
              </p:cNvPr>
              <p:cNvSpPr txBox="1"/>
              <p:nvPr/>
            </p:nvSpPr>
            <p:spPr>
              <a:xfrm>
                <a:off x="1271660" y="5741431"/>
                <a:ext cx="2036318" cy="692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ECD0D3-3723-CAB8-601E-9327F553B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660" y="5741431"/>
                <a:ext cx="2036318" cy="692369"/>
              </a:xfrm>
              <a:prstGeom prst="rect">
                <a:avLst/>
              </a:prstGeom>
              <a:blipFill>
                <a:blip r:embed="rId6"/>
                <a:stretch>
                  <a:fillRect l="-11180" t="-118182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8DA4AE-9412-DCAA-D16B-6F60DFD2A5FD}"/>
                  </a:ext>
                </a:extLst>
              </p:cNvPr>
              <p:cNvSpPr txBox="1"/>
              <p:nvPr/>
            </p:nvSpPr>
            <p:spPr>
              <a:xfrm>
                <a:off x="7125219" y="1110693"/>
                <a:ext cx="2078198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8DA4AE-9412-DCAA-D16B-6F60DFD2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219" y="1110693"/>
                <a:ext cx="2078198" cy="756233"/>
              </a:xfrm>
              <a:prstGeom prst="rect">
                <a:avLst/>
              </a:prstGeom>
              <a:blipFill>
                <a:blip r:embed="rId7"/>
                <a:stretch>
                  <a:fillRect l="-1220" t="-118333" r="-2439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C02207-3D9B-8313-AA7E-0D74A97D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FCAB7-EBAD-1220-7C47-5111D4E7FD28}"/>
              </a:ext>
            </a:extLst>
          </p:cNvPr>
          <p:cNvSpPr txBox="1"/>
          <p:nvPr/>
        </p:nvSpPr>
        <p:spPr>
          <a:xfrm>
            <a:off x="7857832" y="661991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chengjun.github.io</a:t>
            </a:r>
            <a:r>
              <a:rPr lang="en-US" sz="1000" dirty="0"/>
              <a:t>/</a:t>
            </a:r>
            <a:r>
              <a:rPr lang="en-US" sz="1000" dirty="0" err="1"/>
              <a:t>mybook</a:t>
            </a:r>
            <a:r>
              <a:rPr lang="en-US" sz="1000" dirty="0"/>
              <a:t>/08-05-gradient-descent.html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CBBF9-F4DE-3D07-39D0-F0A14E2D5633}"/>
                  </a:ext>
                </a:extLst>
              </p:cNvPr>
              <p:cNvSpPr txBox="1"/>
              <p:nvPr/>
            </p:nvSpPr>
            <p:spPr>
              <a:xfrm>
                <a:off x="7677614" y="669788"/>
                <a:ext cx="9734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2CBBF9-F4DE-3D07-39D0-F0A14E2D5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614" y="669788"/>
                <a:ext cx="973408" cy="276999"/>
              </a:xfrm>
              <a:prstGeom prst="rect">
                <a:avLst/>
              </a:prstGeom>
              <a:blipFill>
                <a:blip r:embed="rId8"/>
                <a:stretch>
                  <a:fillRect l="-5128" r="-7692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CEF858-588A-F623-77CB-FC5F34178336}"/>
                  </a:ext>
                </a:extLst>
              </p:cNvPr>
              <p:cNvSpPr txBox="1"/>
              <p:nvPr/>
            </p:nvSpPr>
            <p:spPr>
              <a:xfrm>
                <a:off x="6913219" y="6452459"/>
                <a:ext cx="188248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CEF858-588A-F623-77CB-FC5F34178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219" y="6452459"/>
                <a:ext cx="188248" cy="246221"/>
              </a:xfrm>
              <a:prstGeom prst="rect">
                <a:avLst/>
              </a:prstGeom>
              <a:blipFill>
                <a:blip r:embed="rId9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754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00DA-22ED-543E-5FF1-C956CD8BD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A11962-9007-5298-1B65-F46E52E32C31}"/>
              </a:ext>
            </a:extLst>
          </p:cNvPr>
          <p:cNvSpPr txBox="1"/>
          <p:nvPr/>
        </p:nvSpPr>
        <p:spPr>
          <a:xfrm>
            <a:off x="778600" y="508666"/>
            <a:ext cx="44101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Descent Optimization: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1665;p112">
                <a:extLst>
                  <a:ext uri="{FF2B5EF4-FFF2-40B4-BE49-F238E27FC236}">
                    <a16:creationId xmlns:a16="http://schemas.microsoft.com/office/drawing/2014/main" id="{E40298E8-EBC6-C9E4-1D92-EA404D09B0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6324" y="908776"/>
                <a:ext cx="3041230" cy="1702785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Bef>
                    <a:spcPts val="0"/>
                  </a:spcBef>
                </a:pPr>
                <a:endParaRPr lang="en-US" sz="2000" dirty="0"/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>
                  <a:spcBef>
                    <a:spcPts val="0"/>
                  </a:spcBef>
                </a:pPr>
                <a:endParaRPr lang="en-US" sz="22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" name="Google Shape;1665;p112">
                <a:extLst>
                  <a:ext uri="{FF2B5EF4-FFF2-40B4-BE49-F238E27FC236}">
                    <a16:creationId xmlns:a16="http://schemas.microsoft.com/office/drawing/2014/main" id="{E40298E8-EBC6-C9E4-1D92-EA404D09B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324" y="908776"/>
                <a:ext cx="3041230" cy="1702785"/>
              </a:xfrm>
              <a:prstGeom prst="rect">
                <a:avLst/>
              </a:prstGeom>
              <a:blipFill>
                <a:blip r:embed="rId3"/>
                <a:stretch>
                  <a:fillRect b="-6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4927E67-1B0A-B392-508B-0889A96C2A99}"/>
              </a:ext>
            </a:extLst>
          </p:cNvPr>
          <p:cNvGrpSpPr/>
          <p:nvPr/>
        </p:nvGrpSpPr>
        <p:grpSpPr>
          <a:xfrm>
            <a:off x="0" y="3429000"/>
            <a:ext cx="3046543" cy="2581364"/>
            <a:chOff x="5557585" y="184299"/>
            <a:chExt cx="3046543" cy="25813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5A27495-6ADB-6EC7-FE1B-8262449EC75C}"/>
                </a:ext>
              </a:extLst>
            </p:cNvPr>
            <p:cNvGrpSpPr/>
            <p:nvPr/>
          </p:nvGrpSpPr>
          <p:grpSpPr>
            <a:xfrm>
              <a:off x="5557585" y="184299"/>
              <a:ext cx="3046543" cy="2581364"/>
              <a:chOff x="5538898" y="534394"/>
              <a:chExt cx="3046543" cy="2581364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678C771-B5EB-9220-6054-90A3D3508ECC}"/>
                  </a:ext>
                </a:extLst>
              </p:cNvPr>
              <p:cNvGrpSpPr/>
              <p:nvPr/>
            </p:nvGrpSpPr>
            <p:grpSpPr>
              <a:xfrm>
                <a:off x="5951433" y="534394"/>
                <a:ext cx="2634008" cy="2581364"/>
                <a:chOff x="6423590" y="2390314"/>
                <a:chExt cx="2251792" cy="2176469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FA08973B-0B41-19D6-3402-4B619F96C974}"/>
                    </a:ext>
                  </a:extLst>
                </p:cNvPr>
                <p:cNvGrpSpPr/>
                <p:nvPr/>
              </p:nvGrpSpPr>
              <p:grpSpPr>
                <a:xfrm>
                  <a:off x="6423590" y="2390314"/>
                  <a:ext cx="2251792" cy="1863008"/>
                  <a:chOff x="383458" y="2054942"/>
                  <a:chExt cx="2359743" cy="2005781"/>
                </a:xfrm>
              </p:grpSpPr>
              <p:cxnSp>
                <p:nvCxnSpPr>
                  <p:cNvPr id="41" name="Straight Arrow Connector 40">
                    <a:extLst>
                      <a:ext uri="{FF2B5EF4-FFF2-40B4-BE49-F238E27FC236}">
                        <a16:creationId xmlns:a16="http://schemas.microsoft.com/office/drawing/2014/main" id="{8181F05A-BB29-70B2-3DAC-A67B7916AE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3458" y="2054942"/>
                    <a:ext cx="0" cy="200578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Arrow Connector 41">
                    <a:extLst>
                      <a:ext uri="{FF2B5EF4-FFF2-40B4-BE49-F238E27FC236}">
                        <a16:creationId xmlns:a16="http://schemas.microsoft.com/office/drawing/2014/main" id="{79113670-8F90-FE6C-4CB7-1BAF9A3DB0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458" y="4060723"/>
                    <a:ext cx="2359743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8CDC1B3D-115C-EF97-8ABF-0267154807B8}"/>
                    </a:ext>
                  </a:extLst>
                </p:cNvPr>
                <p:cNvSpPr/>
                <p:nvPr/>
              </p:nvSpPr>
              <p:spPr>
                <a:xfrm>
                  <a:off x="6817567" y="2562807"/>
                  <a:ext cx="1387151" cy="1363985"/>
                </a:xfrm>
                <a:custGeom>
                  <a:avLst/>
                  <a:gdLst>
                    <a:gd name="connsiteX0" fmla="*/ 0 w 1387151"/>
                    <a:gd name="connsiteY0" fmla="*/ 0 h 1263748"/>
                    <a:gd name="connsiteX1" fmla="*/ 814874 w 1387151"/>
                    <a:gd name="connsiteY1" fmla="*/ 1262743 h 1263748"/>
                    <a:gd name="connsiteX2" fmla="*/ 1387151 w 1387151"/>
                    <a:gd name="connsiteY2" fmla="*/ 167951 h 12637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87151" h="1263748">
                      <a:moveTo>
                        <a:pt x="0" y="0"/>
                      </a:moveTo>
                      <a:cubicBezTo>
                        <a:pt x="291841" y="617375"/>
                        <a:pt x="583682" y="1234751"/>
                        <a:pt x="814874" y="1262743"/>
                      </a:cubicBezTo>
                      <a:cubicBezTo>
                        <a:pt x="1046066" y="1290735"/>
                        <a:pt x="1216608" y="729343"/>
                        <a:pt x="1387151" y="167951"/>
                      </a:cubicBezTo>
                    </a:path>
                  </a:pathLst>
                </a:cu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72AE451-EA53-2AEB-5ADB-F96E75963CA5}"/>
                    </a:ext>
                  </a:extLst>
                </p:cNvPr>
                <p:cNvSpPr/>
                <p:nvPr/>
              </p:nvSpPr>
              <p:spPr>
                <a:xfrm>
                  <a:off x="6997077" y="3071353"/>
                  <a:ext cx="116956" cy="113946"/>
                </a:xfrm>
                <a:prstGeom prst="ellipse">
                  <a:avLst/>
                </a:prstGeom>
                <a:solidFill>
                  <a:srgbClr val="FF0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8C2B5CAB-8E3D-D892-8CF8-BC3F7BCE71C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3507" y="4333232"/>
                      <a:ext cx="1601673" cy="23355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𝑉𝑎𝑙𝑢𝑒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𝑤𝑒𝑖𝑔h𝑡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8C2B5CAB-8E3D-D892-8CF8-BC3F7BCE71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83507" y="4333232"/>
                      <a:ext cx="1601673" cy="233551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43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43F6431-61A0-DCB2-2D28-B0F55B683D5E}"/>
                  </a:ext>
                </a:extLst>
              </p:cNvPr>
              <p:cNvGrpSpPr/>
              <p:nvPr/>
            </p:nvGrpSpPr>
            <p:grpSpPr>
              <a:xfrm>
                <a:off x="5538898" y="697753"/>
                <a:ext cx="1900539" cy="1724347"/>
                <a:chOff x="5538898" y="697753"/>
                <a:chExt cx="1900539" cy="1724347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7BED4445-8701-A814-C6D1-8317DD583589}"/>
                    </a:ext>
                  </a:extLst>
                </p:cNvPr>
                <p:cNvSpPr/>
                <p:nvPr/>
              </p:nvSpPr>
              <p:spPr>
                <a:xfrm>
                  <a:off x="6828289" y="1699124"/>
                  <a:ext cx="136808" cy="135144"/>
                </a:xfrm>
                <a:prstGeom prst="ellipse">
                  <a:avLst/>
                </a:prstGeom>
                <a:solidFill>
                  <a:srgbClr val="FF0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0303878-34FD-1E71-98A5-8B0111FC4C45}"/>
                    </a:ext>
                  </a:extLst>
                </p:cNvPr>
                <p:cNvSpPr/>
                <p:nvPr/>
              </p:nvSpPr>
              <p:spPr>
                <a:xfrm>
                  <a:off x="7014039" y="2043875"/>
                  <a:ext cx="136808" cy="135144"/>
                </a:xfrm>
                <a:prstGeom prst="ellipse">
                  <a:avLst/>
                </a:prstGeom>
                <a:solidFill>
                  <a:srgbClr val="FF0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2553731F-6DE1-5C06-D6DA-376B06C47F98}"/>
                    </a:ext>
                  </a:extLst>
                </p:cNvPr>
                <p:cNvSpPr/>
                <p:nvPr/>
              </p:nvSpPr>
              <p:spPr>
                <a:xfrm>
                  <a:off x="7302629" y="2286956"/>
                  <a:ext cx="136808" cy="135144"/>
                </a:xfrm>
                <a:prstGeom prst="ellipse">
                  <a:avLst/>
                </a:prstGeom>
                <a:solidFill>
                  <a:srgbClr val="FF0000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4667DEEA-6BBD-5822-1026-DF2BB82AE363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4871431" y="1365220"/>
                      <a:ext cx="1642712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𝐿𝑜𝑠𝑠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4667DEEA-6BBD-5822-1026-DF2BB82AE36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4871431" y="1365220"/>
                      <a:ext cx="1642712" cy="3077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4C22DBA-9CE2-EAC9-5BCE-A2F0155DD698}"/>
                </a:ext>
              </a:extLst>
            </p:cNvPr>
            <p:cNvSpPr/>
            <p:nvPr/>
          </p:nvSpPr>
          <p:spPr>
            <a:xfrm>
              <a:off x="6410034" y="423126"/>
              <a:ext cx="136808" cy="13514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27B84C3-CEBA-70FA-E297-ACFCBC5B054E}"/>
                </a:ext>
              </a:extLst>
            </p:cNvPr>
            <p:cNvSpPr/>
            <p:nvPr/>
          </p:nvSpPr>
          <p:spPr>
            <a:xfrm>
              <a:off x="7318073" y="1972526"/>
              <a:ext cx="136808" cy="13514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9A658DB-C6A7-7A6B-3497-D0FE529065A7}"/>
                </a:ext>
              </a:extLst>
            </p:cNvPr>
            <p:cNvSpPr/>
            <p:nvPr/>
          </p:nvSpPr>
          <p:spPr>
            <a:xfrm>
              <a:off x="7353738" y="1940101"/>
              <a:ext cx="136808" cy="135144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38B8ECC-21B4-412F-BD11-D7174BEDB9A8}"/>
                </a:ext>
              </a:extLst>
            </p:cNvPr>
            <p:cNvCxnSpPr>
              <a:cxnSpLocks/>
            </p:cNvCxnSpPr>
            <p:nvPr/>
          </p:nvCxnSpPr>
          <p:spPr>
            <a:xfrm>
              <a:off x="6950622" y="1518582"/>
              <a:ext cx="113810" cy="17304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315E593-E817-02B1-97BC-982BAA6C58B3}"/>
                </a:ext>
              </a:extLst>
            </p:cNvPr>
            <p:cNvCxnSpPr>
              <a:cxnSpLocks/>
            </p:cNvCxnSpPr>
            <p:nvPr/>
          </p:nvCxnSpPr>
          <p:spPr>
            <a:xfrm>
              <a:off x="6515685" y="583189"/>
              <a:ext cx="173499" cy="39083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235BDF7-3B75-93C8-BEB9-A14BE461DE96}"/>
                </a:ext>
              </a:extLst>
            </p:cNvPr>
            <p:cNvCxnSpPr>
              <a:cxnSpLocks/>
            </p:cNvCxnSpPr>
            <p:nvPr/>
          </p:nvCxnSpPr>
          <p:spPr>
            <a:xfrm>
              <a:off x="6762536" y="1131726"/>
              <a:ext cx="107992" cy="20592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15525E5-52CA-0722-3088-59D80044AA7F}"/>
                </a:ext>
              </a:extLst>
            </p:cNvPr>
            <p:cNvCxnSpPr>
              <a:cxnSpLocks/>
            </p:cNvCxnSpPr>
            <p:nvPr/>
          </p:nvCxnSpPr>
          <p:spPr>
            <a:xfrm>
              <a:off x="7210055" y="1881099"/>
              <a:ext cx="75719" cy="7968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6ACACF5-5FDE-028F-98C0-2986F8691E0B}"/>
                    </a:ext>
                  </a:extLst>
                </p:cNvPr>
                <p:cNvSpPr txBox="1"/>
                <p:nvPr/>
              </p:nvSpPr>
              <p:spPr>
                <a:xfrm>
                  <a:off x="6099169" y="401914"/>
                  <a:ext cx="35946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A62BC22-B4FB-98DD-5717-950C0BFE61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9169" y="401914"/>
                  <a:ext cx="359465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965F716-F918-8A76-B89C-9A1162109929}"/>
                    </a:ext>
                  </a:extLst>
                </p:cNvPr>
                <p:cNvSpPr txBox="1"/>
                <p:nvPr/>
              </p:nvSpPr>
              <p:spPr>
                <a:xfrm>
                  <a:off x="6237065" y="817432"/>
                  <a:ext cx="35946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391DFF7-EDBF-807C-8810-7AD2B6D5D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7065" y="817432"/>
                  <a:ext cx="35946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AF10414-42BE-683D-8F09-424DF2D070FB}"/>
                    </a:ext>
                  </a:extLst>
                </p:cNvPr>
                <p:cNvSpPr txBox="1"/>
                <p:nvPr/>
              </p:nvSpPr>
              <p:spPr>
                <a:xfrm>
                  <a:off x="6511063" y="1296629"/>
                  <a:ext cx="35946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A322B95-259C-9628-4AFF-AFA7AC08B6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1063" y="1296629"/>
                  <a:ext cx="359465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012DE23-E76A-4609-2833-C3D83E7AEF9F}"/>
                    </a:ext>
                  </a:extLst>
                </p:cNvPr>
                <p:cNvSpPr txBox="1"/>
                <p:nvPr/>
              </p:nvSpPr>
              <p:spPr>
                <a:xfrm>
                  <a:off x="6724600" y="1667672"/>
                  <a:ext cx="35946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24711B0-0D82-38C6-7A60-7B0CD2376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4600" y="1667672"/>
                  <a:ext cx="359465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E9B482E-C15A-83D3-065E-CB080CA27600}"/>
                    </a:ext>
                  </a:extLst>
                </p:cNvPr>
                <p:cNvSpPr txBox="1"/>
                <p:nvPr/>
              </p:nvSpPr>
              <p:spPr>
                <a:xfrm>
                  <a:off x="6889914" y="1917240"/>
                  <a:ext cx="359465" cy="2852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5, ….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669B7D5-8E76-A87E-369C-0E843106D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9914" y="1917240"/>
                  <a:ext cx="359465" cy="285206"/>
                </a:xfrm>
                <a:prstGeom prst="rect">
                  <a:avLst/>
                </a:prstGeom>
                <a:blipFill>
                  <a:blip r:embed="rId10"/>
                  <a:stretch>
                    <a:fillRect r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935A933-248B-4E81-939F-C16E86EEB6F7}"/>
                  </a:ext>
                </a:extLst>
              </p:cNvPr>
              <p:cNvSpPr txBox="1"/>
              <p:nvPr/>
            </p:nvSpPr>
            <p:spPr>
              <a:xfrm>
                <a:off x="5522221" y="5497198"/>
                <a:ext cx="7113383" cy="849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23900" lvl="1" indent="-342900">
                  <a:buFont typeface="Arial" panose="020B0604020202020204" pitchFamily="34" charset="0"/>
                  <a:buChar char="•"/>
                  <a:defRPr sz="2400"/>
                </a:pPr>
                <a:r>
                  <a:rPr lang="en-US" sz="2000" dirty="0"/>
                  <a:t>The opposite direction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num>
                      <m:den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den>
                    </m:f>
                  </m:oMath>
                </a14:m>
                <a:r>
                  <a:rPr lang="en-US" sz="2000" dirty="0"/>
                  <a:t> will be the direction of greatest decrease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935A933-248B-4E81-939F-C16E86EEB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221" y="5497198"/>
                <a:ext cx="7113383" cy="849848"/>
              </a:xfrm>
              <a:prstGeom prst="rect">
                <a:avLst/>
              </a:prstGeom>
              <a:blipFill>
                <a:blip r:embed="rId11"/>
                <a:stretch>
                  <a:fillRect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Google Shape;1703;p115">
            <a:extLst>
              <a:ext uri="{FF2B5EF4-FFF2-40B4-BE49-F238E27FC236}">
                <a16:creationId xmlns:a16="http://schemas.microsoft.com/office/drawing/2014/main" id="{D804217B-0BB2-4CF1-064B-119AC83E0FA4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rcRect l="2988" r="50896"/>
          <a:stretch/>
        </p:blipFill>
        <p:spPr>
          <a:xfrm>
            <a:off x="2485068" y="3386432"/>
            <a:ext cx="2634006" cy="23798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D02892-0B95-24B9-D9EE-C7438AF768AA}"/>
                  </a:ext>
                </a:extLst>
              </p:cNvPr>
              <p:cNvSpPr txBox="1"/>
              <p:nvPr/>
            </p:nvSpPr>
            <p:spPr>
              <a:xfrm>
                <a:off x="5236423" y="2062267"/>
                <a:ext cx="692462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 loss function depends on the weights (e.g., </a:t>
                </a:r>
                <a:r>
                  <a:rPr lang="en-US" b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​ and </a:t>
                </a:r>
                <a:r>
                  <a:rPr lang="en-US" b="0" u="none" strike="noStrike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l-GR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of the linear function. To optimize them, the gradient is calculated by taking partial derivatives of the loss with respect to each weight.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  <a:sym typeface="Lato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D02892-0B95-24B9-D9EE-C7438AF76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423" y="2062267"/>
                <a:ext cx="6924626" cy="1200329"/>
              </a:xfrm>
              <a:prstGeom prst="rect">
                <a:avLst/>
              </a:prstGeom>
              <a:blipFill>
                <a:blip r:embed="rId13"/>
                <a:stretch>
                  <a:fillRect l="-549" t="-210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0C571-7B0C-58D5-D4A6-8FA89204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80CD4F-671D-FBEF-7531-B033BB610A55}"/>
              </a:ext>
            </a:extLst>
          </p:cNvPr>
          <p:cNvCxnSpPr/>
          <p:nvPr/>
        </p:nvCxnSpPr>
        <p:spPr>
          <a:xfrm>
            <a:off x="565503" y="3342338"/>
            <a:ext cx="914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02980D-35E0-26BF-B285-199BD56A34DD}"/>
              </a:ext>
            </a:extLst>
          </p:cNvPr>
          <p:cNvCxnSpPr>
            <a:cxnSpLocks/>
          </p:cNvCxnSpPr>
          <p:nvPr/>
        </p:nvCxnSpPr>
        <p:spPr>
          <a:xfrm>
            <a:off x="835809" y="3816894"/>
            <a:ext cx="525150" cy="876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CA8FEB-5D74-89A5-BDA2-7188B6999B44}"/>
                  </a:ext>
                </a:extLst>
              </p:cNvPr>
              <p:cNvSpPr txBox="1"/>
              <p:nvPr/>
            </p:nvSpPr>
            <p:spPr>
              <a:xfrm>
                <a:off x="6849292" y="1243333"/>
                <a:ext cx="257428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r>
                        <m:rPr>
                          <m:nor/>
                        </m:rPr>
                        <a:rPr lang="en-US" sz="2000" b="1"/>
                        <m:t>∇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CA8FEB-5D74-89A5-BDA2-7188B6999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292" y="1243333"/>
                <a:ext cx="2574285" cy="307777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768EB38B-57B3-6377-07A7-E35F9AD09203}"/>
              </a:ext>
            </a:extLst>
          </p:cNvPr>
          <p:cNvSpPr txBox="1"/>
          <p:nvPr/>
        </p:nvSpPr>
        <p:spPr>
          <a:xfrm>
            <a:off x="9700591" y="54466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DA5763-A222-8AC1-7A07-85E6AD5BFB93}"/>
              </a:ext>
            </a:extLst>
          </p:cNvPr>
          <p:cNvSpPr txBox="1"/>
          <p:nvPr/>
        </p:nvSpPr>
        <p:spPr>
          <a:xfrm>
            <a:off x="8044070" y="9541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9600500-32F7-5CE1-56E8-F9EE1638C88E}"/>
              </a:ext>
            </a:extLst>
          </p:cNvPr>
          <p:cNvGrpSpPr/>
          <p:nvPr/>
        </p:nvGrpSpPr>
        <p:grpSpPr>
          <a:xfrm>
            <a:off x="5977630" y="3802971"/>
            <a:ext cx="5325447" cy="637034"/>
            <a:chOff x="6028353" y="5301488"/>
            <a:chExt cx="5325447" cy="637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C3C8D8F-FA24-CCFA-B456-CCAEA0AE97C3}"/>
                    </a:ext>
                  </a:extLst>
                </p:cNvPr>
                <p:cNvSpPr txBox="1"/>
                <p:nvPr/>
              </p:nvSpPr>
              <p:spPr>
                <a:xfrm>
                  <a:off x="8413448" y="5301488"/>
                  <a:ext cx="2940352" cy="6370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smtClean="0"/>
                          <m:t>∇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)=(</m:t>
                        </m:r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num>
                          <m:den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𝝏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den>
                        </m:f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DC3C8D8F-FA24-CCFA-B456-CCAEA0AE9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3448" y="5301488"/>
                  <a:ext cx="2940352" cy="637034"/>
                </a:xfrm>
                <a:prstGeom prst="rect">
                  <a:avLst/>
                </a:prstGeom>
                <a:blipFill>
                  <a:blip r:embed="rId15"/>
                  <a:stretch>
                    <a:fillRect t="-1961" b="-98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84D6235-AF29-8FB9-4D06-245498B2F719}"/>
                    </a:ext>
                  </a:extLst>
                </p:cNvPr>
                <p:cNvSpPr txBox="1"/>
                <p:nvPr/>
              </p:nvSpPr>
              <p:spPr>
                <a:xfrm>
                  <a:off x="6028353" y="5437199"/>
                  <a:ext cx="257428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84D6235-AF29-8FB9-4D06-245498B2F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8353" y="5437199"/>
                  <a:ext cx="2574285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3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6122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6A2AEA2-7AAD-F989-23A1-85A65F9A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570440-B567-0120-4E6E-6723F7A9F507}"/>
              </a:ext>
            </a:extLst>
          </p:cNvPr>
          <p:cNvSpPr txBox="1"/>
          <p:nvPr/>
        </p:nvSpPr>
        <p:spPr>
          <a:xfrm>
            <a:off x="778600" y="508666"/>
            <a:ext cx="44101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Descent Optimization:</a:t>
            </a:r>
          </a:p>
        </p:txBody>
      </p:sp>
      <p:sp>
        <p:nvSpPr>
          <p:cNvPr id="10" name="Google Shape;1665;p112">
            <a:extLst>
              <a:ext uri="{FF2B5EF4-FFF2-40B4-BE49-F238E27FC236}">
                <a16:creationId xmlns:a16="http://schemas.microsoft.com/office/drawing/2014/main" id="{2CC54A17-2FF3-172E-8416-5A52ED46AAE3}"/>
              </a:ext>
            </a:extLst>
          </p:cNvPr>
          <p:cNvSpPr txBox="1">
            <a:spLocks/>
          </p:cNvSpPr>
          <p:nvPr/>
        </p:nvSpPr>
        <p:spPr>
          <a:xfrm>
            <a:off x="376598" y="2135122"/>
            <a:ext cx="6739726" cy="265161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/>
              <a:t>Why ANN:</a:t>
            </a:r>
          </a:p>
          <a:p>
            <a:pPr algn="l"/>
            <a:r>
              <a:rPr lang="en-US" sz="2000" b="1" dirty="0"/>
              <a:t>Automatic learning</a:t>
            </a:r>
            <a:r>
              <a:rPr lang="en-US" sz="2000" dirty="0"/>
              <a:t>: An ANN learns directly from the data provided.</a:t>
            </a:r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No need for assumptions</a:t>
            </a:r>
            <a:r>
              <a:rPr lang="en-US" sz="2000" dirty="0"/>
              <a:t>: We don’t need to assume the best equation or functional form beforehand.</a:t>
            </a:r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Captures complexity</a:t>
            </a:r>
            <a:r>
              <a:rPr lang="en-US" sz="2000" dirty="0"/>
              <a:t>: The ANN can model complex relationships that might be difficult to define manually.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1E2912-8B65-B052-5417-920E621DB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423" y="844022"/>
            <a:ext cx="3447221" cy="229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9961C6-E3D1-19DC-0229-F9E7620C22F8}"/>
              </a:ext>
            </a:extLst>
          </p:cNvPr>
          <p:cNvSpPr txBox="1"/>
          <p:nvPr/>
        </p:nvSpPr>
        <p:spPr>
          <a:xfrm>
            <a:off x="5995595" y="634720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https://mohitmishra786687.medium.com/stochastic-gradient-descent-a-basic-explanation-cbddc63f08e0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4CB5D-9A37-02D5-3EBC-C3C9C370D1D2}"/>
              </a:ext>
            </a:extLst>
          </p:cNvPr>
          <p:cNvGrpSpPr/>
          <p:nvPr/>
        </p:nvGrpSpPr>
        <p:grpSpPr>
          <a:xfrm>
            <a:off x="7219834" y="3487269"/>
            <a:ext cx="3806754" cy="2312898"/>
            <a:chOff x="5337246" y="1415301"/>
            <a:chExt cx="3806754" cy="231289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E085D41-85CA-696E-3DF1-252CE051728E}"/>
                </a:ext>
              </a:extLst>
            </p:cNvPr>
            <p:cNvGrpSpPr/>
            <p:nvPr/>
          </p:nvGrpSpPr>
          <p:grpSpPr>
            <a:xfrm>
              <a:off x="5337246" y="1415301"/>
              <a:ext cx="3806754" cy="2312898"/>
              <a:chOff x="5388023" y="2803036"/>
              <a:chExt cx="3806754" cy="231289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C8F6A79-9EF7-7052-6FC3-E6FB5B27CC76}"/>
                  </a:ext>
                </a:extLst>
              </p:cNvPr>
              <p:cNvGrpSpPr/>
              <p:nvPr/>
            </p:nvGrpSpPr>
            <p:grpSpPr>
              <a:xfrm>
                <a:off x="5951249" y="2869365"/>
                <a:ext cx="2735545" cy="2088782"/>
                <a:chOff x="5951249" y="2869365"/>
                <a:chExt cx="2735545" cy="2088782"/>
              </a:xfrm>
            </p:grpSpPr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58206FB5-133A-6BD3-142E-C692AF1ED576}"/>
                    </a:ext>
                  </a:extLst>
                </p:cNvPr>
                <p:cNvSpPr/>
                <p:nvPr/>
              </p:nvSpPr>
              <p:spPr>
                <a:xfrm>
                  <a:off x="7022555" y="3655222"/>
                  <a:ext cx="350428" cy="295124"/>
                </a:xfrm>
                <a:custGeom>
                  <a:avLst/>
                  <a:gdLst>
                    <a:gd name="connsiteX0" fmla="*/ 85310 w 350428"/>
                    <a:gd name="connsiteY0" fmla="*/ 103387 h 295124"/>
                    <a:gd name="connsiteX1" fmla="*/ 202268 w 350428"/>
                    <a:gd name="connsiteY1" fmla="*/ 13011 h 295124"/>
                    <a:gd name="connsiteX2" fmla="*/ 324543 w 350428"/>
                    <a:gd name="connsiteY2" fmla="*/ 13011 h 295124"/>
                    <a:gd name="connsiteX3" fmla="*/ 345808 w 350428"/>
                    <a:gd name="connsiteY3" fmla="*/ 129969 h 295124"/>
                    <a:gd name="connsiteX4" fmla="*/ 260747 w 350428"/>
                    <a:gd name="connsiteY4" fmla="*/ 257559 h 295124"/>
                    <a:gd name="connsiteX5" fmla="*/ 74678 w 350428"/>
                    <a:gd name="connsiteY5" fmla="*/ 294773 h 295124"/>
                    <a:gd name="connsiteX6" fmla="*/ 250 w 350428"/>
                    <a:gd name="connsiteY6" fmla="*/ 241611 h 295124"/>
                    <a:gd name="connsiteX7" fmla="*/ 85310 w 350428"/>
                    <a:gd name="connsiteY7" fmla="*/ 103387 h 295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50428" h="295124">
                      <a:moveTo>
                        <a:pt x="85310" y="103387"/>
                      </a:moveTo>
                      <a:cubicBezTo>
                        <a:pt x="118980" y="65287"/>
                        <a:pt x="162396" y="28074"/>
                        <a:pt x="202268" y="13011"/>
                      </a:cubicBezTo>
                      <a:cubicBezTo>
                        <a:pt x="242140" y="-2052"/>
                        <a:pt x="300620" y="-6482"/>
                        <a:pt x="324543" y="13011"/>
                      </a:cubicBezTo>
                      <a:cubicBezTo>
                        <a:pt x="348466" y="32504"/>
                        <a:pt x="356441" y="89211"/>
                        <a:pt x="345808" y="129969"/>
                      </a:cubicBezTo>
                      <a:cubicBezTo>
                        <a:pt x="335175" y="170727"/>
                        <a:pt x="305935" y="230092"/>
                        <a:pt x="260747" y="257559"/>
                      </a:cubicBezTo>
                      <a:cubicBezTo>
                        <a:pt x="215559" y="285026"/>
                        <a:pt x="118094" y="297431"/>
                        <a:pt x="74678" y="294773"/>
                      </a:cubicBezTo>
                      <a:cubicBezTo>
                        <a:pt x="31262" y="292115"/>
                        <a:pt x="-3294" y="275281"/>
                        <a:pt x="250" y="241611"/>
                      </a:cubicBezTo>
                      <a:cubicBezTo>
                        <a:pt x="3794" y="207941"/>
                        <a:pt x="51640" y="141487"/>
                        <a:pt x="85310" y="103387"/>
                      </a:cubicBezTo>
                      <a:close/>
                    </a:path>
                  </a:pathLst>
                </a:custGeom>
                <a:noFill/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A8C1D0F4-E69D-FC75-3580-C426F378C525}"/>
                    </a:ext>
                  </a:extLst>
                </p:cNvPr>
                <p:cNvSpPr/>
                <p:nvPr/>
              </p:nvSpPr>
              <p:spPr>
                <a:xfrm>
                  <a:off x="6707253" y="3545654"/>
                  <a:ext cx="853224" cy="645608"/>
                </a:xfrm>
                <a:custGeom>
                  <a:avLst/>
                  <a:gdLst>
                    <a:gd name="connsiteX0" fmla="*/ 166696 w 853224"/>
                    <a:gd name="connsiteY0" fmla="*/ 234220 h 645608"/>
                    <a:gd name="connsiteX1" fmla="*/ 384663 w 853224"/>
                    <a:gd name="connsiteY1" fmla="*/ 48151 h 645608"/>
                    <a:gd name="connsiteX2" fmla="*/ 560100 w 853224"/>
                    <a:gd name="connsiteY2" fmla="*/ 304 h 645608"/>
                    <a:gd name="connsiteX3" fmla="*/ 762119 w 853224"/>
                    <a:gd name="connsiteY3" fmla="*/ 32202 h 645608"/>
                    <a:gd name="connsiteX4" fmla="*/ 831231 w 853224"/>
                    <a:gd name="connsiteY4" fmla="*/ 117262 h 645608"/>
                    <a:gd name="connsiteX5" fmla="*/ 852496 w 853224"/>
                    <a:gd name="connsiteY5" fmla="*/ 228904 h 645608"/>
                    <a:gd name="connsiteX6" fmla="*/ 809966 w 853224"/>
                    <a:gd name="connsiteY6" fmla="*/ 409658 h 645608"/>
                    <a:gd name="connsiteX7" fmla="*/ 613263 w 853224"/>
                    <a:gd name="connsiteY7" fmla="*/ 563830 h 645608"/>
                    <a:gd name="connsiteX8" fmla="*/ 347449 w 853224"/>
                    <a:gd name="connsiteY8" fmla="*/ 616993 h 645608"/>
                    <a:gd name="connsiteX9" fmla="*/ 97584 w 853224"/>
                    <a:gd name="connsiteY9" fmla="*/ 643574 h 645608"/>
                    <a:gd name="connsiteX10" fmla="*/ 1891 w 853224"/>
                    <a:gd name="connsiteY10" fmla="*/ 563830 h 645608"/>
                    <a:gd name="connsiteX11" fmla="*/ 166696 w 853224"/>
                    <a:gd name="connsiteY11" fmla="*/ 234220 h 645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53224" h="645608">
                      <a:moveTo>
                        <a:pt x="166696" y="234220"/>
                      </a:moveTo>
                      <a:cubicBezTo>
                        <a:pt x="230491" y="148274"/>
                        <a:pt x="319096" y="87137"/>
                        <a:pt x="384663" y="48151"/>
                      </a:cubicBezTo>
                      <a:cubicBezTo>
                        <a:pt x="450230" y="9165"/>
                        <a:pt x="497191" y="2962"/>
                        <a:pt x="560100" y="304"/>
                      </a:cubicBezTo>
                      <a:cubicBezTo>
                        <a:pt x="623009" y="-2354"/>
                        <a:pt x="716931" y="12709"/>
                        <a:pt x="762119" y="32202"/>
                      </a:cubicBezTo>
                      <a:cubicBezTo>
                        <a:pt x="807307" y="51695"/>
                        <a:pt x="816168" y="84478"/>
                        <a:pt x="831231" y="117262"/>
                      </a:cubicBezTo>
                      <a:cubicBezTo>
                        <a:pt x="846294" y="150046"/>
                        <a:pt x="856040" y="180171"/>
                        <a:pt x="852496" y="228904"/>
                      </a:cubicBezTo>
                      <a:cubicBezTo>
                        <a:pt x="848952" y="277637"/>
                        <a:pt x="849838" y="353837"/>
                        <a:pt x="809966" y="409658"/>
                      </a:cubicBezTo>
                      <a:cubicBezTo>
                        <a:pt x="770094" y="465479"/>
                        <a:pt x="690349" y="529274"/>
                        <a:pt x="613263" y="563830"/>
                      </a:cubicBezTo>
                      <a:cubicBezTo>
                        <a:pt x="536177" y="598386"/>
                        <a:pt x="433396" y="603702"/>
                        <a:pt x="347449" y="616993"/>
                      </a:cubicBezTo>
                      <a:cubicBezTo>
                        <a:pt x="261503" y="630284"/>
                        <a:pt x="155177" y="652434"/>
                        <a:pt x="97584" y="643574"/>
                      </a:cubicBezTo>
                      <a:cubicBezTo>
                        <a:pt x="39991" y="634714"/>
                        <a:pt x="-10514" y="632056"/>
                        <a:pt x="1891" y="563830"/>
                      </a:cubicBezTo>
                      <a:cubicBezTo>
                        <a:pt x="14296" y="495604"/>
                        <a:pt x="102901" y="320166"/>
                        <a:pt x="166696" y="234220"/>
                      </a:cubicBezTo>
                      <a:close/>
                    </a:path>
                  </a:pathLst>
                </a:custGeom>
                <a:noFill/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E998CFE2-7E9B-75F1-122B-07DEB14899A7}"/>
                    </a:ext>
                  </a:extLst>
                </p:cNvPr>
                <p:cNvSpPr/>
                <p:nvPr/>
              </p:nvSpPr>
              <p:spPr>
                <a:xfrm>
                  <a:off x="6466361" y="3326353"/>
                  <a:ext cx="1269186" cy="1121600"/>
                </a:xfrm>
                <a:custGeom>
                  <a:avLst/>
                  <a:gdLst>
                    <a:gd name="connsiteX0" fmla="*/ 370374 w 1269186"/>
                    <a:gd name="connsiteY0" fmla="*/ 288717 h 1121600"/>
                    <a:gd name="connsiteX1" fmla="*/ 832890 w 1269186"/>
                    <a:gd name="connsiteY1" fmla="*/ 17587 h 1121600"/>
                    <a:gd name="connsiteX2" fmla="*/ 1066806 w 1269186"/>
                    <a:gd name="connsiteY2" fmla="*/ 49484 h 1121600"/>
                    <a:gd name="connsiteX3" fmla="*/ 1247560 w 1269186"/>
                    <a:gd name="connsiteY3" fmla="*/ 235554 h 1121600"/>
                    <a:gd name="connsiteX4" fmla="*/ 1242244 w 1269186"/>
                    <a:gd name="connsiteY4" fmla="*/ 527949 h 1121600"/>
                    <a:gd name="connsiteX5" fmla="*/ 1034909 w 1269186"/>
                    <a:gd name="connsiteY5" fmla="*/ 809712 h 1121600"/>
                    <a:gd name="connsiteX6" fmla="*/ 678718 w 1269186"/>
                    <a:gd name="connsiteY6" fmla="*/ 985149 h 1121600"/>
                    <a:gd name="connsiteX7" fmla="*/ 375690 w 1269186"/>
                    <a:gd name="connsiteY7" fmla="*/ 1096791 h 1121600"/>
                    <a:gd name="connsiteX8" fmla="*/ 104560 w 1269186"/>
                    <a:gd name="connsiteY8" fmla="*/ 1112740 h 1121600"/>
                    <a:gd name="connsiteX9" fmla="*/ 3551 w 1269186"/>
                    <a:gd name="connsiteY9" fmla="*/ 985149 h 1121600"/>
                    <a:gd name="connsiteX10" fmla="*/ 216202 w 1269186"/>
                    <a:gd name="connsiteY10" fmla="*/ 597061 h 1121600"/>
                    <a:gd name="connsiteX11" fmla="*/ 370374 w 1269186"/>
                    <a:gd name="connsiteY11" fmla="*/ 288717 h 112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69186" h="1121600">
                      <a:moveTo>
                        <a:pt x="370374" y="288717"/>
                      </a:moveTo>
                      <a:cubicBezTo>
                        <a:pt x="473155" y="192138"/>
                        <a:pt x="716818" y="57459"/>
                        <a:pt x="832890" y="17587"/>
                      </a:cubicBezTo>
                      <a:cubicBezTo>
                        <a:pt x="948962" y="-22285"/>
                        <a:pt x="997694" y="13156"/>
                        <a:pt x="1066806" y="49484"/>
                      </a:cubicBezTo>
                      <a:cubicBezTo>
                        <a:pt x="1135918" y="85812"/>
                        <a:pt x="1218320" y="155810"/>
                        <a:pt x="1247560" y="235554"/>
                      </a:cubicBezTo>
                      <a:cubicBezTo>
                        <a:pt x="1276800" y="315298"/>
                        <a:pt x="1277686" y="432256"/>
                        <a:pt x="1242244" y="527949"/>
                      </a:cubicBezTo>
                      <a:cubicBezTo>
                        <a:pt x="1206802" y="623642"/>
                        <a:pt x="1128830" y="733512"/>
                        <a:pt x="1034909" y="809712"/>
                      </a:cubicBezTo>
                      <a:cubicBezTo>
                        <a:pt x="940988" y="885912"/>
                        <a:pt x="788588" y="937303"/>
                        <a:pt x="678718" y="985149"/>
                      </a:cubicBezTo>
                      <a:cubicBezTo>
                        <a:pt x="568848" y="1032995"/>
                        <a:pt x="471383" y="1075526"/>
                        <a:pt x="375690" y="1096791"/>
                      </a:cubicBezTo>
                      <a:cubicBezTo>
                        <a:pt x="279997" y="1118056"/>
                        <a:pt x="166583" y="1131347"/>
                        <a:pt x="104560" y="1112740"/>
                      </a:cubicBezTo>
                      <a:cubicBezTo>
                        <a:pt x="42537" y="1094133"/>
                        <a:pt x="-15056" y="1071096"/>
                        <a:pt x="3551" y="985149"/>
                      </a:cubicBezTo>
                      <a:cubicBezTo>
                        <a:pt x="22158" y="899203"/>
                        <a:pt x="155065" y="714019"/>
                        <a:pt x="216202" y="597061"/>
                      </a:cubicBezTo>
                      <a:cubicBezTo>
                        <a:pt x="277339" y="480103"/>
                        <a:pt x="267593" y="385296"/>
                        <a:pt x="370374" y="288717"/>
                      </a:cubicBezTo>
                      <a:close/>
                    </a:path>
                  </a:pathLst>
                </a:custGeom>
                <a:noFill/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A26980EE-D726-2A92-2159-D28B8D2BAA9A}"/>
                    </a:ext>
                  </a:extLst>
                </p:cNvPr>
                <p:cNvSpPr/>
                <p:nvPr/>
              </p:nvSpPr>
              <p:spPr>
                <a:xfrm>
                  <a:off x="6218202" y="3085402"/>
                  <a:ext cx="1861176" cy="1640422"/>
                </a:xfrm>
                <a:custGeom>
                  <a:avLst/>
                  <a:gdLst>
                    <a:gd name="connsiteX0" fmla="*/ 358035 w 1861176"/>
                    <a:gd name="connsiteY0" fmla="*/ 449924 h 1640422"/>
                    <a:gd name="connsiteX1" fmla="*/ 1081049 w 1861176"/>
                    <a:gd name="connsiteY1" fmla="*/ 45886 h 1640422"/>
                    <a:gd name="connsiteX2" fmla="*/ 1671156 w 1861176"/>
                    <a:gd name="connsiteY2" fmla="*/ 83100 h 1640422"/>
                    <a:gd name="connsiteX3" fmla="*/ 1857226 w 1861176"/>
                    <a:gd name="connsiteY3" fmla="*/ 705105 h 1640422"/>
                    <a:gd name="connsiteX4" fmla="*/ 1532933 w 1861176"/>
                    <a:gd name="connsiteY4" fmla="*/ 1194203 h 1640422"/>
                    <a:gd name="connsiteX5" fmla="*/ 884347 w 1861176"/>
                    <a:gd name="connsiteY5" fmla="*/ 1497231 h 1640422"/>
                    <a:gd name="connsiteX6" fmla="*/ 437779 w 1861176"/>
                    <a:gd name="connsiteY6" fmla="*/ 1630138 h 1640422"/>
                    <a:gd name="connsiteX7" fmla="*/ 39058 w 1861176"/>
                    <a:gd name="connsiteY7" fmla="*/ 1576975 h 1640422"/>
                    <a:gd name="connsiteX8" fmla="*/ 39058 w 1861176"/>
                    <a:gd name="connsiteY8" fmla="*/ 1146356 h 1640422"/>
                    <a:gd name="connsiteX9" fmla="*/ 251710 w 1861176"/>
                    <a:gd name="connsiteY9" fmla="*/ 784849 h 1640422"/>
                    <a:gd name="connsiteX10" fmla="*/ 358035 w 1861176"/>
                    <a:gd name="connsiteY10" fmla="*/ 449924 h 1640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861176" h="1640422">
                      <a:moveTo>
                        <a:pt x="358035" y="449924"/>
                      </a:moveTo>
                      <a:cubicBezTo>
                        <a:pt x="496258" y="326763"/>
                        <a:pt x="862196" y="107023"/>
                        <a:pt x="1081049" y="45886"/>
                      </a:cubicBezTo>
                      <a:cubicBezTo>
                        <a:pt x="1299903" y="-15251"/>
                        <a:pt x="1541793" y="-26770"/>
                        <a:pt x="1671156" y="83100"/>
                      </a:cubicBezTo>
                      <a:cubicBezTo>
                        <a:pt x="1800519" y="192970"/>
                        <a:pt x="1880263" y="519921"/>
                        <a:pt x="1857226" y="705105"/>
                      </a:cubicBezTo>
                      <a:cubicBezTo>
                        <a:pt x="1834189" y="890289"/>
                        <a:pt x="1695079" y="1062182"/>
                        <a:pt x="1532933" y="1194203"/>
                      </a:cubicBezTo>
                      <a:cubicBezTo>
                        <a:pt x="1370787" y="1326224"/>
                        <a:pt x="1066873" y="1424575"/>
                        <a:pt x="884347" y="1497231"/>
                      </a:cubicBezTo>
                      <a:cubicBezTo>
                        <a:pt x="701821" y="1569887"/>
                        <a:pt x="578661" y="1616847"/>
                        <a:pt x="437779" y="1630138"/>
                      </a:cubicBezTo>
                      <a:cubicBezTo>
                        <a:pt x="296897" y="1643429"/>
                        <a:pt x="105511" y="1657605"/>
                        <a:pt x="39058" y="1576975"/>
                      </a:cubicBezTo>
                      <a:cubicBezTo>
                        <a:pt x="-27395" y="1496345"/>
                        <a:pt x="3616" y="1278377"/>
                        <a:pt x="39058" y="1146356"/>
                      </a:cubicBezTo>
                      <a:cubicBezTo>
                        <a:pt x="74500" y="1014335"/>
                        <a:pt x="197661" y="901807"/>
                        <a:pt x="251710" y="784849"/>
                      </a:cubicBezTo>
                      <a:cubicBezTo>
                        <a:pt x="305759" y="667891"/>
                        <a:pt x="219812" y="573085"/>
                        <a:pt x="358035" y="449924"/>
                      </a:cubicBezTo>
                      <a:close/>
                    </a:path>
                  </a:pathLst>
                </a:custGeom>
                <a:noFill/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BCA5963-9114-9BC7-975C-63B00791EE14}"/>
                    </a:ext>
                  </a:extLst>
                </p:cNvPr>
                <p:cNvSpPr/>
                <p:nvPr/>
              </p:nvSpPr>
              <p:spPr>
                <a:xfrm>
                  <a:off x="5969821" y="2902886"/>
                  <a:ext cx="2505926" cy="2030531"/>
                </a:xfrm>
                <a:custGeom>
                  <a:avLst/>
                  <a:gdLst>
                    <a:gd name="connsiteX0" fmla="*/ 218328 w 2505926"/>
                    <a:gd name="connsiteY0" fmla="*/ 733449 h 2030531"/>
                    <a:gd name="connsiteX1" fmla="*/ 920077 w 2505926"/>
                    <a:gd name="connsiteY1" fmla="*/ 47649 h 2030531"/>
                    <a:gd name="connsiteX2" fmla="*/ 2073709 w 2505926"/>
                    <a:gd name="connsiteY2" fmla="*/ 132709 h 2030531"/>
                    <a:gd name="connsiteX3" fmla="*/ 2504328 w 2505926"/>
                    <a:gd name="connsiteY3" fmla="*/ 728133 h 2030531"/>
                    <a:gd name="connsiteX4" fmla="*/ 2206616 w 2505926"/>
                    <a:gd name="connsiteY4" fmla="*/ 1642533 h 2030531"/>
                    <a:gd name="connsiteX5" fmla="*/ 1866374 w 2505926"/>
                    <a:gd name="connsiteY5" fmla="*/ 1732909 h 2030531"/>
                    <a:gd name="connsiteX6" fmla="*/ 1435756 w 2505926"/>
                    <a:gd name="connsiteY6" fmla="*/ 1924295 h 2030531"/>
                    <a:gd name="connsiteX7" fmla="*/ 861598 w 2505926"/>
                    <a:gd name="connsiteY7" fmla="*/ 2025305 h 2030531"/>
                    <a:gd name="connsiteX8" fmla="*/ 271491 w 2505926"/>
                    <a:gd name="connsiteY8" fmla="*/ 1993407 h 2030531"/>
                    <a:gd name="connsiteX9" fmla="*/ 5677 w 2505926"/>
                    <a:gd name="connsiteY9" fmla="*/ 1802021 h 2030531"/>
                    <a:gd name="connsiteX10" fmla="*/ 101370 w 2505926"/>
                    <a:gd name="connsiteY10" fmla="*/ 1148119 h 2030531"/>
                    <a:gd name="connsiteX11" fmla="*/ 218328 w 2505926"/>
                    <a:gd name="connsiteY11" fmla="*/ 733449 h 2030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505926" h="2030531">
                      <a:moveTo>
                        <a:pt x="218328" y="733449"/>
                      </a:moveTo>
                      <a:cubicBezTo>
                        <a:pt x="354779" y="550037"/>
                        <a:pt x="610847" y="147772"/>
                        <a:pt x="920077" y="47649"/>
                      </a:cubicBezTo>
                      <a:cubicBezTo>
                        <a:pt x="1229307" y="-52474"/>
                        <a:pt x="1809667" y="19295"/>
                        <a:pt x="2073709" y="132709"/>
                      </a:cubicBezTo>
                      <a:cubicBezTo>
                        <a:pt x="2337751" y="246123"/>
                        <a:pt x="2482177" y="476496"/>
                        <a:pt x="2504328" y="728133"/>
                      </a:cubicBezTo>
                      <a:cubicBezTo>
                        <a:pt x="2526479" y="979770"/>
                        <a:pt x="2312942" y="1475070"/>
                        <a:pt x="2206616" y="1642533"/>
                      </a:cubicBezTo>
                      <a:cubicBezTo>
                        <a:pt x="2100290" y="1809996"/>
                        <a:pt x="1994851" y="1685949"/>
                        <a:pt x="1866374" y="1732909"/>
                      </a:cubicBezTo>
                      <a:cubicBezTo>
                        <a:pt x="1737897" y="1779869"/>
                        <a:pt x="1603219" y="1875562"/>
                        <a:pt x="1435756" y="1924295"/>
                      </a:cubicBezTo>
                      <a:cubicBezTo>
                        <a:pt x="1268293" y="1973028"/>
                        <a:pt x="1055642" y="2013786"/>
                        <a:pt x="861598" y="2025305"/>
                      </a:cubicBezTo>
                      <a:cubicBezTo>
                        <a:pt x="667554" y="2036824"/>
                        <a:pt x="414144" y="2030621"/>
                        <a:pt x="271491" y="1993407"/>
                      </a:cubicBezTo>
                      <a:cubicBezTo>
                        <a:pt x="128838" y="1956193"/>
                        <a:pt x="34030" y="1942902"/>
                        <a:pt x="5677" y="1802021"/>
                      </a:cubicBezTo>
                      <a:cubicBezTo>
                        <a:pt x="-22676" y="1661140"/>
                        <a:pt x="62384" y="1332417"/>
                        <a:pt x="101370" y="1148119"/>
                      </a:cubicBezTo>
                      <a:cubicBezTo>
                        <a:pt x="140356" y="963821"/>
                        <a:pt x="81877" y="916861"/>
                        <a:pt x="218328" y="733449"/>
                      </a:cubicBezTo>
                      <a:close/>
                    </a:path>
                  </a:pathLst>
                </a:custGeom>
                <a:noFill/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D665653D-54C6-B56B-A039-489E25DB389D}"/>
                    </a:ext>
                  </a:extLst>
                </p:cNvPr>
                <p:cNvGrpSpPr/>
                <p:nvPr/>
              </p:nvGrpSpPr>
              <p:grpSpPr>
                <a:xfrm>
                  <a:off x="5951249" y="2869365"/>
                  <a:ext cx="2735545" cy="2088782"/>
                  <a:chOff x="383458" y="2054942"/>
                  <a:chExt cx="2359743" cy="2005781"/>
                </a:xfrm>
              </p:grpSpPr>
              <p:cxnSp>
                <p:nvCxnSpPr>
                  <p:cNvPr id="40" name="Straight Arrow Connector 39">
                    <a:extLst>
                      <a:ext uri="{FF2B5EF4-FFF2-40B4-BE49-F238E27FC236}">
                        <a16:creationId xmlns:a16="http://schemas.microsoft.com/office/drawing/2014/main" id="{CA9CD3C4-497E-30B0-7F43-5A5AF39E9C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3458" y="2054942"/>
                    <a:ext cx="0" cy="200578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Arrow Connector 40">
                    <a:extLst>
                      <a:ext uri="{FF2B5EF4-FFF2-40B4-BE49-F238E27FC236}">
                        <a16:creationId xmlns:a16="http://schemas.microsoft.com/office/drawing/2014/main" id="{CF852F7F-EA08-B8BF-4B09-D640B655D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3458" y="4060723"/>
                    <a:ext cx="2359743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E7CA80B-4A54-197E-0629-E6F59FA679A0}"/>
                      </a:ext>
                    </a:extLst>
                  </p:cNvPr>
                  <p:cNvSpPr txBox="1"/>
                  <p:nvPr/>
                </p:nvSpPr>
                <p:spPr>
                  <a:xfrm>
                    <a:off x="8602123" y="4750900"/>
                    <a:ext cx="592654" cy="3650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F93D7BD-8A76-8614-5CB4-7ADAF72CCA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2123" y="4750900"/>
                    <a:ext cx="592654" cy="36503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7074B7FE-B19D-8C1B-49A5-06225BEF534C}"/>
                      </a:ext>
                    </a:extLst>
                  </p:cNvPr>
                  <p:cNvSpPr txBox="1"/>
                  <p:nvPr/>
                </p:nvSpPr>
                <p:spPr>
                  <a:xfrm>
                    <a:off x="5388023" y="2803036"/>
                    <a:ext cx="59265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BDA61FE9-44F2-E188-3785-1CE96025D5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8023" y="2803036"/>
                    <a:ext cx="592654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A853E9C-07D1-6F87-430F-A5B1B12930AA}"/>
                </a:ext>
              </a:extLst>
            </p:cNvPr>
            <p:cNvGrpSpPr/>
            <p:nvPr/>
          </p:nvGrpSpPr>
          <p:grpSpPr>
            <a:xfrm>
              <a:off x="6250764" y="2139463"/>
              <a:ext cx="2507661" cy="1174167"/>
              <a:chOff x="6250764" y="2139463"/>
              <a:chExt cx="2507661" cy="1174167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11578A3-3BC7-A455-1377-4F22067223E9}"/>
                  </a:ext>
                </a:extLst>
              </p:cNvPr>
              <p:cNvSpPr/>
              <p:nvPr/>
            </p:nvSpPr>
            <p:spPr>
              <a:xfrm>
                <a:off x="7084987" y="2378057"/>
                <a:ext cx="136808" cy="135144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1A6F6C7-5E44-4CBE-F3D1-6514FBB2A5AF}"/>
                  </a:ext>
                </a:extLst>
              </p:cNvPr>
              <p:cNvSpPr/>
              <p:nvPr/>
            </p:nvSpPr>
            <p:spPr>
              <a:xfrm>
                <a:off x="6693568" y="2979925"/>
                <a:ext cx="136808" cy="135144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5C2A798-0649-7F69-BE00-27DF9028975E}"/>
                  </a:ext>
                </a:extLst>
              </p:cNvPr>
              <p:cNvCxnSpPr>
                <a:cxnSpLocks/>
                <a:stCxn id="23" idx="7"/>
                <a:endCxn id="22" idx="3"/>
              </p:cNvCxnSpPr>
              <p:nvPr/>
            </p:nvCxnSpPr>
            <p:spPr>
              <a:xfrm flipV="1">
                <a:off x="6810341" y="2493410"/>
                <a:ext cx="294681" cy="50630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0861FBC-2795-B3C6-B760-90B373AB98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62460" y="3047497"/>
                <a:ext cx="379837" cy="5664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70109F5-B6C9-F88E-6093-DA63BE4141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90610" y="2520920"/>
                <a:ext cx="0" cy="478796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C1EF758-9FB9-31AF-631E-A0D8CF5F3FAE}"/>
                      </a:ext>
                    </a:extLst>
                  </p:cNvPr>
                  <p:cNvSpPr txBox="1"/>
                  <p:nvPr/>
                </p:nvSpPr>
                <p:spPr>
                  <a:xfrm>
                    <a:off x="6250764" y="2934084"/>
                    <a:ext cx="359465" cy="2923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3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3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300" b="1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C1EF758-9FB9-31AF-631E-A0D8CF5F3F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0764" y="2934084"/>
                    <a:ext cx="359465" cy="2923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E0CF8EF8-1F53-C9AC-5A6E-142B39B1FB62}"/>
                      </a:ext>
                    </a:extLst>
                  </p:cNvPr>
                  <p:cNvSpPr txBox="1"/>
                  <p:nvPr/>
                </p:nvSpPr>
                <p:spPr>
                  <a:xfrm>
                    <a:off x="7221795" y="2139463"/>
                    <a:ext cx="359465" cy="29238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3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3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300" b="1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E0CF8EF8-1F53-C9AC-5A6E-142B39B1FB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1795" y="2139463"/>
                    <a:ext cx="359465" cy="29238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0B48F7E3-0E8D-ACF1-A9C4-BA80D5794845}"/>
                      </a:ext>
                    </a:extLst>
                  </p:cNvPr>
                  <p:cNvSpPr txBox="1"/>
                  <p:nvPr/>
                </p:nvSpPr>
                <p:spPr>
                  <a:xfrm>
                    <a:off x="7459014" y="2224721"/>
                    <a:ext cx="1299411" cy="3354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0B48F7E3-0E8D-ACF1-A9C4-BA80D57948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9014" y="2224721"/>
                    <a:ext cx="1299411" cy="33547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4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88639AA7-31AF-F423-5C2D-F604A28F6C5A}"/>
                      </a:ext>
                    </a:extLst>
                  </p:cNvPr>
                  <p:cNvSpPr txBox="1"/>
                  <p:nvPr/>
                </p:nvSpPr>
                <p:spPr>
                  <a:xfrm>
                    <a:off x="7167228" y="2978154"/>
                    <a:ext cx="1299411" cy="3354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88639AA7-31AF-F423-5C2D-F604A28F6C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7228" y="2978154"/>
                    <a:ext cx="1299411" cy="3354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4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B2350E70-03D0-C28E-22C9-1FB8D67F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34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F238-33A0-D151-5BD6-FEA8280F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07;p125">
            <a:extLst>
              <a:ext uri="{FF2B5EF4-FFF2-40B4-BE49-F238E27FC236}">
                <a16:creationId xmlns:a16="http://schemas.microsoft.com/office/drawing/2014/main" id="{191D6D33-253D-D492-F47C-BB60E42A0335}"/>
              </a:ext>
            </a:extLst>
          </p:cNvPr>
          <p:cNvSpPr txBox="1">
            <a:spLocks/>
          </p:cNvSpPr>
          <p:nvPr/>
        </p:nvSpPr>
        <p:spPr>
          <a:xfrm>
            <a:off x="319500" y="1465249"/>
            <a:ext cx="4431794" cy="617267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04800" algn="l">
              <a:spcBef>
                <a:spcPts val="0"/>
              </a:spcBef>
              <a:buSzPts val="1200"/>
              <a:buFont typeface="Arial" panose="020B0604020202020204" pitchFamily="34" charset="0"/>
              <a:buChar char="●"/>
            </a:pPr>
            <a:r>
              <a:rPr lang="en-US" sz="2000" b="1" dirty="0"/>
              <a:t>Step 1- Forward Pass:</a:t>
            </a:r>
            <a:r>
              <a:rPr lang="en-US" sz="2000" dirty="0"/>
              <a:t> With frozen weights and biases, the ANN processes the input to make a prediction.</a:t>
            </a:r>
          </a:p>
          <a:p>
            <a:pPr marL="152400" algn="l">
              <a:spcBef>
                <a:spcPts val="0"/>
              </a:spcBef>
              <a:buSzPts val="1200"/>
            </a:pPr>
            <a:endParaRPr lang="en-US" sz="2000" dirty="0"/>
          </a:p>
          <a:p>
            <a:pPr marL="457200" indent="-304800" algn="l">
              <a:spcBef>
                <a:spcPts val="0"/>
              </a:spcBef>
              <a:buSzPts val="1200"/>
              <a:buFont typeface="Arial" panose="020B0604020202020204" pitchFamily="34" charset="0"/>
              <a:buChar char="●"/>
            </a:pPr>
            <a:r>
              <a:rPr lang="en-US" sz="2000" b="1" dirty="0"/>
              <a:t>Step 2 - Calculate Error/Loss:</a:t>
            </a:r>
            <a:r>
              <a:rPr lang="en-US" sz="2000" dirty="0"/>
              <a:t> Measure the error between the prediction and actual output.</a:t>
            </a:r>
            <a:br>
              <a:rPr lang="en-US" sz="2000" dirty="0"/>
            </a:br>
            <a:endParaRPr lang="en-US" sz="2000" dirty="0"/>
          </a:p>
          <a:p>
            <a:pPr marL="457200" indent="-304800" algn="l">
              <a:spcBef>
                <a:spcPts val="0"/>
              </a:spcBef>
              <a:buSzPts val="1200"/>
              <a:buFont typeface="Arial" panose="020B0604020202020204" pitchFamily="34" charset="0"/>
              <a:buChar char="●"/>
            </a:pPr>
            <a:r>
              <a:rPr lang="en-US" sz="2000" b="1" dirty="0"/>
              <a:t>Step 3 - Backward Pass: </a:t>
            </a:r>
            <a:r>
              <a:rPr lang="en-US" sz="2000" dirty="0"/>
              <a:t>Adjust weights using gradient descent and backpropagation to minimize error.</a:t>
            </a:r>
          </a:p>
          <a:p>
            <a:pPr marL="152400" algn="l">
              <a:spcBef>
                <a:spcPts val="0"/>
              </a:spcBef>
              <a:buSzPts val="1200"/>
            </a:pPr>
            <a:endParaRPr lang="en-US" sz="2000" dirty="0"/>
          </a:p>
          <a:p>
            <a:pPr marL="457200" indent="-304800" algn="l">
              <a:spcBef>
                <a:spcPts val="0"/>
              </a:spcBef>
              <a:buSzPts val="1200"/>
              <a:buFont typeface="Arial" panose="020B0604020202020204" pitchFamily="34" charset="0"/>
              <a:buChar char="●"/>
            </a:pPr>
            <a:r>
              <a:rPr lang="en-US" sz="2000" b="1" dirty="0"/>
              <a:t>Repeat</a:t>
            </a:r>
          </a:p>
          <a:p>
            <a:pPr algn="l"/>
            <a:endParaRPr lang="en-US" sz="2000" dirty="0"/>
          </a:p>
          <a:p>
            <a:pPr algn="l">
              <a:spcAft>
                <a:spcPts val="1000"/>
              </a:spcAft>
            </a:pPr>
            <a:endParaRPr lang="en-US" sz="2000" dirty="0"/>
          </a:p>
        </p:txBody>
      </p:sp>
      <p:pic>
        <p:nvPicPr>
          <p:cNvPr id="3" name="Google Shape;1809;p125">
            <a:extLst>
              <a:ext uri="{FF2B5EF4-FFF2-40B4-BE49-F238E27FC236}">
                <a16:creationId xmlns:a16="http://schemas.microsoft.com/office/drawing/2014/main" id="{49729D3F-6343-E71D-7AF6-EDAD09BA60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564" y="1362635"/>
            <a:ext cx="6248400" cy="44783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FE2320-58C0-10C1-7B8B-DDD939C15BDB}"/>
              </a:ext>
            </a:extLst>
          </p:cNvPr>
          <p:cNvSpPr txBox="1"/>
          <p:nvPr/>
        </p:nvSpPr>
        <p:spPr>
          <a:xfrm>
            <a:off x="778600" y="508666"/>
            <a:ext cx="39676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Backpropagation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A6101-347A-BF31-9984-759DEC6F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D14E5D-7EA1-A1A4-6C39-DE7FBD7DC1F1}"/>
              </a:ext>
            </a:extLst>
          </p:cNvPr>
          <p:cNvSpPr txBox="1"/>
          <p:nvPr/>
        </p:nvSpPr>
        <p:spPr>
          <a:xfrm>
            <a:off x="7116418" y="6611779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medium.com</a:t>
            </a:r>
            <a:r>
              <a:rPr lang="en-US" sz="1000" dirty="0"/>
              <a:t>/analytics-</a:t>
            </a:r>
            <a:r>
              <a:rPr lang="en-US" sz="1000" dirty="0" err="1"/>
              <a:t>vidhya</a:t>
            </a:r>
            <a:r>
              <a:rPr lang="en-US" sz="1000" dirty="0"/>
              <a:t>/backpropagation-for-dummies-e069410fa585</a:t>
            </a:r>
          </a:p>
        </p:txBody>
      </p:sp>
    </p:spTree>
    <p:extLst>
      <p:ext uri="{BB962C8B-B14F-4D97-AF65-F5344CB8AC3E}">
        <p14:creationId xmlns:p14="http://schemas.microsoft.com/office/powerpoint/2010/main" val="3171018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8EC6-F431-2534-0F52-25D1E5ED8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E64881-262E-C2A3-17B2-FFD1D80F2CBF}"/>
              </a:ext>
            </a:extLst>
          </p:cNvPr>
          <p:cNvSpPr txBox="1"/>
          <p:nvPr/>
        </p:nvSpPr>
        <p:spPr>
          <a:xfrm>
            <a:off x="887506" y="146932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Chain rule used during the backpropagation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D1F3D8-784C-9D39-3C30-69B83C603304}"/>
                  </a:ext>
                </a:extLst>
              </p:cNvPr>
              <p:cNvSpPr txBox="1"/>
              <p:nvPr/>
            </p:nvSpPr>
            <p:spPr>
              <a:xfrm>
                <a:off x="4607859" y="2559423"/>
                <a:ext cx="2107821" cy="5734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D1F3D8-784C-9D39-3C30-69B83C603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859" y="2559423"/>
                <a:ext cx="2107821" cy="573490"/>
              </a:xfrm>
              <a:prstGeom prst="rect">
                <a:avLst/>
              </a:prstGeom>
              <a:blipFill>
                <a:blip r:embed="rId3"/>
                <a:stretch>
                  <a:fillRect l="-1198" t="-2174" r="-239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665;p112">
                <a:extLst>
                  <a:ext uri="{FF2B5EF4-FFF2-40B4-BE49-F238E27FC236}">
                    <a16:creationId xmlns:a16="http://schemas.microsoft.com/office/drawing/2014/main" id="{31EC914F-FF0F-3F9B-372E-12252E0EFF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66794" y="2203142"/>
                <a:ext cx="2395771" cy="1286052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</a:pPr>
                <a:endParaRPr lang="en-US" sz="22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Google Shape;1665;p112">
                <a:extLst>
                  <a:ext uri="{FF2B5EF4-FFF2-40B4-BE49-F238E27FC236}">
                    <a16:creationId xmlns:a16="http://schemas.microsoft.com/office/drawing/2014/main" id="{31EC914F-FF0F-3F9B-372E-12252E0EF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794" y="2203142"/>
                <a:ext cx="2395771" cy="1286052"/>
              </a:xfrm>
              <a:prstGeom prst="rect">
                <a:avLst/>
              </a:prstGeom>
              <a:blipFill>
                <a:blip r:embed="rId4"/>
                <a:stretch>
                  <a:fillRect t="-36275" b="-7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>
            <a:extLst>
              <a:ext uri="{FF2B5EF4-FFF2-40B4-BE49-F238E27FC236}">
                <a16:creationId xmlns:a16="http://schemas.microsoft.com/office/drawing/2014/main" id="{341A11D0-4D0F-0EED-0D14-FEA9E37314F0}"/>
              </a:ext>
            </a:extLst>
          </p:cNvPr>
          <p:cNvSpPr/>
          <p:nvPr/>
        </p:nvSpPr>
        <p:spPr>
          <a:xfrm>
            <a:off x="6400800" y="1998691"/>
            <a:ext cx="1855694" cy="529356"/>
          </a:xfrm>
          <a:custGeom>
            <a:avLst/>
            <a:gdLst>
              <a:gd name="connsiteX0" fmla="*/ 1855694 w 1855694"/>
              <a:gd name="connsiteY0" fmla="*/ 457638 h 529356"/>
              <a:gd name="connsiteX1" fmla="*/ 591671 w 1855694"/>
              <a:gd name="connsiteY1" fmla="*/ 438 h 529356"/>
              <a:gd name="connsiteX2" fmla="*/ 0 w 1855694"/>
              <a:gd name="connsiteY2" fmla="*/ 529356 h 52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5694" h="529356">
                <a:moveTo>
                  <a:pt x="1855694" y="457638"/>
                </a:moveTo>
                <a:cubicBezTo>
                  <a:pt x="1378323" y="223061"/>
                  <a:pt x="900953" y="-11515"/>
                  <a:pt x="591671" y="438"/>
                </a:cubicBezTo>
                <a:cubicBezTo>
                  <a:pt x="282389" y="12391"/>
                  <a:pt x="141194" y="270873"/>
                  <a:pt x="0" y="529356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C8D605-9229-ED9A-A044-75A97D038F99}"/>
                  </a:ext>
                </a:extLst>
              </p:cNvPr>
              <p:cNvSpPr txBox="1"/>
              <p:nvPr/>
            </p:nvSpPr>
            <p:spPr>
              <a:xfrm>
                <a:off x="4724400" y="3536160"/>
                <a:ext cx="5225854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𝑙𝑜𝑠𝑠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C8D605-9229-ED9A-A044-75A97D038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536160"/>
                <a:ext cx="5225854" cy="756233"/>
              </a:xfrm>
              <a:prstGeom prst="rect">
                <a:avLst/>
              </a:prstGeom>
              <a:blipFill>
                <a:blip r:embed="rId5"/>
                <a:stretch>
                  <a:fillRect l="-728" t="-118333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16445BE-66CA-6B9E-CB86-D3133B75503A}"/>
              </a:ext>
            </a:extLst>
          </p:cNvPr>
          <p:cNvSpPr/>
          <p:nvPr/>
        </p:nvSpPr>
        <p:spPr>
          <a:xfrm>
            <a:off x="9457765" y="3536160"/>
            <a:ext cx="492489" cy="9013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94CBA9-2456-0405-455E-78EEFEDD95C1}"/>
              </a:ext>
            </a:extLst>
          </p:cNvPr>
          <p:cNvSpPr txBox="1"/>
          <p:nvPr/>
        </p:nvSpPr>
        <p:spPr>
          <a:xfrm>
            <a:off x="313765" y="3016866"/>
            <a:ext cx="34424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8150" lvl="0" indent="-285750" algn="just" rtl="0"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The method calculates the gradient of the loss function with respect to the neural network's weights.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5C1FDA-9A19-EFB4-318F-8ED04C1652DE}"/>
                  </a:ext>
                </a:extLst>
              </p:cNvPr>
              <p:cNvSpPr txBox="1"/>
              <p:nvPr/>
            </p:nvSpPr>
            <p:spPr>
              <a:xfrm>
                <a:off x="5011271" y="5782354"/>
                <a:ext cx="2150397" cy="5752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5C1FDA-9A19-EFB4-318F-8ED04C165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271" y="5782354"/>
                <a:ext cx="2150397" cy="575286"/>
              </a:xfrm>
              <a:prstGeom prst="rect">
                <a:avLst/>
              </a:prstGeom>
              <a:blipFill>
                <a:blip r:embed="rId6"/>
                <a:stretch>
                  <a:fillRect l="-2353" t="-4348"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D48336-B702-CE13-9F9C-917C64F1980A}"/>
                  </a:ext>
                </a:extLst>
              </p:cNvPr>
              <p:cNvSpPr txBox="1"/>
              <p:nvPr/>
            </p:nvSpPr>
            <p:spPr>
              <a:xfrm>
                <a:off x="4854754" y="5023507"/>
                <a:ext cx="2428229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𝑖𝑛𝑝𝑢𝑡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D48336-B702-CE13-9F9C-917C64F19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754" y="5023507"/>
                <a:ext cx="2428229" cy="414537"/>
              </a:xfrm>
              <a:prstGeom prst="rect">
                <a:avLst/>
              </a:prstGeom>
              <a:blipFill>
                <a:blip r:embed="rId7"/>
                <a:stretch>
                  <a:fillRect l="-2083" r="-3125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1FE4E4-8665-235C-77E0-9A470F0A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8E2C0-FB45-F525-31C9-2C1B07358CF5}"/>
              </a:ext>
            </a:extLst>
          </p:cNvPr>
          <p:cNvSpPr txBox="1"/>
          <p:nvPr/>
        </p:nvSpPr>
        <p:spPr>
          <a:xfrm>
            <a:off x="778600" y="508666"/>
            <a:ext cx="39676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Backpropagation Technique</a:t>
            </a:r>
          </a:p>
        </p:txBody>
      </p:sp>
    </p:spTree>
    <p:extLst>
      <p:ext uri="{BB962C8B-B14F-4D97-AF65-F5344CB8AC3E}">
        <p14:creationId xmlns:p14="http://schemas.microsoft.com/office/powerpoint/2010/main" val="390352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4165-C479-6485-C7E6-BF1DDF8F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CD5266-CA71-7DF2-CF40-DE306C61879D}"/>
              </a:ext>
            </a:extLst>
          </p:cNvPr>
          <p:cNvSpPr txBox="1"/>
          <p:nvPr/>
        </p:nvSpPr>
        <p:spPr>
          <a:xfrm>
            <a:off x="2975017" y="2567226"/>
            <a:ext cx="624196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/>
              <a:t>Developing DL Code!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081B46-C846-0880-223D-85AF6437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39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6807-8365-8297-3D6C-E998E10F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38CA20-9C5A-D42D-381E-B72BF34B59A4}"/>
              </a:ext>
            </a:extLst>
          </p:cNvPr>
          <p:cNvSpPr txBox="1"/>
          <p:nvPr/>
        </p:nvSpPr>
        <p:spPr>
          <a:xfrm>
            <a:off x="778600" y="508666"/>
            <a:ext cx="18596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5B37C-309D-845B-B262-B8EBE1F050E6}"/>
              </a:ext>
            </a:extLst>
          </p:cNvPr>
          <p:cNvSpPr txBox="1"/>
          <p:nvPr/>
        </p:nvSpPr>
        <p:spPr>
          <a:xfrm>
            <a:off x="1199942" y="1271021"/>
            <a:ext cx="89301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Designing an ANNs requires choices, including:</a:t>
            </a:r>
          </a:p>
          <a:p>
            <a:pPr algn="l"/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Architecture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 (number of nodes and layers)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Gradient Descent Algorithm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 (optimization strategy)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Learning Rate 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(step size in weight updates)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Activation Function 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(non-linearity applied at each node)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Batch Size 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(number of samples per training iteration)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Number of Epochs 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(iterations over the entire dataset)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Cross-Validation</a:t>
            </a:r>
            <a:r>
              <a:rPr lang="en-US" dirty="0"/>
              <a:t> (evaluation and model selection), using k-fold approach.</a:t>
            </a: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Regularization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 (techniques to prevent overfitting)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-webkit-standard"/>
              </a:rPr>
              <a:t>Other Hyperparameters 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(e.g., initialization methods, momentum)</a:t>
            </a:r>
          </a:p>
          <a:p>
            <a:endParaRPr lang="en-US" dirty="0"/>
          </a:p>
        </p:txBody>
      </p:sp>
      <p:pic>
        <p:nvPicPr>
          <p:cNvPr id="3" name="Google Shape;1965;p141">
            <a:extLst>
              <a:ext uri="{FF2B5EF4-FFF2-40B4-BE49-F238E27FC236}">
                <a16:creationId xmlns:a16="http://schemas.microsoft.com/office/drawing/2014/main" id="{79AF0408-EF21-141A-22D9-D43E44FB22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7871" t="10993" r="8065" b="27213"/>
          <a:stretch/>
        </p:blipFill>
        <p:spPr>
          <a:xfrm>
            <a:off x="8073793" y="2130498"/>
            <a:ext cx="3112000" cy="22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966;p141">
            <a:extLst>
              <a:ext uri="{FF2B5EF4-FFF2-40B4-BE49-F238E27FC236}">
                <a16:creationId xmlns:a16="http://schemas.microsoft.com/office/drawing/2014/main" id="{EDC95F31-6B79-1E98-64B1-D50525B7316D}"/>
              </a:ext>
            </a:extLst>
          </p:cNvPr>
          <p:cNvSpPr txBox="1"/>
          <p:nvPr/>
        </p:nvSpPr>
        <p:spPr>
          <a:xfrm>
            <a:off x="7919418" y="1809186"/>
            <a:ext cx="753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inputs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" name="Google Shape;1967;p141">
            <a:extLst>
              <a:ext uri="{FF2B5EF4-FFF2-40B4-BE49-F238E27FC236}">
                <a16:creationId xmlns:a16="http://schemas.microsoft.com/office/drawing/2014/main" id="{08BDC993-E0FC-F19B-D3B6-F7520DF0E8AD}"/>
              </a:ext>
            </a:extLst>
          </p:cNvPr>
          <p:cNvSpPr txBox="1"/>
          <p:nvPr/>
        </p:nvSpPr>
        <p:spPr>
          <a:xfrm>
            <a:off x="8870468" y="1700311"/>
            <a:ext cx="7539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hidden</a:t>
            </a:r>
            <a:b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layer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" name="Google Shape;1968;p141">
            <a:extLst>
              <a:ext uri="{FF2B5EF4-FFF2-40B4-BE49-F238E27FC236}">
                <a16:creationId xmlns:a16="http://schemas.microsoft.com/office/drawing/2014/main" id="{8D069032-3FED-3A17-1C24-2BDE05309CBB}"/>
              </a:ext>
            </a:extLst>
          </p:cNvPr>
          <p:cNvSpPr txBox="1"/>
          <p:nvPr/>
        </p:nvSpPr>
        <p:spPr>
          <a:xfrm>
            <a:off x="9753168" y="1734936"/>
            <a:ext cx="7539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hidden</a:t>
            </a:r>
            <a:b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layer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" name="Google Shape;1969;p141">
            <a:extLst>
              <a:ext uri="{FF2B5EF4-FFF2-40B4-BE49-F238E27FC236}">
                <a16:creationId xmlns:a16="http://schemas.microsoft.com/office/drawing/2014/main" id="{6A5FE0E8-382E-3E43-C2BD-967EC5106B2B}"/>
              </a:ext>
            </a:extLst>
          </p:cNvPr>
          <p:cNvSpPr txBox="1"/>
          <p:nvPr/>
        </p:nvSpPr>
        <p:spPr>
          <a:xfrm>
            <a:off x="10698693" y="2250211"/>
            <a:ext cx="7539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two outputs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" name="Google Shape;1970;p141">
            <a:extLst>
              <a:ext uri="{FF2B5EF4-FFF2-40B4-BE49-F238E27FC236}">
                <a16:creationId xmlns:a16="http://schemas.microsoft.com/office/drawing/2014/main" id="{D02187A7-9AA3-E25D-945A-60CF02E40C90}"/>
              </a:ext>
            </a:extLst>
          </p:cNvPr>
          <p:cNvCxnSpPr/>
          <p:nvPr/>
        </p:nvCxnSpPr>
        <p:spPr>
          <a:xfrm>
            <a:off x="8777693" y="4274786"/>
            <a:ext cx="314100" cy="510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" name="Google Shape;1971;p141">
            <a:extLst>
              <a:ext uri="{FF2B5EF4-FFF2-40B4-BE49-F238E27FC236}">
                <a16:creationId xmlns:a16="http://schemas.microsoft.com/office/drawing/2014/main" id="{68264E92-4CDE-55D3-D9DC-4D6CF5629BEE}"/>
              </a:ext>
            </a:extLst>
          </p:cNvPr>
          <p:cNvSpPr txBox="1"/>
          <p:nvPr/>
        </p:nvSpPr>
        <p:spPr>
          <a:xfrm>
            <a:off x="8777693" y="4735111"/>
            <a:ext cx="22458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each connection = a weight that must be “learned”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28AE7B-068D-EE53-CDE9-1EAACD18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71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0FC1C-CEE3-2FD2-4C9B-A889319D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C67EB8-3ED0-F78B-359C-B2F81091CE01}"/>
              </a:ext>
            </a:extLst>
          </p:cNvPr>
          <p:cNvSpPr txBox="1"/>
          <p:nvPr/>
        </p:nvSpPr>
        <p:spPr>
          <a:xfrm>
            <a:off x="778600" y="508666"/>
            <a:ext cx="49760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Descent and Learning rate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927;p137">
            <a:extLst>
              <a:ext uri="{FF2B5EF4-FFF2-40B4-BE49-F238E27FC236}">
                <a16:creationId xmlns:a16="http://schemas.microsoft.com/office/drawing/2014/main" id="{1465EBA1-7BDB-7789-536C-5888FD25C2F0}"/>
              </a:ext>
            </a:extLst>
          </p:cNvPr>
          <p:cNvSpPr txBox="1">
            <a:spLocks/>
          </p:cNvSpPr>
          <p:nvPr/>
        </p:nvSpPr>
        <p:spPr>
          <a:xfrm>
            <a:off x="640135" y="1558200"/>
            <a:ext cx="3243600" cy="37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67" dirty="0"/>
              <a:t>Identify the right learning rate.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67" dirty="0"/>
              <a:t>A learning rate too large may cause the solution to skip between local minima.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67" dirty="0"/>
              <a:t>A learning rate too small may get stuck in one local minimum, and also may take a longer to learn.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837550-54D4-975F-508A-7F0F5031C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15</a:t>
            </a:fld>
            <a:endParaRPr lang="en-US"/>
          </a:p>
        </p:txBody>
      </p:sp>
      <p:pic>
        <p:nvPicPr>
          <p:cNvPr id="4098" name="Picture 2" descr="Effect of the learning rate setting">
            <a:extLst>
              <a:ext uri="{FF2B5EF4-FFF2-40B4-BE49-F238E27FC236}">
                <a16:creationId xmlns:a16="http://schemas.microsoft.com/office/drawing/2014/main" id="{E097FB08-EAA3-95ED-D476-EB96A2B3C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115" y="1686326"/>
            <a:ext cx="7558572" cy="337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B1B65F-3EF1-9268-732B-35700F9F4750}"/>
              </a:ext>
            </a:extLst>
          </p:cNvPr>
          <p:cNvSpPr txBox="1"/>
          <p:nvPr/>
        </p:nvSpPr>
        <p:spPr>
          <a:xfrm>
            <a:off x="9051235" y="6611779"/>
            <a:ext cx="31407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deeplearningmath.org</a:t>
            </a:r>
            <a:r>
              <a:rPr lang="en-US" sz="1000" dirty="0"/>
              <a:t>/tricks-of-the-trade</a:t>
            </a:r>
          </a:p>
        </p:txBody>
      </p:sp>
    </p:spTree>
    <p:extLst>
      <p:ext uri="{BB962C8B-B14F-4D97-AF65-F5344CB8AC3E}">
        <p14:creationId xmlns:p14="http://schemas.microsoft.com/office/powerpoint/2010/main" val="1817997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0C10-558B-3458-AB91-DB9ECEDA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E16CC3-AE7D-ED7A-390B-786D0846E9AE}"/>
              </a:ext>
            </a:extLst>
          </p:cNvPr>
          <p:cNvSpPr txBox="1"/>
          <p:nvPr/>
        </p:nvSpPr>
        <p:spPr>
          <a:xfrm>
            <a:off x="778600" y="508666"/>
            <a:ext cx="49760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Descent and Learning rate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927;p137">
            <a:extLst>
              <a:ext uri="{FF2B5EF4-FFF2-40B4-BE49-F238E27FC236}">
                <a16:creationId xmlns:a16="http://schemas.microsoft.com/office/drawing/2014/main" id="{B69E9C9E-6E15-B02D-BC3E-FC439AE486DB}"/>
              </a:ext>
            </a:extLst>
          </p:cNvPr>
          <p:cNvSpPr txBox="1">
            <a:spLocks/>
          </p:cNvSpPr>
          <p:nvPr/>
        </p:nvSpPr>
        <p:spPr>
          <a:xfrm>
            <a:off x="640135" y="1558200"/>
            <a:ext cx="3243600" cy="37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67" dirty="0"/>
              <a:t>Identify the right learning rate.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67" dirty="0"/>
              <a:t>A learning rate too large may cause the solution to skip between local minima.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67" dirty="0"/>
              <a:t>A learning rate too small may get stuck in one local minimum, and also may take a longer to learn.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FAA54A-1973-7EEF-1C0A-97C176338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16</a:t>
            </a:fld>
            <a:endParaRPr lang="en-US"/>
          </a:p>
        </p:txBody>
      </p:sp>
      <p:pic>
        <p:nvPicPr>
          <p:cNvPr id="10244" name="Picture 4" descr="Water 12 01500 g008 550">
            <a:extLst>
              <a:ext uri="{FF2B5EF4-FFF2-40B4-BE49-F238E27FC236}">
                <a16:creationId xmlns:a16="http://schemas.microsoft.com/office/drawing/2014/main" id="{F298EC0A-F6B8-4975-B6C4-AE7D8844B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109" y="1430931"/>
            <a:ext cx="4854315" cy="447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A554BB-44EB-EFA4-A71E-5CF2D6097A47}"/>
              </a:ext>
            </a:extLst>
          </p:cNvPr>
          <p:cNvSpPr txBox="1"/>
          <p:nvPr/>
        </p:nvSpPr>
        <p:spPr>
          <a:xfrm>
            <a:off x="10317221" y="6598364"/>
            <a:ext cx="16097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Apaydin</a:t>
            </a:r>
            <a:r>
              <a:rPr lang="en-US" sz="1000" dirty="0"/>
              <a:t> et al, 2020, water</a:t>
            </a:r>
          </a:p>
        </p:txBody>
      </p:sp>
    </p:spTree>
    <p:extLst>
      <p:ext uri="{BB962C8B-B14F-4D97-AF65-F5344CB8AC3E}">
        <p14:creationId xmlns:p14="http://schemas.microsoft.com/office/powerpoint/2010/main" val="392482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B40C-9311-5461-EBAF-C4F9C5DE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BD1473-B77B-77E7-E208-3B8B92A36200}"/>
              </a:ext>
            </a:extLst>
          </p:cNvPr>
          <p:cNvSpPr txBox="1"/>
          <p:nvPr/>
        </p:nvSpPr>
        <p:spPr>
          <a:xfrm>
            <a:off x="778600" y="508666"/>
            <a:ext cx="17091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Overfitting!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1980;p142">
            <a:extLst>
              <a:ext uri="{FF2B5EF4-FFF2-40B4-BE49-F238E27FC236}">
                <a16:creationId xmlns:a16="http://schemas.microsoft.com/office/drawing/2014/main" id="{2B597817-453A-6198-E879-E2E7EC9BF0D3}"/>
              </a:ext>
            </a:extLst>
          </p:cNvPr>
          <p:cNvSpPr txBox="1"/>
          <p:nvPr/>
        </p:nvSpPr>
        <p:spPr>
          <a:xfrm>
            <a:off x="6608910" y="5432099"/>
            <a:ext cx="474489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l"/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The black line fits well, while the green line overfits.</a:t>
            </a:r>
          </a:p>
        </p:txBody>
      </p:sp>
      <p:sp>
        <p:nvSpPr>
          <p:cNvPr id="4" name="Google Shape;1977;p142">
            <a:extLst>
              <a:ext uri="{FF2B5EF4-FFF2-40B4-BE49-F238E27FC236}">
                <a16:creationId xmlns:a16="http://schemas.microsoft.com/office/drawing/2014/main" id="{41450F06-801E-D880-A732-FC025F198183}"/>
              </a:ext>
            </a:extLst>
          </p:cNvPr>
          <p:cNvSpPr txBox="1">
            <a:spLocks/>
          </p:cNvSpPr>
          <p:nvPr/>
        </p:nvSpPr>
        <p:spPr>
          <a:xfrm>
            <a:off x="778600" y="1502099"/>
            <a:ext cx="4064000" cy="430702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Overfitting in ANNs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Large numbers of weights in ANNs can lead to overfitting.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Common Solutions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l"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L1 &amp; L2 Regularization</a:t>
            </a:r>
          </a:p>
          <a:p>
            <a:pPr marL="342900" indent="-342900" algn="l">
              <a:spcBef>
                <a:spcPts val="1333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Drop-out</a:t>
            </a:r>
          </a:p>
          <a:p>
            <a:pPr algn="l">
              <a:spcBef>
                <a:spcPts val="1333"/>
              </a:spcBef>
              <a:spcAft>
                <a:spcPts val="1333"/>
              </a:spcAft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F2B83-7D98-16CD-A0B1-1DAF0150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17</a:t>
            </a:fld>
            <a:endParaRPr lang="en-US" dirty="0"/>
          </a:p>
        </p:txBody>
      </p:sp>
      <p:pic>
        <p:nvPicPr>
          <p:cNvPr id="9218" name="Picture 2" descr="train test split overfitted data graph">
            <a:extLst>
              <a:ext uri="{FF2B5EF4-FFF2-40B4-BE49-F238E27FC236}">
                <a16:creationId xmlns:a16="http://schemas.microsoft.com/office/drawing/2014/main" id="{BDD30E5D-79AE-96D4-D97A-4F8A82078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42748"/>
            <a:ext cx="4889351" cy="488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E0D395-1C85-827F-1525-7DC0EACF4D79}"/>
              </a:ext>
            </a:extLst>
          </p:cNvPr>
          <p:cNvSpPr txBox="1"/>
          <p:nvPr/>
        </p:nvSpPr>
        <p:spPr>
          <a:xfrm>
            <a:off x="9103659" y="6596390"/>
            <a:ext cx="3192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builtin.com</a:t>
            </a:r>
            <a:r>
              <a:rPr lang="en-US" sz="1100" dirty="0"/>
              <a:t>/data-science/train-test-split</a:t>
            </a:r>
          </a:p>
        </p:txBody>
      </p:sp>
    </p:spTree>
    <p:extLst>
      <p:ext uri="{BB962C8B-B14F-4D97-AF65-F5344CB8AC3E}">
        <p14:creationId xmlns:p14="http://schemas.microsoft.com/office/powerpoint/2010/main" val="2861785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C657-3056-61F2-5CFE-3D5B6BDE0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DABA84-4803-EB80-5D23-E4777CF84FEE}"/>
              </a:ext>
            </a:extLst>
          </p:cNvPr>
          <p:cNvSpPr txBox="1"/>
          <p:nvPr/>
        </p:nvSpPr>
        <p:spPr>
          <a:xfrm>
            <a:off x="778600" y="508666"/>
            <a:ext cx="17091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Overfitting!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0B7A1C-335D-2B0E-799B-845C2A73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18</a:t>
            </a:fld>
            <a:endParaRPr lang="en-US"/>
          </a:p>
        </p:txBody>
      </p:sp>
      <p:pic>
        <p:nvPicPr>
          <p:cNvPr id="5124" name="Picture 4" descr="Ridge regression coefficients for 15 exemplar predictor variables as $\lambda$ grows from  $0 \rightarrow \infty$. As $\lambda$ grows larger, our coefficient magnitudes are more constrained.">
            <a:extLst>
              <a:ext uri="{FF2B5EF4-FFF2-40B4-BE49-F238E27FC236}">
                <a16:creationId xmlns:a16="http://schemas.microsoft.com/office/drawing/2014/main" id="{B7CCABC4-4FE6-B657-8316-BE4B0D8D9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93342"/>
            <a:ext cx="6035040" cy="301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oogle Shape;1995;p143">
            <a:extLst>
              <a:ext uri="{FF2B5EF4-FFF2-40B4-BE49-F238E27FC236}">
                <a16:creationId xmlns:a16="http://schemas.microsoft.com/office/drawing/2014/main" id="{0D71521B-3753-A9D3-D31D-E68E337D8CEF}"/>
              </a:ext>
            </a:extLst>
          </p:cNvPr>
          <p:cNvGrpSpPr/>
          <p:nvPr/>
        </p:nvGrpSpPr>
        <p:grpSpPr>
          <a:xfrm>
            <a:off x="528155" y="5589308"/>
            <a:ext cx="9973865" cy="1132167"/>
            <a:chOff x="831800" y="4146500"/>
            <a:chExt cx="7480399" cy="849125"/>
          </a:xfrm>
        </p:grpSpPr>
        <p:pic>
          <p:nvPicPr>
            <p:cNvPr id="8" name="Google Shape;1996;p143">
              <a:extLst>
                <a:ext uri="{FF2B5EF4-FFF2-40B4-BE49-F238E27FC236}">
                  <a16:creationId xmlns:a16="http://schemas.microsoft.com/office/drawing/2014/main" id="{8ED400CB-54E0-EB38-1755-986F4D3140A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1800" y="4146500"/>
              <a:ext cx="7480399" cy="213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997;p143">
              <a:extLst>
                <a:ext uri="{FF2B5EF4-FFF2-40B4-BE49-F238E27FC236}">
                  <a16:creationId xmlns:a16="http://schemas.microsoft.com/office/drawing/2014/main" id="{CC98FA0A-9BC5-77CA-C236-6CCC180F6A02}"/>
                </a:ext>
              </a:extLst>
            </p:cNvPr>
            <p:cNvSpPr txBox="1"/>
            <p:nvPr/>
          </p:nvSpPr>
          <p:spPr>
            <a:xfrm>
              <a:off x="3499325" y="4661125"/>
              <a:ext cx="3000000" cy="33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2133"/>
                </a:spcAft>
              </a:pPr>
              <a:r>
                <a:rPr lang="en" sz="1333" b="1" dirty="0">
                  <a:latin typeface="Lato"/>
                  <a:ea typeface="Lato"/>
                  <a:cs typeface="Lato"/>
                  <a:sym typeface="Lato"/>
                </a:rPr>
                <a:t>will force coefficients to share importance</a:t>
              </a:r>
              <a:endParaRPr sz="2400" b="1" dirty="0"/>
            </a:p>
          </p:txBody>
        </p:sp>
        <p:cxnSp>
          <p:nvCxnSpPr>
            <p:cNvPr id="13" name="Google Shape;1998;p143">
              <a:extLst>
                <a:ext uri="{FF2B5EF4-FFF2-40B4-BE49-F238E27FC236}">
                  <a16:creationId xmlns:a16="http://schemas.microsoft.com/office/drawing/2014/main" id="{4C6CEA7A-E8A6-C96B-7621-DD0F75236987}"/>
                </a:ext>
              </a:extLst>
            </p:cNvPr>
            <p:cNvCxnSpPr/>
            <p:nvPr/>
          </p:nvCxnSpPr>
          <p:spPr>
            <a:xfrm rot="10800000">
              <a:off x="1075700" y="4405275"/>
              <a:ext cx="2442300" cy="3456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999;p143">
              <a:extLst>
                <a:ext uri="{FF2B5EF4-FFF2-40B4-BE49-F238E27FC236}">
                  <a16:creationId xmlns:a16="http://schemas.microsoft.com/office/drawing/2014/main" id="{7BEE1EB9-9E04-0AA9-03B5-00BE8FA80473}"/>
                </a:ext>
              </a:extLst>
            </p:cNvPr>
            <p:cNvCxnSpPr/>
            <p:nvPr/>
          </p:nvCxnSpPr>
          <p:spPr>
            <a:xfrm rot="10800000">
              <a:off x="1861025" y="4389675"/>
              <a:ext cx="1620900" cy="3612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Google Shape;2000;p143">
              <a:extLst>
                <a:ext uri="{FF2B5EF4-FFF2-40B4-BE49-F238E27FC236}">
                  <a16:creationId xmlns:a16="http://schemas.microsoft.com/office/drawing/2014/main" id="{6C8B9C3A-6277-63FA-FCE4-CD54836A623E}"/>
                </a:ext>
              </a:extLst>
            </p:cNvPr>
            <p:cNvCxnSpPr/>
            <p:nvPr/>
          </p:nvCxnSpPr>
          <p:spPr>
            <a:xfrm rot="10800000">
              <a:off x="2630525" y="4374075"/>
              <a:ext cx="851400" cy="3690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Google Shape;2001;p143">
              <a:extLst>
                <a:ext uri="{FF2B5EF4-FFF2-40B4-BE49-F238E27FC236}">
                  <a16:creationId xmlns:a16="http://schemas.microsoft.com/office/drawing/2014/main" id="{3AA8276E-94B1-2D6A-1CC9-A0B6D6DE1995}"/>
                </a:ext>
              </a:extLst>
            </p:cNvPr>
            <p:cNvCxnSpPr/>
            <p:nvPr/>
          </p:nvCxnSpPr>
          <p:spPr>
            <a:xfrm rot="10800000">
              <a:off x="3415975" y="4381875"/>
              <a:ext cx="17400" cy="3495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Google Shape;2002;p143">
              <a:extLst>
                <a:ext uri="{FF2B5EF4-FFF2-40B4-BE49-F238E27FC236}">
                  <a16:creationId xmlns:a16="http://schemas.microsoft.com/office/drawing/2014/main" id="{4E581D3D-59CC-9265-C085-96DA2AD53B26}"/>
                </a:ext>
              </a:extLst>
            </p:cNvPr>
            <p:cNvCxnSpPr/>
            <p:nvPr/>
          </p:nvCxnSpPr>
          <p:spPr>
            <a:xfrm rot="10800000" flipH="1">
              <a:off x="3499325" y="4365975"/>
              <a:ext cx="639000" cy="365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Google Shape;2003;p143">
              <a:extLst>
                <a:ext uri="{FF2B5EF4-FFF2-40B4-BE49-F238E27FC236}">
                  <a16:creationId xmlns:a16="http://schemas.microsoft.com/office/drawing/2014/main" id="{06C171BC-D941-FBE6-DE70-E8D1D42FF925}"/>
                </a:ext>
              </a:extLst>
            </p:cNvPr>
            <p:cNvCxnSpPr/>
            <p:nvPr/>
          </p:nvCxnSpPr>
          <p:spPr>
            <a:xfrm rot="10800000" flipH="1">
              <a:off x="3475050" y="4366125"/>
              <a:ext cx="1488000" cy="3573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Google Shape;2004;p143">
              <a:extLst>
                <a:ext uri="{FF2B5EF4-FFF2-40B4-BE49-F238E27FC236}">
                  <a16:creationId xmlns:a16="http://schemas.microsoft.com/office/drawing/2014/main" id="{AD8F2FC5-D8A4-4FBA-F23E-EEE7C9BFF92D}"/>
                </a:ext>
              </a:extLst>
            </p:cNvPr>
            <p:cNvCxnSpPr/>
            <p:nvPr/>
          </p:nvCxnSpPr>
          <p:spPr>
            <a:xfrm rot="10800000" flipH="1">
              <a:off x="3475050" y="4373925"/>
              <a:ext cx="2304600" cy="3456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" name="Google Shape;2005;p143">
              <a:extLst>
                <a:ext uri="{FF2B5EF4-FFF2-40B4-BE49-F238E27FC236}">
                  <a16:creationId xmlns:a16="http://schemas.microsoft.com/office/drawing/2014/main" id="{3BDC4994-E2CF-FD25-8192-C32894352BA4}"/>
                </a:ext>
              </a:extLst>
            </p:cNvPr>
            <p:cNvCxnSpPr/>
            <p:nvPr/>
          </p:nvCxnSpPr>
          <p:spPr>
            <a:xfrm rot="10800000" flipH="1">
              <a:off x="3499325" y="4339075"/>
              <a:ext cx="3136200" cy="4131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Google Shape;2006;p143">
              <a:extLst>
                <a:ext uri="{FF2B5EF4-FFF2-40B4-BE49-F238E27FC236}">
                  <a16:creationId xmlns:a16="http://schemas.microsoft.com/office/drawing/2014/main" id="{62C62A60-8799-B3A3-3D60-00725F610A9D}"/>
                </a:ext>
              </a:extLst>
            </p:cNvPr>
            <p:cNvCxnSpPr/>
            <p:nvPr/>
          </p:nvCxnSpPr>
          <p:spPr>
            <a:xfrm rot="10800000" flipH="1">
              <a:off x="3499325" y="4346925"/>
              <a:ext cx="3937200" cy="4044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35" name="Google Shape;1992;p143">
            <a:extLst>
              <a:ext uri="{FF2B5EF4-FFF2-40B4-BE49-F238E27FC236}">
                <a16:creationId xmlns:a16="http://schemas.microsoft.com/office/drawing/2014/main" id="{F9C9EB71-CBE2-53F5-07C0-A72261D4B75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9800" y="2632340"/>
            <a:ext cx="3744000" cy="97717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80BB927-6876-908D-49FC-E4AE8538EFD1}"/>
              </a:ext>
            </a:extLst>
          </p:cNvPr>
          <p:cNvSpPr txBox="1"/>
          <p:nvPr/>
        </p:nvSpPr>
        <p:spPr>
          <a:xfrm>
            <a:off x="667971" y="1113783"/>
            <a:ext cx="109933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Regularization (Ridge Regression):</a:t>
            </a: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technique to prevent overfitting by adding a penalty to the loss function, keeping weights small.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5D2BA3C-0352-47E1-810B-D8F3D92BAE7A}"/>
              </a:ext>
            </a:extLst>
          </p:cNvPr>
          <p:cNvGrpSpPr/>
          <p:nvPr/>
        </p:nvGrpSpPr>
        <p:grpSpPr>
          <a:xfrm>
            <a:off x="7713200" y="3308784"/>
            <a:ext cx="2491830" cy="1548998"/>
            <a:chOff x="7713200" y="3308784"/>
            <a:chExt cx="2491830" cy="1548998"/>
          </a:xfrm>
        </p:grpSpPr>
        <p:cxnSp>
          <p:nvCxnSpPr>
            <p:cNvPr id="56" name="Google Shape;1993;p143">
              <a:extLst>
                <a:ext uri="{FF2B5EF4-FFF2-40B4-BE49-F238E27FC236}">
                  <a16:creationId xmlns:a16="http://schemas.microsoft.com/office/drawing/2014/main" id="{9E389251-A250-FAD7-A200-9986D2EA1DA6}"/>
                </a:ext>
              </a:extLst>
            </p:cNvPr>
            <p:cNvCxnSpPr/>
            <p:nvPr/>
          </p:nvCxnSpPr>
          <p:spPr>
            <a:xfrm flipH="1">
              <a:off x="9229030" y="3308784"/>
              <a:ext cx="976000" cy="1247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57" name="Google Shape;1994;p143">
              <a:extLst>
                <a:ext uri="{FF2B5EF4-FFF2-40B4-BE49-F238E27FC236}">
                  <a16:creationId xmlns:a16="http://schemas.microsoft.com/office/drawing/2014/main" id="{64E13586-1187-3475-9242-9627CF9D5627}"/>
                </a:ext>
              </a:extLst>
            </p:cNvPr>
            <p:cNvSpPr txBox="1"/>
            <p:nvPr/>
          </p:nvSpPr>
          <p:spPr>
            <a:xfrm>
              <a:off x="7713200" y="4293720"/>
              <a:ext cx="1794800" cy="5640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333" b="1" dirty="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Ridge Parameter</a:t>
              </a:r>
              <a:endParaRPr sz="1333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DAE9B17-CEDD-03C4-63FD-6C3CA7CCF062}"/>
              </a:ext>
            </a:extLst>
          </p:cNvPr>
          <p:cNvSpPr txBox="1"/>
          <p:nvPr/>
        </p:nvSpPr>
        <p:spPr>
          <a:xfrm>
            <a:off x="2219494" y="2088231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L2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56858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1230A-0FF2-1FFB-E469-CFDFC81F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7988C1-12C4-B1E0-84F6-38105E31847B}"/>
              </a:ext>
            </a:extLst>
          </p:cNvPr>
          <p:cNvSpPr txBox="1"/>
          <p:nvPr/>
        </p:nvSpPr>
        <p:spPr>
          <a:xfrm>
            <a:off x="778600" y="508666"/>
            <a:ext cx="17091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Overfitting!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9CD5BF-33D0-8571-FC3D-EA723F376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19</a:t>
            </a:fld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54B63D-0C79-B2ED-C319-491BA856A506}"/>
              </a:ext>
            </a:extLst>
          </p:cNvPr>
          <p:cNvSpPr txBox="1"/>
          <p:nvPr/>
        </p:nvSpPr>
        <p:spPr>
          <a:xfrm>
            <a:off x="667971" y="1113783"/>
            <a:ext cx="10993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Regularization (LASSO):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 technique to prevent overfitting by penalizing large weights in the loss function, encouraging sparsity.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E946039-FD2F-1474-F444-5399EAE17971}"/>
              </a:ext>
            </a:extLst>
          </p:cNvPr>
          <p:cNvGrpSpPr/>
          <p:nvPr/>
        </p:nvGrpSpPr>
        <p:grpSpPr>
          <a:xfrm>
            <a:off x="7713200" y="3308784"/>
            <a:ext cx="2491830" cy="1548998"/>
            <a:chOff x="7713200" y="3308784"/>
            <a:chExt cx="2491830" cy="1548998"/>
          </a:xfrm>
        </p:grpSpPr>
        <p:cxnSp>
          <p:nvCxnSpPr>
            <p:cNvPr id="56" name="Google Shape;1993;p143">
              <a:extLst>
                <a:ext uri="{FF2B5EF4-FFF2-40B4-BE49-F238E27FC236}">
                  <a16:creationId xmlns:a16="http://schemas.microsoft.com/office/drawing/2014/main" id="{55E57E1A-BC62-0705-4783-413616518B6E}"/>
                </a:ext>
              </a:extLst>
            </p:cNvPr>
            <p:cNvCxnSpPr/>
            <p:nvPr/>
          </p:nvCxnSpPr>
          <p:spPr>
            <a:xfrm flipH="1">
              <a:off x="9229030" y="3308784"/>
              <a:ext cx="976000" cy="1247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stealth" w="med" len="med"/>
              <a:tailEnd type="none" w="med" len="med"/>
            </a:ln>
          </p:spPr>
        </p:cxnSp>
        <p:sp>
          <p:nvSpPr>
            <p:cNvPr id="57" name="Google Shape;1994;p143">
              <a:extLst>
                <a:ext uri="{FF2B5EF4-FFF2-40B4-BE49-F238E27FC236}">
                  <a16:creationId xmlns:a16="http://schemas.microsoft.com/office/drawing/2014/main" id="{675A98AE-0225-FF2F-4A73-1A464C899894}"/>
                </a:ext>
              </a:extLst>
            </p:cNvPr>
            <p:cNvSpPr txBox="1"/>
            <p:nvPr/>
          </p:nvSpPr>
          <p:spPr>
            <a:xfrm>
              <a:off x="7713200" y="4293720"/>
              <a:ext cx="1794800" cy="5640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333" b="1" dirty="0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LASSO Parameter</a:t>
              </a:r>
              <a:endParaRPr sz="1333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" name="Picture 6" descr="Lasso regression coefficients as $\lambda$ grows from  $0 \rightarrow \infty$.">
            <a:extLst>
              <a:ext uri="{FF2B5EF4-FFF2-40B4-BE49-F238E27FC236}">
                <a16:creationId xmlns:a16="http://schemas.microsoft.com/office/drawing/2014/main" id="{D46BF84C-2A81-D8D9-0B07-D13241F5C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71" y="2354260"/>
            <a:ext cx="6035040" cy="301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oogle Shape;2020;p144">
            <a:extLst>
              <a:ext uri="{FF2B5EF4-FFF2-40B4-BE49-F238E27FC236}">
                <a16:creationId xmlns:a16="http://schemas.microsoft.com/office/drawing/2014/main" id="{4A6EE7F8-704D-7B2E-6605-52E0F3CA632C}"/>
              </a:ext>
            </a:extLst>
          </p:cNvPr>
          <p:cNvGrpSpPr/>
          <p:nvPr/>
        </p:nvGrpSpPr>
        <p:grpSpPr>
          <a:xfrm>
            <a:off x="838200" y="5541990"/>
            <a:ext cx="10067332" cy="1406537"/>
            <a:chOff x="761700" y="3940722"/>
            <a:chExt cx="7550499" cy="1054903"/>
          </a:xfrm>
        </p:grpSpPr>
        <p:pic>
          <p:nvPicPr>
            <p:cNvPr id="6" name="Google Shape;2021;p144">
              <a:extLst>
                <a:ext uri="{FF2B5EF4-FFF2-40B4-BE49-F238E27FC236}">
                  <a16:creationId xmlns:a16="http://schemas.microsoft.com/office/drawing/2014/main" id="{9DF0CD0D-5864-2280-E36F-D6A2F0F9F001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1800" y="4298900"/>
              <a:ext cx="7480399" cy="213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2022;p144">
              <a:extLst>
                <a:ext uri="{FF2B5EF4-FFF2-40B4-BE49-F238E27FC236}">
                  <a16:creationId xmlns:a16="http://schemas.microsoft.com/office/drawing/2014/main" id="{5DFD4328-D2A1-BC34-9DC1-31359C793165}"/>
                </a:ext>
              </a:extLst>
            </p:cNvPr>
            <p:cNvSpPr txBox="1"/>
            <p:nvPr/>
          </p:nvSpPr>
          <p:spPr>
            <a:xfrm>
              <a:off x="3499325" y="4661125"/>
              <a:ext cx="3000000" cy="33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2133"/>
                </a:spcAft>
              </a:pPr>
              <a:r>
                <a:rPr lang="en" sz="1333" b="1" dirty="0">
                  <a:latin typeface="Lato"/>
                  <a:ea typeface="Lato"/>
                  <a:cs typeface="Lato"/>
                  <a:sym typeface="Lato"/>
                </a:rPr>
                <a:t>will force some coefficients to zero</a:t>
              </a:r>
              <a:endParaRPr sz="2400" b="1" dirty="0"/>
            </a:p>
          </p:txBody>
        </p:sp>
        <p:sp>
          <p:nvSpPr>
            <p:cNvPr id="10" name="Google Shape;2023;p144">
              <a:extLst>
                <a:ext uri="{FF2B5EF4-FFF2-40B4-BE49-F238E27FC236}">
                  <a16:creationId xmlns:a16="http://schemas.microsoft.com/office/drawing/2014/main" id="{CC463EBD-A150-EA28-BC6F-C2E6503FB9FA}"/>
                </a:ext>
              </a:extLst>
            </p:cNvPr>
            <p:cNvSpPr txBox="1"/>
            <p:nvPr/>
          </p:nvSpPr>
          <p:spPr>
            <a:xfrm>
              <a:off x="761700" y="3989413"/>
              <a:ext cx="3360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5333">
                  <a:latin typeface="Lato"/>
                  <a:ea typeface="Lato"/>
                  <a:cs typeface="Lato"/>
                  <a:sym typeface="Lato"/>
                </a:rPr>
                <a:t>/</a:t>
              </a:r>
              <a:endParaRPr sz="5333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2" name="Google Shape;2024;p144">
              <a:extLst>
                <a:ext uri="{FF2B5EF4-FFF2-40B4-BE49-F238E27FC236}">
                  <a16:creationId xmlns:a16="http://schemas.microsoft.com/office/drawing/2014/main" id="{C4C89693-7B0C-2A5F-FF9E-8717BDF6EE27}"/>
                </a:ext>
              </a:extLst>
            </p:cNvPr>
            <p:cNvSpPr txBox="1"/>
            <p:nvPr/>
          </p:nvSpPr>
          <p:spPr>
            <a:xfrm>
              <a:off x="1589425" y="4008638"/>
              <a:ext cx="3360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5333">
                  <a:latin typeface="Lato"/>
                  <a:ea typeface="Lato"/>
                  <a:cs typeface="Lato"/>
                  <a:sym typeface="Lato"/>
                </a:rPr>
                <a:t>/</a:t>
              </a:r>
              <a:endParaRPr sz="5333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2025;p144">
              <a:extLst>
                <a:ext uri="{FF2B5EF4-FFF2-40B4-BE49-F238E27FC236}">
                  <a16:creationId xmlns:a16="http://schemas.microsoft.com/office/drawing/2014/main" id="{356B067E-9A20-1F22-B991-42828E194880}"/>
                </a:ext>
              </a:extLst>
            </p:cNvPr>
            <p:cNvSpPr txBox="1"/>
            <p:nvPr/>
          </p:nvSpPr>
          <p:spPr>
            <a:xfrm>
              <a:off x="4026950" y="3989400"/>
              <a:ext cx="3360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5333" dirty="0">
                  <a:latin typeface="Lato"/>
                  <a:ea typeface="Lato"/>
                  <a:cs typeface="Lato"/>
                  <a:sym typeface="Lato"/>
                </a:rPr>
                <a:t>/</a:t>
              </a:r>
              <a:endParaRPr sz="5333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6" name="Google Shape;2026;p144">
              <a:extLst>
                <a:ext uri="{FF2B5EF4-FFF2-40B4-BE49-F238E27FC236}">
                  <a16:creationId xmlns:a16="http://schemas.microsoft.com/office/drawing/2014/main" id="{902EEFEC-2315-17E2-1F10-108CF32B0C68}"/>
                </a:ext>
              </a:extLst>
            </p:cNvPr>
            <p:cNvSpPr txBox="1"/>
            <p:nvPr/>
          </p:nvSpPr>
          <p:spPr>
            <a:xfrm>
              <a:off x="5644750" y="3989400"/>
              <a:ext cx="3360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5333">
                  <a:latin typeface="Lato"/>
                  <a:ea typeface="Lato"/>
                  <a:cs typeface="Lato"/>
                  <a:sym typeface="Lato"/>
                </a:rPr>
                <a:t>/</a:t>
              </a:r>
              <a:endParaRPr sz="5333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" name="Google Shape;2027;p144">
              <a:extLst>
                <a:ext uri="{FF2B5EF4-FFF2-40B4-BE49-F238E27FC236}">
                  <a16:creationId xmlns:a16="http://schemas.microsoft.com/office/drawing/2014/main" id="{068546D9-7784-0A48-7303-9DCBD6A1711B}"/>
                </a:ext>
              </a:extLst>
            </p:cNvPr>
            <p:cNvSpPr txBox="1"/>
            <p:nvPr/>
          </p:nvSpPr>
          <p:spPr>
            <a:xfrm>
              <a:off x="6499325" y="3989400"/>
              <a:ext cx="3360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5333">
                  <a:latin typeface="Lato"/>
                  <a:ea typeface="Lato"/>
                  <a:cs typeface="Lato"/>
                  <a:sym typeface="Lato"/>
                </a:rPr>
                <a:t>/</a:t>
              </a:r>
              <a:endParaRPr sz="5333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2028;p144">
              <a:extLst>
                <a:ext uri="{FF2B5EF4-FFF2-40B4-BE49-F238E27FC236}">
                  <a16:creationId xmlns:a16="http://schemas.microsoft.com/office/drawing/2014/main" id="{C5F6EDF5-EC56-645E-E335-5DBC4315CFC8}"/>
                </a:ext>
              </a:extLst>
            </p:cNvPr>
            <p:cNvSpPr txBox="1"/>
            <p:nvPr/>
          </p:nvSpPr>
          <p:spPr>
            <a:xfrm>
              <a:off x="7262550" y="3989400"/>
              <a:ext cx="3360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5333">
                  <a:latin typeface="Lato"/>
                  <a:ea typeface="Lato"/>
                  <a:cs typeface="Lato"/>
                  <a:sym typeface="Lato"/>
                </a:rPr>
                <a:t>/</a:t>
              </a:r>
              <a:endParaRPr sz="5333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" name="Google Shape;2029;p144">
              <a:extLst>
                <a:ext uri="{FF2B5EF4-FFF2-40B4-BE49-F238E27FC236}">
                  <a16:creationId xmlns:a16="http://schemas.microsoft.com/office/drawing/2014/main" id="{8301BD00-004C-6C45-C060-4BFF11852657}"/>
                </a:ext>
              </a:extLst>
            </p:cNvPr>
            <p:cNvSpPr txBox="1"/>
            <p:nvPr/>
          </p:nvSpPr>
          <p:spPr>
            <a:xfrm>
              <a:off x="987975" y="3940722"/>
              <a:ext cx="336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000">
                  <a:latin typeface="Lato"/>
                  <a:ea typeface="Lato"/>
                  <a:cs typeface="Lato"/>
                  <a:sym typeface="Lato"/>
                </a:rPr>
                <a:t>0</a:t>
              </a:r>
              <a:endParaRPr sz="2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" name="Google Shape;2030;p144">
              <a:extLst>
                <a:ext uri="{FF2B5EF4-FFF2-40B4-BE49-F238E27FC236}">
                  <a16:creationId xmlns:a16="http://schemas.microsoft.com/office/drawing/2014/main" id="{C4F86044-15BA-9179-8A1E-D1B9F844C1DB}"/>
                </a:ext>
              </a:extLst>
            </p:cNvPr>
            <p:cNvSpPr txBox="1"/>
            <p:nvPr/>
          </p:nvSpPr>
          <p:spPr>
            <a:xfrm>
              <a:off x="1807850" y="3940722"/>
              <a:ext cx="336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000" dirty="0">
                  <a:latin typeface="Lato"/>
                  <a:ea typeface="Lato"/>
                  <a:cs typeface="Lato"/>
                  <a:sym typeface="Lato"/>
                </a:rPr>
                <a:t>0</a:t>
              </a:r>
              <a:endParaRPr sz="200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1" name="Google Shape;2031;p144">
              <a:extLst>
                <a:ext uri="{FF2B5EF4-FFF2-40B4-BE49-F238E27FC236}">
                  <a16:creationId xmlns:a16="http://schemas.microsoft.com/office/drawing/2014/main" id="{EA26A455-4111-11AF-7B60-2B844D98625E}"/>
                </a:ext>
              </a:extLst>
            </p:cNvPr>
            <p:cNvSpPr txBox="1"/>
            <p:nvPr/>
          </p:nvSpPr>
          <p:spPr>
            <a:xfrm>
              <a:off x="4236000" y="3940722"/>
              <a:ext cx="336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000">
                  <a:latin typeface="Lato"/>
                  <a:ea typeface="Lato"/>
                  <a:cs typeface="Lato"/>
                  <a:sym typeface="Lato"/>
                </a:rPr>
                <a:t>0</a:t>
              </a:r>
              <a:endParaRPr sz="2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2" name="Google Shape;2032;p144">
              <a:extLst>
                <a:ext uri="{FF2B5EF4-FFF2-40B4-BE49-F238E27FC236}">
                  <a16:creationId xmlns:a16="http://schemas.microsoft.com/office/drawing/2014/main" id="{DE75661C-DDB0-5E9C-F066-7FB06FDF95CB}"/>
                </a:ext>
              </a:extLst>
            </p:cNvPr>
            <p:cNvSpPr txBox="1"/>
            <p:nvPr/>
          </p:nvSpPr>
          <p:spPr>
            <a:xfrm>
              <a:off x="5866225" y="3940722"/>
              <a:ext cx="336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000">
                  <a:latin typeface="Lato"/>
                  <a:ea typeface="Lato"/>
                  <a:cs typeface="Lato"/>
                  <a:sym typeface="Lato"/>
                </a:rPr>
                <a:t>0</a:t>
              </a:r>
              <a:endParaRPr sz="2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2033;p144">
              <a:extLst>
                <a:ext uri="{FF2B5EF4-FFF2-40B4-BE49-F238E27FC236}">
                  <a16:creationId xmlns:a16="http://schemas.microsoft.com/office/drawing/2014/main" id="{0F3E5C69-97AE-CCAA-E794-D279E6EF75A3}"/>
                </a:ext>
              </a:extLst>
            </p:cNvPr>
            <p:cNvSpPr txBox="1"/>
            <p:nvPr/>
          </p:nvSpPr>
          <p:spPr>
            <a:xfrm>
              <a:off x="6733225" y="3980247"/>
              <a:ext cx="336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000">
                  <a:latin typeface="Lato"/>
                  <a:ea typeface="Lato"/>
                  <a:cs typeface="Lato"/>
                  <a:sym typeface="Lato"/>
                </a:rPr>
                <a:t>0</a:t>
              </a:r>
              <a:endParaRPr sz="200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" name="Google Shape;2034;p144">
              <a:extLst>
                <a:ext uri="{FF2B5EF4-FFF2-40B4-BE49-F238E27FC236}">
                  <a16:creationId xmlns:a16="http://schemas.microsoft.com/office/drawing/2014/main" id="{AB77173A-6EF0-53EC-0300-5E76D3D6AA01}"/>
                </a:ext>
              </a:extLst>
            </p:cNvPr>
            <p:cNvSpPr txBox="1"/>
            <p:nvPr/>
          </p:nvSpPr>
          <p:spPr>
            <a:xfrm>
              <a:off x="7496450" y="3940722"/>
              <a:ext cx="3360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en" sz="2000">
                  <a:latin typeface="Lato"/>
                  <a:ea typeface="Lato"/>
                  <a:cs typeface="Lato"/>
                  <a:sym typeface="Lato"/>
                </a:rPr>
                <a:t>0</a:t>
              </a:r>
              <a:endParaRPr sz="20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5" name="Google Shape;2019;p144">
            <a:extLst>
              <a:ext uri="{FF2B5EF4-FFF2-40B4-BE49-F238E27FC236}">
                <a16:creationId xmlns:a16="http://schemas.microsoft.com/office/drawing/2014/main" id="{970DA76B-D074-16F4-9849-E0BDB32817A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9468" y="2446715"/>
            <a:ext cx="3880801" cy="97502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40B622D-5D23-8097-CFAA-38639101178F}"/>
              </a:ext>
            </a:extLst>
          </p:cNvPr>
          <p:cNvSpPr txBox="1"/>
          <p:nvPr/>
        </p:nvSpPr>
        <p:spPr>
          <a:xfrm>
            <a:off x="2740360" y="2022448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L1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224809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0B53-ACBF-CE1E-7E38-26C5A0BE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502D09-317D-1E93-EE56-806344F8DBBC}"/>
              </a:ext>
            </a:extLst>
          </p:cNvPr>
          <p:cNvSpPr txBox="1"/>
          <p:nvPr/>
        </p:nvSpPr>
        <p:spPr>
          <a:xfrm>
            <a:off x="778600" y="508666"/>
            <a:ext cx="17091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Overfitting!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0D08C-48A9-4275-1B5A-CB1613128D0D}"/>
              </a:ext>
            </a:extLst>
          </p:cNvPr>
          <p:cNvSpPr txBox="1"/>
          <p:nvPr/>
        </p:nvSpPr>
        <p:spPr>
          <a:xfrm>
            <a:off x="778600" y="1880702"/>
            <a:ext cx="4645170" cy="344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During training (only training), dropout randomly deactivates nodes, forcing the ANN to learn more robust patterns and distribute responsibility across all nodes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reducing over-reliance on specific ones.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-webkit-standard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Testing then involves </a:t>
            </a:r>
            <a:r>
              <a:rPr lang="en-US" sz="1800" b="1" dirty="0"/>
              <a:t>freezing</a:t>
            </a:r>
            <a:r>
              <a:rPr lang="en-US" sz="1800" dirty="0"/>
              <a:t> the weights, and using the ANN as a predictor function.</a:t>
            </a:r>
          </a:p>
          <a:p>
            <a:pPr algn="just"/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7" name="Google Shape;2042;p145">
            <a:extLst>
              <a:ext uri="{FF2B5EF4-FFF2-40B4-BE49-F238E27FC236}">
                <a16:creationId xmlns:a16="http://schemas.microsoft.com/office/drawing/2014/main" id="{46C07318-EF12-D491-DEEE-3EB384E383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880702"/>
            <a:ext cx="5633000" cy="28057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43;p145">
            <a:extLst>
              <a:ext uri="{FF2B5EF4-FFF2-40B4-BE49-F238E27FC236}">
                <a16:creationId xmlns:a16="http://schemas.microsoft.com/office/drawing/2014/main" id="{384F10ED-1B2D-EFA4-DFD3-2E25C99F8DEB}"/>
              </a:ext>
            </a:extLst>
          </p:cNvPr>
          <p:cNvSpPr txBox="1"/>
          <p:nvPr/>
        </p:nvSpPr>
        <p:spPr>
          <a:xfrm>
            <a:off x="6142400" y="4983592"/>
            <a:ext cx="6049600" cy="10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03195">
              <a:lnSpc>
                <a:spcPct val="115000"/>
              </a:lnSpc>
              <a:buClr>
                <a:schemeClr val="accent6"/>
              </a:buClr>
              <a:buSzPts val="1200"/>
            </a:pPr>
            <a:r>
              <a:rPr lang="en-US" sz="1600" dirty="0"/>
              <a:t>Requires user to select dropout rate (typically 50-80%) and increases training epochs.</a:t>
            </a:r>
            <a:endParaRPr sz="1600" i="1" dirty="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30F5A-466A-BFFC-F27C-0A268C03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CDB6B-4887-2E3F-ABA9-92DB5388BC7E}"/>
              </a:ext>
            </a:extLst>
          </p:cNvPr>
          <p:cNvSpPr txBox="1"/>
          <p:nvPr/>
        </p:nvSpPr>
        <p:spPr>
          <a:xfrm>
            <a:off x="6460848" y="5768511"/>
            <a:ext cx="17459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Apaydin</a:t>
            </a:r>
            <a:r>
              <a:rPr lang="en-US" sz="1100" dirty="0"/>
              <a:t> et al, 2020, water</a:t>
            </a:r>
          </a:p>
        </p:txBody>
      </p:sp>
    </p:spTree>
    <p:extLst>
      <p:ext uri="{BB962C8B-B14F-4D97-AF65-F5344CB8AC3E}">
        <p14:creationId xmlns:p14="http://schemas.microsoft.com/office/powerpoint/2010/main" val="2621349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9BBE-DCFD-D769-A63C-63103C21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8FEE47-4009-84C6-4EED-25439C6F45CC}"/>
              </a:ext>
            </a:extLst>
          </p:cNvPr>
          <p:cNvSpPr txBox="1"/>
          <p:nvPr/>
        </p:nvSpPr>
        <p:spPr>
          <a:xfrm>
            <a:off x="3149520" y="3152001"/>
            <a:ext cx="58929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sz="3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Neural Networks</a:t>
            </a:r>
            <a:endParaRPr lang="en-US" sz="30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77D307-BBC0-B11D-CAE6-545903FD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33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4B60-E8F2-D952-8493-8C6091BE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DF7014-A04F-17A1-CB37-68AE5B564D28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2318;p174">
            <a:extLst>
              <a:ext uri="{FF2B5EF4-FFF2-40B4-BE49-F238E27FC236}">
                <a16:creationId xmlns:a16="http://schemas.microsoft.com/office/drawing/2014/main" id="{95C90AF5-4F25-982A-78D3-D5AFFD555B3A}"/>
              </a:ext>
            </a:extLst>
          </p:cNvPr>
          <p:cNvSpPr txBox="1"/>
          <p:nvPr/>
        </p:nvSpPr>
        <p:spPr>
          <a:xfrm>
            <a:off x="9035893" y="1802858"/>
            <a:ext cx="2442000" cy="10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rgbClr val="222222"/>
                </a:solidFill>
                <a:highlight>
                  <a:srgbClr val="FFFFFF"/>
                </a:highlight>
              </a:rPr>
              <a:t>Benefits:</a:t>
            </a:r>
            <a:endParaRPr sz="1300" b="1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AutoNum type="arabicPeriod"/>
            </a:pPr>
            <a:r>
              <a:rPr lang="en" sz="1300" dirty="0">
                <a:solidFill>
                  <a:srgbClr val="222222"/>
                </a:solidFill>
                <a:highlight>
                  <a:srgbClr val="FFFFFF"/>
                </a:highlight>
              </a:rPr>
              <a:t>maintain spatial info</a:t>
            </a:r>
            <a:endParaRPr sz="13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AutoNum type="arabicPeriod"/>
            </a:pPr>
            <a:r>
              <a:rPr lang="en" sz="1300" dirty="0">
                <a:solidFill>
                  <a:srgbClr val="222222"/>
                </a:solidFill>
                <a:highlight>
                  <a:srgbClr val="FFFFFF"/>
                </a:highlight>
              </a:rPr>
              <a:t>fewer weights &amp; biases (faster training and lower chance of overfitting)</a:t>
            </a:r>
            <a:endParaRPr sz="1300" dirty="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128225-A2F2-A1D7-A282-676E0C174C3F}"/>
              </a:ext>
            </a:extLst>
          </p:cNvPr>
          <p:cNvGrpSpPr/>
          <p:nvPr/>
        </p:nvGrpSpPr>
        <p:grpSpPr>
          <a:xfrm>
            <a:off x="2590639" y="939310"/>
            <a:ext cx="5885451" cy="2964782"/>
            <a:chOff x="336775" y="575350"/>
            <a:chExt cx="8161225" cy="4258325"/>
          </a:xfrm>
        </p:grpSpPr>
        <p:pic>
          <p:nvPicPr>
            <p:cNvPr id="3" name="Google Shape;2312;p174">
              <a:extLst>
                <a:ext uri="{FF2B5EF4-FFF2-40B4-BE49-F238E27FC236}">
                  <a16:creationId xmlns:a16="http://schemas.microsoft.com/office/drawing/2014/main" id="{B6B61023-5BB4-0077-4AAC-C838A99E28F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82775" y="1137975"/>
              <a:ext cx="7515225" cy="3695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" name="Google Shape;2314;p174">
              <a:extLst>
                <a:ext uri="{FF2B5EF4-FFF2-40B4-BE49-F238E27FC236}">
                  <a16:creationId xmlns:a16="http://schemas.microsoft.com/office/drawing/2014/main" id="{839A88BE-F5CC-456A-4DC9-A378416E5ABC}"/>
                </a:ext>
              </a:extLst>
            </p:cNvPr>
            <p:cNvGrpSpPr/>
            <p:nvPr/>
          </p:nvGrpSpPr>
          <p:grpSpPr>
            <a:xfrm>
              <a:off x="3513750" y="575350"/>
              <a:ext cx="3399150" cy="804600"/>
              <a:chOff x="3513750" y="575350"/>
              <a:chExt cx="3399150" cy="804600"/>
            </a:xfrm>
          </p:grpSpPr>
          <p:sp>
            <p:nvSpPr>
              <p:cNvPr id="11" name="Google Shape;2315;p174">
                <a:extLst>
                  <a:ext uri="{FF2B5EF4-FFF2-40B4-BE49-F238E27FC236}">
                    <a16:creationId xmlns:a16="http://schemas.microsoft.com/office/drawing/2014/main" id="{3ABE01B8-0CDE-297B-F2F8-D6BD4877C062}"/>
                  </a:ext>
                </a:extLst>
              </p:cNvPr>
              <p:cNvSpPr/>
              <p:nvPr/>
            </p:nvSpPr>
            <p:spPr>
              <a:xfrm>
                <a:off x="3513750" y="744550"/>
                <a:ext cx="1130100" cy="635400"/>
              </a:xfrm>
              <a:prstGeom prst="bentArrow">
                <a:avLst>
                  <a:gd name="adj1" fmla="val 10215"/>
                  <a:gd name="adj2" fmla="val 12129"/>
                  <a:gd name="adj3" fmla="val 21700"/>
                  <a:gd name="adj4" fmla="val 4375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316;p174">
                <a:extLst>
                  <a:ext uri="{FF2B5EF4-FFF2-40B4-BE49-F238E27FC236}">
                    <a16:creationId xmlns:a16="http://schemas.microsoft.com/office/drawing/2014/main" id="{135EAC8D-E6B3-6A6A-1563-0B73EF71875B}"/>
                  </a:ext>
                </a:extLst>
              </p:cNvPr>
              <p:cNvSpPr txBox="1"/>
              <p:nvPr/>
            </p:nvSpPr>
            <p:spPr>
              <a:xfrm>
                <a:off x="4572000" y="575350"/>
                <a:ext cx="2340900" cy="3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Lato"/>
                    <a:ea typeface="Lato"/>
                    <a:cs typeface="Lato"/>
                    <a:sym typeface="Lato"/>
                  </a:rPr>
                  <a:t>Convolutional Layer</a:t>
                </a:r>
                <a:endParaRPr sz="1800" b="1"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5" name="Google Shape;2319;p174">
              <a:extLst>
                <a:ext uri="{FF2B5EF4-FFF2-40B4-BE49-F238E27FC236}">
                  <a16:creationId xmlns:a16="http://schemas.microsoft.com/office/drawing/2014/main" id="{EBD95581-AC82-CA4C-872F-87BF83EC4C1C}"/>
                </a:ext>
              </a:extLst>
            </p:cNvPr>
            <p:cNvSpPr txBox="1">
              <a:spLocks/>
            </p:cNvSpPr>
            <p:nvPr/>
          </p:nvSpPr>
          <p:spPr>
            <a:xfrm>
              <a:off x="7157975" y="2250638"/>
              <a:ext cx="1064378" cy="818892"/>
            </a:xfrm>
            <a:prstGeom prst="rect">
              <a:avLst/>
            </a:prstGeom>
            <a:solidFill>
              <a:srgbClr val="FFFFFF"/>
            </a:solidFill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1600"/>
                </a:spcAft>
              </a:pPr>
              <a:r>
                <a:rPr lang="en-US" sz="1600" b="1" dirty="0"/>
                <a:t>Cat or Dog?</a:t>
              </a:r>
              <a:endParaRPr lang="en-US" sz="1600" b="1" dirty="0">
                <a:solidFill>
                  <a:srgbClr val="01CF01"/>
                </a:solidFill>
              </a:endParaRPr>
            </a:p>
          </p:txBody>
        </p:sp>
        <p:pic>
          <p:nvPicPr>
            <p:cNvPr id="19460" name="Picture 4" descr="You Don't Have a Clue What Your Dog Is Feeling">
              <a:extLst>
                <a:ext uri="{FF2B5EF4-FFF2-40B4-BE49-F238E27FC236}">
                  <a16:creationId xmlns:a16="http://schemas.microsoft.com/office/drawing/2014/main" id="{9CD46670-4D68-697F-1C77-3657179923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775" y="1599267"/>
              <a:ext cx="2043127" cy="2392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2A7F7ED-3969-DA39-B65D-3DDF9667DE40}"/>
              </a:ext>
            </a:extLst>
          </p:cNvPr>
          <p:cNvSpPr txBox="1"/>
          <p:nvPr/>
        </p:nvSpPr>
        <p:spPr>
          <a:xfrm>
            <a:off x="421159" y="2145142"/>
            <a:ext cx="1824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vision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EC9D887-EECC-74AA-46FC-5E63C97623F7}"/>
              </a:ext>
            </a:extLst>
          </p:cNvPr>
          <p:cNvGrpSpPr/>
          <p:nvPr/>
        </p:nvGrpSpPr>
        <p:grpSpPr>
          <a:xfrm>
            <a:off x="222637" y="939310"/>
            <a:ext cx="11969363" cy="5970986"/>
            <a:chOff x="222637" y="939310"/>
            <a:chExt cx="11969363" cy="597098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BFD692F-A398-ADDD-D5D4-77323031859B}"/>
                </a:ext>
              </a:extLst>
            </p:cNvPr>
            <p:cNvGrpSpPr/>
            <p:nvPr/>
          </p:nvGrpSpPr>
          <p:grpSpPr>
            <a:xfrm>
              <a:off x="285700" y="4001243"/>
              <a:ext cx="9351281" cy="2909053"/>
              <a:chOff x="285700" y="4001243"/>
              <a:chExt cx="9351281" cy="2909053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469405-A7FF-9B8A-AE80-92EFB8941AA6}"/>
                  </a:ext>
                </a:extLst>
              </p:cNvPr>
              <p:cNvSpPr txBox="1"/>
              <p:nvPr/>
            </p:nvSpPr>
            <p:spPr>
              <a:xfrm>
                <a:off x="285700" y="5271103"/>
                <a:ext cx="14996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Earth System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52BE7BC-0710-DC7D-8CD7-B39161C0F835}"/>
                  </a:ext>
                </a:extLst>
              </p:cNvPr>
              <p:cNvGrpSpPr/>
              <p:nvPr/>
            </p:nvGrpSpPr>
            <p:grpSpPr>
              <a:xfrm>
                <a:off x="1981200" y="4001243"/>
                <a:ext cx="7655781" cy="2909053"/>
                <a:chOff x="1981200" y="4001243"/>
                <a:chExt cx="7655781" cy="2909053"/>
              </a:xfrm>
            </p:grpSpPr>
            <p:pic>
              <p:nvPicPr>
                <p:cNvPr id="18" name="Google Shape;2232;p165">
                  <a:extLst>
                    <a:ext uri="{FF2B5EF4-FFF2-40B4-BE49-F238E27FC236}">
                      <a16:creationId xmlns:a16="http://schemas.microsoft.com/office/drawing/2014/main" id="{4E2FABEB-DCD3-8714-A775-F1286DFC15C3}"/>
                    </a:ext>
                  </a:extLst>
                </p:cNvPr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981200" y="4001243"/>
                  <a:ext cx="7655781" cy="29090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" name="Google Shape;2233;p165">
                  <a:extLst>
                    <a:ext uri="{FF2B5EF4-FFF2-40B4-BE49-F238E27FC236}">
                      <a16:creationId xmlns:a16="http://schemas.microsoft.com/office/drawing/2014/main" id="{222C67BD-2ADD-FFD4-583A-70A9E72BA22B}"/>
                    </a:ext>
                  </a:extLst>
                </p:cNvPr>
                <p:cNvSpPr txBox="1"/>
                <p:nvPr/>
              </p:nvSpPr>
              <p:spPr>
                <a:xfrm>
                  <a:off x="2246146" y="6402964"/>
                  <a:ext cx="1824254" cy="43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0" dirty="0">
                      <a:latin typeface="Lato"/>
                      <a:ea typeface="Lato"/>
                      <a:cs typeface="Lato"/>
                      <a:sym typeface="Lato"/>
                    </a:rPr>
                    <a:t>Toms et al., </a:t>
                  </a:r>
                  <a:r>
                    <a:rPr lang="en" sz="1000" i="1" dirty="0">
                      <a:latin typeface="Lato"/>
                      <a:ea typeface="Lato"/>
                      <a:cs typeface="Lato"/>
                      <a:sym typeface="Lato"/>
                    </a:rPr>
                    <a:t>JAMES</a:t>
                  </a:r>
                  <a:r>
                    <a:rPr lang="en" sz="1000" dirty="0">
                      <a:latin typeface="Lato"/>
                      <a:ea typeface="Lato"/>
                      <a:cs typeface="Lato"/>
                      <a:sym typeface="Lato"/>
                    </a:rPr>
                    <a:t> (2020)</a:t>
                  </a:r>
                  <a:endParaRPr sz="1000" dirty="0"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F2500B-BF9D-8DF5-7809-ABFAEC408386}"/>
                </a:ext>
              </a:extLst>
            </p:cNvPr>
            <p:cNvSpPr/>
            <p:nvPr/>
          </p:nvSpPr>
          <p:spPr>
            <a:xfrm>
              <a:off x="222637" y="939310"/>
              <a:ext cx="11969363" cy="3061933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BDA8CC-7AB7-42BA-8C21-7BBA006A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6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E546-9380-6378-06B9-30DDC39B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A2ECE2-22A5-0903-6C54-6545786F496F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0222F-1B03-26C2-96A2-1FA3D458F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1648" y="904345"/>
            <a:ext cx="385638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CA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100x100 image size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CA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1000 hidden units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CA" altLang="en-US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10M</a:t>
            </a:r>
            <a:r>
              <a:rPr lang="en-CA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parameters only in one layers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D32AF81-5505-48E6-B956-4CBD9B441A0F}"/>
              </a:ext>
            </a:extLst>
          </p:cNvPr>
          <p:cNvGrpSpPr/>
          <p:nvPr/>
        </p:nvGrpSpPr>
        <p:grpSpPr>
          <a:xfrm>
            <a:off x="299326" y="1338703"/>
            <a:ext cx="6853541" cy="5221136"/>
            <a:chOff x="299326" y="1338703"/>
            <a:chExt cx="6853541" cy="522113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5650094-2DD9-0104-EF23-248A28A40440}"/>
                </a:ext>
              </a:extLst>
            </p:cNvPr>
            <p:cNvGrpSpPr/>
            <p:nvPr/>
          </p:nvGrpSpPr>
          <p:grpSpPr>
            <a:xfrm>
              <a:off x="299326" y="1338703"/>
              <a:ext cx="6853541" cy="5217153"/>
              <a:chOff x="299326" y="1338703"/>
              <a:chExt cx="6853541" cy="5217153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C94AB25A-FCBB-6F73-0581-B5CD35DF9079}"/>
                  </a:ext>
                </a:extLst>
              </p:cNvPr>
              <p:cNvGrpSpPr/>
              <p:nvPr/>
            </p:nvGrpSpPr>
            <p:grpSpPr>
              <a:xfrm>
                <a:off x="299326" y="1338703"/>
                <a:ext cx="6853541" cy="3575203"/>
                <a:chOff x="636588" y="1601096"/>
                <a:chExt cx="8706195" cy="4575867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17FFFAB4-7E56-B9FF-D361-E4DC40F7FB27}"/>
                    </a:ext>
                  </a:extLst>
                </p:cNvPr>
                <p:cNvGrpSpPr/>
                <p:nvPr/>
              </p:nvGrpSpPr>
              <p:grpSpPr>
                <a:xfrm>
                  <a:off x="636588" y="1887538"/>
                  <a:ext cx="8440737" cy="4289425"/>
                  <a:chOff x="636588" y="1887538"/>
                  <a:chExt cx="8440737" cy="4289425"/>
                </a:xfrm>
              </p:grpSpPr>
              <p:pic>
                <p:nvPicPr>
                  <p:cNvPr id="2" name="Picture 3">
                    <a:extLst>
                      <a:ext uri="{FF2B5EF4-FFF2-40B4-BE49-F238E27FC236}">
                        <a16:creationId xmlns:a16="http://schemas.microsoft.com/office/drawing/2014/main" id="{13FDA576-2674-C4BF-09B3-B76FA44A95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6588" y="1887538"/>
                    <a:ext cx="8331200" cy="42259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" name="Rounded Rectangle 3">
                    <a:extLst>
                      <a:ext uri="{FF2B5EF4-FFF2-40B4-BE49-F238E27FC236}">
                        <a16:creationId xmlns:a16="http://schemas.microsoft.com/office/drawing/2014/main" id="{FD242E25-49C2-875B-C158-BCB23AA03B70}"/>
                      </a:ext>
                    </a:extLst>
                  </p:cNvPr>
                  <p:cNvSpPr/>
                  <p:nvPr/>
                </p:nvSpPr>
                <p:spPr>
                  <a:xfrm>
                    <a:off x="3429000" y="5194300"/>
                    <a:ext cx="5648325" cy="982663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CA"/>
                  </a:p>
                </p:txBody>
              </p: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B756F894-1C1E-0094-16D1-2FC9908A70F5}"/>
                    </a:ext>
                  </a:extLst>
                </p:cNvPr>
                <p:cNvSpPr/>
                <p:nvPr/>
              </p:nvSpPr>
              <p:spPr>
                <a:xfrm>
                  <a:off x="5064980" y="1601096"/>
                  <a:ext cx="4277803" cy="14865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77E41435-1C0A-6EFC-B9BC-6770CB1DF317}"/>
                  </a:ext>
                </a:extLst>
              </p:cNvPr>
              <p:cNvCxnSpPr/>
              <p:nvPr/>
            </p:nvCxnSpPr>
            <p:spPr>
              <a:xfrm>
                <a:off x="3189021" y="3317682"/>
                <a:ext cx="1192695" cy="642068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4921B9-2690-3152-E281-A83301E25DA9}"/>
                  </a:ext>
                </a:extLst>
              </p:cNvPr>
              <p:cNvSpPr txBox="1"/>
              <p:nvPr/>
            </p:nvSpPr>
            <p:spPr>
              <a:xfrm rot="1758435">
                <a:off x="3505907" y="3346940"/>
                <a:ext cx="8851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Flatten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91233F4-8443-13E4-F477-6F4052AB0A9D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3400261" y="4721573"/>
                    <a:ext cx="1571649" cy="3912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𝑝𝑖𝑥𝑒𝑙𝑠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91233F4-8443-13E4-F477-6F4052AB0A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3400261" y="4721573"/>
                    <a:ext cx="1571649" cy="3912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EEF8E18-F1BC-E23F-0F14-CBA0E2771F7B}"/>
                      </a:ext>
                    </a:extLst>
                  </p:cNvPr>
                  <p:cNvSpPr txBox="1"/>
                  <p:nvPr/>
                </p:nvSpPr>
                <p:spPr>
                  <a:xfrm>
                    <a:off x="4424831" y="1939703"/>
                    <a:ext cx="1086772" cy="39126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EEF8E18-F1BC-E23F-0F14-CBA0E2771F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4831" y="1939703"/>
                    <a:ext cx="1086772" cy="39126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1163" b="-9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8914050-C2EF-0DFD-DD6A-3BBBC3211156}"/>
                  </a:ext>
                </a:extLst>
              </p:cNvPr>
              <p:cNvSpPr/>
              <p:nvPr/>
            </p:nvSpPr>
            <p:spPr>
              <a:xfrm>
                <a:off x="4445208" y="2504183"/>
                <a:ext cx="127221" cy="405167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A9C8B8A-0289-C170-A298-999844C106E1}"/>
                  </a:ext>
                </a:extLst>
              </p:cNvPr>
              <p:cNvSpPr/>
              <p:nvPr/>
            </p:nvSpPr>
            <p:spPr>
              <a:xfrm>
                <a:off x="4576904" y="2409246"/>
                <a:ext cx="448749" cy="4142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D3A5FC5-48EC-70D8-1AA0-62DBCFBBA60F}"/>
                </a:ext>
              </a:extLst>
            </p:cNvPr>
            <p:cNvSpPr/>
            <p:nvPr/>
          </p:nvSpPr>
          <p:spPr>
            <a:xfrm>
              <a:off x="4898003" y="2500202"/>
              <a:ext cx="246491" cy="25094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4FAF622-55A6-3015-D662-A0B02189A42E}"/>
                </a:ext>
              </a:extLst>
            </p:cNvPr>
            <p:cNvSpPr/>
            <p:nvPr/>
          </p:nvSpPr>
          <p:spPr>
            <a:xfrm>
              <a:off x="4887004" y="2867075"/>
              <a:ext cx="246491" cy="25094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15676E4-0F59-75E0-6E9A-C62AAF5BA219}"/>
                </a:ext>
              </a:extLst>
            </p:cNvPr>
            <p:cNvSpPr/>
            <p:nvPr/>
          </p:nvSpPr>
          <p:spPr>
            <a:xfrm>
              <a:off x="4887004" y="3244312"/>
              <a:ext cx="246491" cy="25094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80984AF-5127-8B3E-BA9A-37BA9EBFA5F1}"/>
                </a:ext>
              </a:extLst>
            </p:cNvPr>
            <p:cNvSpPr/>
            <p:nvPr/>
          </p:nvSpPr>
          <p:spPr>
            <a:xfrm>
              <a:off x="4887004" y="3610172"/>
              <a:ext cx="246491" cy="25094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211B2A0-FEB2-3C7B-711F-2A8A0B877BA6}"/>
                </a:ext>
              </a:extLst>
            </p:cNvPr>
            <p:cNvSpPr/>
            <p:nvPr/>
          </p:nvSpPr>
          <p:spPr>
            <a:xfrm>
              <a:off x="4894027" y="3981520"/>
              <a:ext cx="246491" cy="25094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B5ADA46-CC36-F00B-3902-22689109BD9C}"/>
                </a:ext>
              </a:extLst>
            </p:cNvPr>
            <p:cNvSpPr/>
            <p:nvPr/>
          </p:nvSpPr>
          <p:spPr>
            <a:xfrm>
              <a:off x="4894027" y="4343848"/>
              <a:ext cx="246491" cy="25094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0BBF8F-DB10-BD83-DA8D-6E8E6910EF2E}"/>
                </a:ext>
              </a:extLst>
            </p:cNvPr>
            <p:cNvSpPr/>
            <p:nvPr/>
          </p:nvSpPr>
          <p:spPr>
            <a:xfrm>
              <a:off x="4884727" y="6308890"/>
              <a:ext cx="246491" cy="25094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98FCE29-6D08-7A23-82F4-6B11A25017CE}"/>
                    </a:ext>
                  </a:extLst>
                </p:cNvPr>
                <p:cNvSpPr txBox="1"/>
                <p:nvPr/>
              </p:nvSpPr>
              <p:spPr>
                <a:xfrm rot="16200000">
                  <a:off x="3313267" y="3809298"/>
                  <a:ext cx="2789418" cy="3912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𝑙𝑎𝑦𝑒𝑟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𝑛𝑜𝑑𝑒𝑠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98FCE29-6D08-7A23-82F4-6B11A2501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13267" y="3809298"/>
                  <a:ext cx="2789418" cy="391261"/>
                </a:xfrm>
                <a:prstGeom prst="rect">
                  <a:avLst/>
                </a:prstGeom>
                <a:blipFill>
                  <a:blip r:embed="rId6"/>
                  <a:stretch>
                    <a:fillRect r="-129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35DA80-2180-751A-D27C-F50CE62EF0F0}"/>
              </a:ext>
            </a:extLst>
          </p:cNvPr>
          <p:cNvCxnSpPr>
            <a:cxnSpLocks/>
          </p:cNvCxnSpPr>
          <p:nvPr/>
        </p:nvCxnSpPr>
        <p:spPr>
          <a:xfrm>
            <a:off x="5007972" y="4758160"/>
            <a:ext cx="1" cy="144459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507" name="Group 19506">
            <a:extLst>
              <a:ext uri="{FF2B5EF4-FFF2-40B4-BE49-F238E27FC236}">
                <a16:creationId xmlns:a16="http://schemas.microsoft.com/office/drawing/2014/main" id="{CBDDBB84-6176-B9D4-4DC1-69AD435B036B}"/>
              </a:ext>
            </a:extLst>
          </p:cNvPr>
          <p:cNvGrpSpPr/>
          <p:nvPr/>
        </p:nvGrpSpPr>
        <p:grpSpPr>
          <a:xfrm>
            <a:off x="5363964" y="2517336"/>
            <a:ext cx="6904076" cy="3123341"/>
            <a:chOff x="5367130" y="2500202"/>
            <a:chExt cx="6904076" cy="312334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C134E7A-5262-774B-B5B8-AD2089C0FE27}"/>
                </a:ext>
              </a:extLst>
            </p:cNvPr>
            <p:cNvSpPr txBox="1"/>
            <p:nvPr/>
          </p:nvSpPr>
          <p:spPr>
            <a:xfrm rot="16200000">
              <a:off x="4736937" y="3932215"/>
              <a:ext cx="3013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Feedforward Full Connected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5336C2A-4AAA-1E54-4E91-F498E6614B0B}"/>
                </a:ext>
              </a:extLst>
            </p:cNvPr>
            <p:cNvCxnSpPr/>
            <p:nvPr/>
          </p:nvCxnSpPr>
          <p:spPr>
            <a:xfrm>
              <a:off x="5367130" y="4106994"/>
              <a:ext cx="728870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F112297-7A07-9CEE-730D-E650F37053FB}"/>
                </a:ext>
              </a:extLst>
            </p:cNvPr>
            <p:cNvCxnSpPr/>
            <p:nvPr/>
          </p:nvCxnSpPr>
          <p:spPr>
            <a:xfrm>
              <a:off x="6492001" y="4122282"/>
              <a:ext cx="728870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502" name="Group 19501">
              <a:extLst>
                <a:ext uri="{FF2B5EF4-FFF2-40B4-BE49-F238E27FC236}">
                  <a16:creationId xmlns:a16="http://schemas.microsoft.com/office/drawing/2014/main" id="{A7D33457-B54D-8E08-3C9B-E16177C91015}"/>
                </a:ext>
              </a:extLst>
            </p:cNvPr>
            <p:cNvGrpSpPr/>
            <p:nvPr/>
          </p:nvGrpSpPr>
          <p:grpSpPr>
            <a:xfrm>
              <a:off x="7374904" y="2500202"/>
              <a:ext cx="3923845" cy="2807140"/>
              <a:chOff x="7517509" y="2500202"/>
              <a:chExt cx="3923845" cy="2807140"/>
            </a:xfrm>
          </p:grpSpPr>
          <p:grpSp>
            <p:nvGrpSpPr>
              <p:cNvPr id="19470" name="Group 19469">
                <a:extLst>
                  <a:ext uri="{FF2B5EF4-FFF2-40B4-BE49-F238E27FC236}">
                    <a16:creationId xmlns:a16="http://schemas.microsoft.com/office/drawing/2014/main" id="{28B90050-8C44-5B0C-23A8-E93D0D59EA39}"/>
                  </a:ext>
                </a:extLst>
              </p:cNvPr>
              <p:cNvGrpSpPr/>
              <p:nvPr/>
            </p:nvGrpSpPr>
            <p:grpSpPr>
              <a:xfrm>
                <a:off x="8969337" y="3400825"/>
                <a:ext cx="367554" cy="1586753"/>
                <a:chOff x="1927411" y="1976717"/>
                <a:chExt cx="367554" cy="158675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492" name="Oval 19491">
                      <a:extLst>
                        <a:ext uri="{FF2B5EF4-FFF2-40B4-BE49-F238E27FC236}">
                          <a16:creationId xmlns:a16="http://schemas.microsoft.com/office/drawing/2014/main" id="{E46F76B7-72D1-C62C-B000-02AC091583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3" y="1976717"/>
                      <a:ext cx="367552" cy="35858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492" name="Oval 19491">
                      <a:extLst>
                        <a:ext uri="{FF2B5EF4-FFF2-40B4-BE49-F238E27FC236}">
                          <a16:creationId xmlns:a16="http://schemas.microsoft.com/office/drawing/2014/main" id="{E46F76B7-72D1-C62C-B000-02AC091583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3" y="1976717"/>
                      <a:ext cx="367552" cy="358588"/>
                    </a:xfrm>
                    <a:prstGeom prst="ellipse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493" name="Oval 19492">
                      <a:extLst>
                        <a:ext uri="{FF2B5EF4-FFF2-40B4-BE49-F238E27FC236}">
                          <a16:creationId xmlns:a16="http://schemas.microsoft.com/office/drawing/2014/main" id="{D14F98AD-5E59-A285-6530-E876796D71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1" y="2523565"/>
                      <a:ext cx="367552" cy="35858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493" name="Oval 19492">
                      <a:extLst>
                        <a:ext uri="{FF2B5EF4-FFF2-40B4-BE49-F238E27FC236}">
                          <a16:creationId xmlns:a16="http://schemas.microsoft.com/office/drawing/2014/main" id="{D14F98AD-5E59-A285-6530-E876796D719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1" y="2523565"/>
                      <a:ext cx="367552" cy="358588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494" name="Oval 19493">
                      <a:extLst>
                        <a:ext uri="{FF2B5EF4-FFF2-40B4-BE49-F238E27FC236}">
                          <a16:creationId xmlns:a16="http://schemas.microsoft.com/office/drawing/2014/main" id="{6C08F8D2-0C9D-C0EF-0B02-D6DD93DE9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27411" y="3204882"/>
                      <a:ext cx="367552" cy="358588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494" name="Oval 19493">
                      <a:extLst>
                        <a:ext uri="{FF2B5EF4-FFF2-40B4-BE49-F238E27FC236}">
                          <a16:creationId xmlns:a16="http://schemas.microsoft.com/office/drawing/2014/main" id="{6C08F8D2-0C9D-C0EF-0B02-D6DD93DE933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27411" y="3204882"/>
                      <a:ext cx="367552" cy="358588"/>
                    </a:xfrm>
                    <a:prstGeom prst="ellipse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71" name="Oval 19470">
                    <a:extLst>
                      <a:ext uri="{FF2B5EF4-FFF2-40B4-BE49-F238E27FC236}">
                        <a16:creationId xmlns:a16="http://schemas.microsoft.com/office/drawing/2014/main" id="{13C1B5EC-1EEA-7E9B-0D74-1015FB3FFEE0}"/>
                      </a:ext>
                    </a:extLst>
                  </p:cNvPr>
                  <p:cNvSpPr/>
                  <p:nvPr/>
                </p:nvSpPr>
                <p:spPr>
                  <a:xfrm>
                    <a:off x="10811582" y="3875953"/>
                    <a:ext cx="367552" cy="358588"/>
                  </a:xfrm>
                  <a:prstGeom prst="ellipse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471" name="Oval 19470">
                    <a:extLst>
                      <a:ext uri="{FF2B5EF4-FFF2-40B4-BE49-F238E27FC236}">
                        <a16:creationId xmlns:a16="http://schemas.microsoft.com/office/drawing/2014/main" id="{13C1B5EC-1EEA-7E9B-0D74-1015FB3FFEE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11582" y="3875953"/>
                    <a:ext cx="367552" cy="358588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472" name="Straight Arrow Connector 19471">
                <a:extLst>
                  <a:ext uri="{FF2B5EF4-FFF2-40B4-BE49-F238E27FC236}">
                    <a16:creationId xmlns:a16="http://schemas.microsoft.com/office/drawing/2014/main" id="{CE36F312-36AB-DCFD-9066-761B3F61E2F1}"/>
                  </a:ext>
                </a:extLst>
              </p:cNvPr>
              <p:cNvCxnSpPr>
                <a:cxnSpLocks/>
                <a:endCxn id="19471" idx="2"/>
              </p:cNvCxnSpPr>
              <p:nvPr/>
            </p:nvCxnSpPr>
            <p:spPr>
              <a:xfrm>
                <a:off x="9336885" y="3527532"/>
                <a:ext cx="1474697" cy="52771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3" name="Straight Arrow Connector 19472">
                <a:extLst>
                  <a:ext uri="{FF2B5EF4-FFF2-40B4-BE49-F238E27FC236}">
                    <a16:creationId xmlns:a16="http://schemas.microsoft.com/office/drawing/2014/main" id="{2E984026-EEC9-E7EB-7F48-413CF949A7AA}"/>
                  </a:ext>
                </a:extLst>
              </p:cNvPr>
              <p:cNvCxnSpPr>
                <a:cxnSpLocks/>
                <a:stCxn id="19493" idx="6"/>
                <a:endCxn id="19471" idx="2"/>
              </p:cNvCxnSpPr>
              <p:nvPr/>
            </p:nvCxnSpPr>
            <p:spPr>
              <a:xfrm flipV="1">
                <a:off x="9336889" y="4055247"/>
                <a:ext cx="1474693" cy="717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4" name="Straight Arrow Connector 19473">
                <a:extLst>
                  <a:ext uri="{FF2B5EF4-FFF2-40B4-BE49-F238E27FC236}">
                    <a16:creationId xmlns:a16="http://schemas.microsoft.com/office/drawing/2014/main" id="{4F1B9E1A-1771-787F-4CD3-554337BECB7D}"/>
                  </a:ext>
                </a:extLst>
              </p:cNvPr>
              <p:cNvCxnSpPr>
                <a:cxnSpLocks/>
                <a:stCxn id="19494" idx="6"/>
                <a:endCxn id="19471" idx="2"/>
              </p:cNvCxnSpPr>
              <p:nvPr/>
            </p:nvCxnSpPr>
            <p:spPr>
              <a:xfrm flipV="1">
                <a:off x="9336889" y="4055247"/>
                <a:ext cx="1474693" cy="7530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75" name="Oval 19474">
                    <a:extLst>
                      <a:ext uri="{FF2B5EF4-FFF2-40B4-BE49-F238E27FC236}">
                        <a16:creationId xmlns:a16="http://schemas.microsoft.com/office/drawing/2014/main" id="{4909356D-595E-D68A-890B-464188BB3025}"/>
                      </a:ext>
                    </a:extLst>
                  </p:cNvPr>
                  <p:cNvSpPr/>
                  <p:nvPr/>
                </p:nvSpPr>
                <p:spPr>
                  <a:xfrm>
                    <a:off x="10811582" y="4324787"/>
                    <a:ext cx="367552" cy="358588"/>
                  </a:xfrm>
                  <a:prstGeom prst="ellipse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475" name="Oval 19474">
                    <a:extLst>
                      <a:ext uri="{FF2B5EF4-FFF2-40B4-BE49-F238E27FC236}">
                        <a16:creationId xmlns:a16="http://schemas.microsoft.com/office/drawing/2014/main" id="{4909356D-595E-D68A-890B-464188BB30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11582" y="4324787"/>
                    <a:ext cx="367552" cy="358588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476" name="Straight Arrow Connector 19475">
                <a:extLst>
                  <a:ext uri="{FF2B5EF4-FFF2-40B4-BE49-F238E27FC236}">
                    <a16:creationId xmlns:a16="http://schemas.microsoft.com/office/drawing/2014/main" id="{A715ED76-F97C-F0E0-7CC5-87651BEDD278}"/>
                  </a:ext>
                </a:extLst>
              </p:cNvPr>
              <p:cNvCxnSpPr>
                <a:cxnSpLocks/>
                <a:endCxn id="19475" idx="2"/>
              </p:cNvCxnSpPr>
              <p:nvPr/>
            </p:nvCxnSpPr>
            <p:spPr>
              <a:xfrm>
                <a:off x="9336882" y="3545797"/>
                <a:ext cx="1474700" cy="95828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7" name="Straight Arrow Connector 19476">
                <a:extLst>
                  <a:ext uri="{FF2B5EF4-FFF2-40B4-BE49-F238E27FC236}">
                    <a16:creationId xmlns:a16="http://schemas.microsoft.com/office/drawing/2014/main" id="{D87B9E40-7A1E-E2A0-EDFA-B2337AFC84C8}"/>
                  </a:ext>
                </a:extLst>
              </p:cNvPr>
              <p:cNvCxnSpPr>
                <a:cxnSpLocks/>
                <a:stCxn id="19493" idx="6"/>
                <a:endCxn id="19475" idx="2"/>
              </p:cNvCxnSpPr>
              <p:nvPr/>
            </p:nvCxnSpPr>
            <p:spPr>
              <a:xfrm>
                <a:off x="9336889" y="4126967"/>
                <a:ext cx="1474693" cy="3771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78" name="Straight Arrow Connector 19477">
                <a:extLst>
                  <a:ext uri="{FF2B5EF4-FFF2-40B4-BE49-F238E27FC236}">
                    <a16:creationId xmlns:a16="http://schemas.microsoft.com/office/drawing/2014/main" id="{02CC0759-FF75-3C4E-3B4E-B5DC2F58B006}"/>
                  </a:ext>
                </a:extLst>
              </p:cNvPr>
              <p:cNvCxnSpPr>
                <a:cxnSpLocks/>
                <a:stCxn id="19494" idx="6"/>
                <a:endCxn id="19475" idx="2"/>
              </p:cNvCxnSpPr>
              <p:nvPr/>
            </p:nvCxnSpPr>
            <p:spPr>
              <a:xfrm flipV="1">
                <a:off x="9336889" y="4504081"/>
                <a:ext cx="1474693" cy="30420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79" name="Rounded Rectangle 19478">
                <a:extLst>
                  <a:ext uri="{FF2B5EF4-FFF2-40B4-BE49-F238E27FC236}">
                    <a16:creationId xmlns:a16="http://schemas.microsoft.com/office/drawing/2014/main" id="{70C3A12A-3B43-99BE-809A-D5A25977C976}"/>
                  </a:ext>
                </a:extLst>
              </p:cNvPr>
              <p:cNvSpPr/>
              <p:nvPr/>
            </p:nvSpPr>
            <p:spPr>
              <a:xfrm>
                <a:off x="8756628" y="3167746"/>
                <a:ext cx="905435" cy="2139596"/>
              </a:xfrm>
              <a:prstGeom prst="roundRect">
                <a:avLst/>
              </a:prstGeom>
              <a:solidFill>
                <a:schemeClr val="bg2">
                  <a:alpha val="2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480" name="Rounded Rectangle 19479">
                <a:extLst>
                  <a:ext uri="{FF2B5EF4-FFF2-40B4-BE49-F238E27FC236}">
                    <a16:creationId xmlns:a16="http://schemas.microsoft.com/office/drawing/2014/main" id="{CAF5C74C-6F59-7143-B8A4-1F8AE6307D9B}"/>
                  </a:ext>
                </a:extLst>
              </p:cNvPr>
              <p:cNvSpPr/>
              <p:nvPr/>
            </p:nvSpPr>
            <p:spPr>
              <a:xfrm>
                <a:off x="10535919" y="3599255"/>
                <a:ext cx="905435" cy="1388323"/>
              </a:xfrm>
              <a:prstGeom prst="roundRect">
                <a:avLst/>
              </a:prstGeom>
              <a:solidFill>
                <a:schemeClr val="bg2">
                  <a:alpha val="28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481" name="TextBox 19480">
                <a:extLst>
                  <a:ext uri="{FF2B5EF4-FFF2-40B4-BE49-F238E27FC236}">
                    <a16:creationId xmlns:a16="http://schemas.microsoft.com/office/drawing/2014/main" id="{BB71A019-FF0D-8B4C-14CA-F87B0194F9F3}"/>
                  </a:ext>
                </a:extLst>
              </p:cNvPr>
              <p:cNvSpPr txBox="1"/>
              <p:nvPr/>
            </p:nvSpPr>
            <p:spPr>
              <a:xfrm>
                <a:off x="8623484" y="2500202"/>
                <a:ext cx="10054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</a:t>
                </a:r>
              </a:p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Layer,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9482" name="TextBox 19481">
                <a:extLst>
                  <a:ext uri="{FF2B5EF4-FFF2-40B4-BE49-F238E27FC236}">
                    <a16:creationId xmlns:a16="http://schemas.microsoft.com/office/drawing/2014/main" id="{6372F445-A5C1-81FA-DB65-D3108E84A18D}"/>
                  </a:ext>
                </a:extLst>
              </p:cNvPr>
              <p:cNvSpPr txBox="1"/>
              <p:nvPr/>
            </p:nvSpPr>
            <p:spPr>
              <a:xfrm>
                <a:off x="10535919" y="3154309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</a:t>
                </a:r>
              </a:p>
            </p:txBody>
          </p:sp>
          <p:cxnSp>
            <p:nvCxnSpPr>
              <p:cNvPr id="19483" name="Straight Connector 19482">
                <a:extLst>
                  <a:ext uri="{FF2B5EF4-FFF2-40B4-BE49-F238E27FC236}">
                    <a16:creationId xmlns:a16="http://schemas.microsoft.com/office/drawing/2014/main" id="{5AB72A79-9863-B290-23BC-997E8C5670AF}"/>
                  </a:ext>
                </a:extLst>
              </p:cNvPr>
              <p:cNvCxnSpPr/>
              <p:nvPr/>
            </p:nvCxnSpPr>
            <p:spPr>
              <a:xfrm>
                <a:off x="7530239" y="3560560"/>
                <a:ext cx="1438280" cy="2422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4" name="Straight Connector 19483">
                <a:extLst>
                  <a:ext uri="{FF2B5EF4-FFF2-40B4-BE49-F238E27FC236}">
                    <a16:creationId xmlns:a16="http://schemas.microsoft.com/office/drawing/2014/main" id="{ED9D3EB8-C40E-CD22-12D6-D00037C0C709}"/>
                  </a:ext>
                </a:extLst>
              </p:cNvPr>
              <p:cNvCxnSpPr>
                <a:cxnSpLocks/>
                <a:endCxn id="19493" idx="2"/>
              </p:cNvCxnSpPr>
              <p:nvPr/>
            </p:nvCxnSpPr>
            <p:spPr>
              <a:xfrm>
                <a:off x="7541107" y="3575035"/>
                <a:ext cx="1428230" cy="551932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5" name="Straight Connector 19484">
                <a:extLst>
                  <a:ext uri="{FF2B5EF4-FFF2-40B4-BE49-F238E27FC236}">
                    <a16:creationId xmlns:a16="http://schemas.microsoft.com/office/drawing/2014/main" id="{21C50AF7-2E55-2422-443E-F4ECA08FF47E}"/>
                  </a:ext>
                </a:extLst>
              </p:cNvPr>
              <p:cNvCxnSpPr>
                <a:cxnSpLocks/>
                <a:endCxn id="19494" idx="2"/>
              </p:cNvCxnSpPr>
              <p:nvPr/>
            </p:nvCxnSpPr>
            <p:spPr>
              <a:xfrm>
                <a:off x="7531057" y="3575035"/>
                <a:ext cx="1438280" cy="123324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6" name="Straight Connector 19485">
                <a:extLst>
                  <a:ext uri="{FF2B5EF4-FFF2-40B4-BE49-F238E27FC236}">
                    <a16:creationId xmlns:a16="http://schemas.microsoft.com/office/drawing/2014/main" id="{FC928213-6675-2E70-7CFA-D1C7AFA369F2}"/>
                  </a:ext>
                </a:extLst>
              </p:cNvPr>
              <p:cNvCxnSpPr>
                <a:cxnSpLocks/>
                <a:endCxn id="19492" idx="2"/>
              </p:cNvCxnSpPr>
              <p:nvPr/>
            </p:nvCxnSpPr>
            <p:spPr>
              <a:xfrm flipV="1">
                <a:off x="7530239" y="3580119"/>
                <a:ext cx="1439100" cy="510988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7" name="Straight Connector 19486">
                <a:extLst>
                  <a:ext uri="{FF2B5EF4-FFF2-40B4-BE49-F238E27FC236}">
                    <a16:creationId xmlns:a16="http://schemas.microsoft.com/office/drawing/2014/main" id="{750CB58C-B397-6F15-5B07-CBF1A059293E}"/>
                  </a:ext>
                </a:extLst>
              </p:cNvPr>
              <p:cNvCxnSpPr>
                <a:cxnSpLocks/>
                <a:endCxn id="19493" idx="2"/>
              </p:cNvCxnSpPr>
              <p:nvPr/>
            </p:nvCxnSpPr>
            <p:spPr>
              <a:xfrm>
                <a:off x="7519696" y="4104961"/>
                <a:ext cx="1449641" cy="2200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8" name="Straight Connector 19487">
                <a:extLst>
                  <a:ext uri="{FF2B5EF4-FFF2-40B4-BE49-F238E27FC236}">
                    <a16:creationId xmlns:a16="http://schemas.microsoft.com/office/drawing/2014/main" id="{A70B25FB-4410-7786-1154-A4D6CC3FFA1D}"/>
                  </a:ext>
                </a:extLst>
              </p:cNvPr>
              <p:cNvCxnSpPr>
                <a:cxnSpLocks/>
                <a:endCxn id="19494" idx="2"/>
              </p:cNvCxnSpPr>
              <p:nvPr/>
            </p:nvCxnSpPr>
            <p:spPr>
              <a:xfrm>
                <a:off x="7541105" y="4110042"/>
                <a:ext cx="1428232" cy="698242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89" name="Straight Connector 19488">
                <a:extLst>
                  <a:ext uri="{FF2B5EF4-FFF2-40B4-BE49-F238E27FC236}">
                    <a16:creationId xmlns:a16="http://schemas.microsoft.com/office/drawing/2014/main" id="{2B206B09-9041-34DB-5857-08215820213C}"/>
                  </a:ext>
                </a:extLst>
              </p:cNvPr>
              <p:cNvCxnSpPr>
                <a:cxnSpLocks/>
                <a:endCxn id="19492" idx="2"/>
              </p:cNvCxnSpPr>
              <p:nvPr/>
            </p:nvCxnSpPr>
            <p:spPr>
              <a:xfrm flipV="1">
                <a:off x="7517509" y="3580119"/>
                <a:ext cx="1451830" cy="1203783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90" name="Straight Connector 19489">
                <a:extLst>
                  <a:ext uri="{FF2B5EF4-FFF2-40B4-BE49-F238E27FC236}">
                    <a16:creationId xmlns:a16="http://schemas.microsoft.com/office/drawing/2014/main" id="{2340FBC8-24ED-46A1-175B-5EC9C72B9C4F}"/>
                  </a:ext>
                </a:extLst>
              </p:cNvPr>
              <p:cNvCxnSpPr>
                <a:cxnSpLocks/>
                <a:endCxn id="19493" idx="2"/>
              </p:cNvCxnSpPr>
              <p:nvPr/>
            </p:nvCxnSpPr>
            <p:spPr>
              <a:xfrm flipV="1">
                <a:off x="7517509" y="4126967"/>
                <a:ext cx="1451828" cy="666503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91" name="Straight Connector 19490">
                <a:extLst>
                  <a:ext uri="{FF2B5EF4-FFF2-40B4-BE49-F238E27FC236}">
                    <a16:creationId xmlns:a16="http://schemas.microsoft.com/office/drawing/2014/main" id="{45EEE252-4B2A-D0BC-490C-11C32359917F}"/>
                  </a:ext>
                </a:extLst>
              </p:cNvPr>
              <p:cNvCxnSpPr>
                <a:cxnSpLocks/>
                <a:endCxn id="19494" idx="2"/>
              </p:cNvCxnSpPr>
              <p:nvPr/>
            </p:nvCxnSpPr>
            <p:spPr>
              <a:xfrm>
                <a:off x="7531057" y="4779118"/>
                <a:ext cx="1438280" cy="29166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03" name="TextBox 19502">
              <a:extLst>
                <a:ext uri="{FF2B5EF4-FFF2-40B4-BE49-F238E27FC236}">
                  <a16:creationId xmlns:a16="http://schemas.microsoft.com/office/drawing/2014/main" id="{B4B7F706-03E5-59D7-5F95-6822383C65D4}"/>
                </a:ext>
              </a:extLst>
            </p:cNvPr>
            <p:cNvSpPr txBox="1"/>
            <p:nvPr/>
          </p:nvSpPr>
          <p:spPr>
            <a:xfrm>
              <a:off x="11337937" y="3905011"/>
              <a:ext cx="9332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 (channel)</a:t>
              </a:r>
            </a:p>
          </p:txBody>
        </p:sp>
        <p:cxnSp>
          <p:nvCxnSpPr>
            <p:cNvPr id="19504" name="Straight Arrow Connector 19503">
              <a:extLst>
                <a:ext uri="{FF2B5EF4-FFF2-40B4-BE49-F238E27FC236}">
                  <a16:creationId xmlns:a16="http://schemas.microsoft.com/office/drawing/2014/main" id="{C727402C-E543-EC35-AD88-38CF1D6F4CA8}"/>
                </a:ext>
              </a:extLst>
            </p:cNvPr>
            <p:cNvCxnSpPr/>
            <p:nvPr/>
          </p:nvCxnSpPr>
          <p:spPr>
            <a:xfrm>
              <a:off x="11035962" y="4036225"/>
              <a:ext cx="374025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05" name="Straight Arrow Connector 19504">
              <a:extLst>
                <a:ext uri="{FF2B5EF4-FFF2-40B4-BE49-F238E27FC236}">
                  <a16:creationId xmlns:a16="http://schemas.microsoft.com/office/drawing/2014/main" id="{F6E5EB4F-D639-B35D-0A45-389797B2A6D6}"/>
                </a:ext>
              </a:extLst>
            </p:cNvPr>
            <p:cNvCxnSpPr/>
            <p:nvPr/>
          </p:nvCxnSpPr>
          <p:spPr>
            <a:xfrm>
              <a:off x="11035962" y="4504081"/>
              <a:ext cx="374025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506" name="TextBox 19505">
              <a:extLst>
                <a:ext uri="{FF2B5EF4-FFF2-40B4-BE49-F238E27FC236}">
                  <a16:creationId xmlns:a16="http://schemas.microsoft.com/office/drawing/2014/main" id="{19AA480A-3664-59CD-8476-AAD0760E412C}"/>
                </a:ext>
              </a:extLst>
            </p:cNvPr>
            <p:cNvSpPr txBox="1"/>
            <p:nvPr/>
          </p:nvSpPr>
          <p:spPr>
            <a:xfrm>
              <a:off x="11337937" y="4365581"/>
              <a:ext cx="9332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 (channel)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CEB88-F8EB-BBBB-4ED0-2AEEB448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9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A60B-D325-8A6A-6768-A979D914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C95231-384A-ACF8-FA91-AD34539236E0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74A2-4B9D-7EAB-306C-5F6E1143BB3F}"/>
              </a:ext>
            </a:extLst>
          </p:cNvPr>
          <p:cNvSpPr txBox="1">
            <a:spLocks/>
          </p:cNvSpPr>
          <p:nvPr/>
        </p:nvSpPr>
        <p:spPr>
          <a:xfrm>
            <a:off x="778600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Instead of fully connected layers, use local shared weights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99CA3E-1D3F-A3A1-F3BE-52D35223975C}"/>
              </a:ext>
            </a:extLst>
          </p:cNvPr>
          <p:cNvGrpSpPr/>
          <p:nvPr/>
        </p:nvGrpSpPr>
        <p:grpSpPr>
          <a:xfrm>
            <a:off x="1534361" y="2092406"/>
            <a:ext cx="7556289" cy="3680241"/>
            <a:chOff x="2186367" y="2084455"/>
            <a:chExt cx="7556289" cy="368024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98F4347-089A-DFF6-F010-6A5308CA3CC0}"/>
                </a:ext>
              </a:extLst>
            </p:cNvPr>
            <p:cNvGrpSpPr/>
            <p:nvPr/>
          </p:nvGrpSpPr>
          <p:grpSpPr>
            <a:xfrm>
              <a:off x="2186367" y="2103929"/>
              <a:ext cx="7556289" cy="3660767"/>
              <a:chOff x="2186367" y="2103929"/>
              <a:chExt cx="7556289" cy="3660767"/>
            </a:xfrm>
          </p:grpSpPr>
          <p:pic>
            <p:nvPicPr>
              <p:cNvPr id="6" name="Picture 3">
                <a:extLst>
                  <a:ext uri="{FF2B5EF4-FFF2-40B4-BE49-F238E27FC236}">
                    <a16:creationId xmlns:a16="http://schemas.microsoft.com/office/drawing/2014/main" id="{AED6F251-B718-DDFE-43BB-6FB01374C1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833" t="15305" r="17517" b="66690"/>
              <a:stretch>
                <a:fillRect/>
              </a:stretch>
            </p:blipFill>
            <p:spPr bwMode="auto">
              <a:xfrm>
                <a:off x="2186367" y="2127782"/>
                <a:ext cx="7556289" cy="3636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CD5A555-4802-4854-CC22-FFFC6D483C13}"/>
                  </a:ext>
                </a:extLst>
              </p:cNvPr>
              <p:cNvSpPr/>
              <p:nvPr/>
            </p:nvSpPr>
            <p:spPr>
              <a:xfrm>
                <a:off x="7227736" y="2305878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067CB7C-D8C5-C617-128A-BBEF4B0B1D71}"/>
                  </a:ext>
                </a:extLst>
              </p:cNvPr>
              <p:cNvSpPr/>
              <p:nvPr/>
            </p:nvSpPr>
            <p:spPr>
              <a:xfrm>
                <a:off x="3197750" y="2103929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A16296-3130-DA48-0A93-4881692E73C7}"/>
                </a:ext>
              </a:extLst>
            </p:cNvPr>
            <p:cNvSpPr txBox="1"/>
            <p:nvPr/>
          </p:nvSpPr>
          <p:spPr>
            <a:xfrm>
              <a:off x="7086982" y="2269121"/>
              <a:ext cx="1883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hidden layer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8A61D0-EF54-5C4F-3220-AF6A34B78657}"/>
                </a:ext>
              </a:extLst>
            </p:cNvPr>
            <p:cNvSpPr txBox="1"/>
            <p:nvPr/>
          </p:nvSpPr>
          <p:spPr>
            <a:xfrm>
              <a:off x="3418562" y="2084455"/>
              <a:ext cx="1566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 neurons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D893BA-263A-2772-8FD5-767177A4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09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A7EB-2BF7-AEC4-8A41-E7BAF731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DCC3C6-A6A4-21CE-13D2-815110C2CAA0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E034E-067E-12ED-4490-EE26A6FB1187}"/>
              </a:ext>
            </a:extLst>
          </p:cNvPr>
          <p:cNvSpPr txBox="1">
            <a:spLocks/>
          </p:cNvSpPr>
          <p:nvPr/>
        </p:nvSpPr>
        <p:spPr>
          <a:xfrm>
            <a:off x="778600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CA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Instead of fully connected layers, use local shared weights</a:t>
            </a:r>
          </a:p>
        </p:txBody>
      </p:sp>
      <p:pic>
        <p:nvPicPr>
          <p:cNvPr id="34" name="Picture 2" descr="Albert Einstein | Biography, Education, Discoveries, &amp; Facts | Britannica">
            <a:extLst>
              <a:ext uri="{FF2B5EF4-FFF2-40B4-BE49-F238E27FC236}">
                <a16:creationId xmlns:a16="http://schemas.microsoft.com/office/drawing/2014/main" id="{A2AD9306-4462-5FCE-4700-88E8F38B2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971" y="4657462"/>
            <a:ext cx="2039289" cy="203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AA27A90B-9F98-8E1B-81A9-73192FA4C1B6}"/>
              </a:ext>
            </a:extLst>
          </p:cNvPr>
          <p:cNvGrpSpPr/>
          <p:nvPr/>
        </p:nvGrpSpPr>
        <p:grpSpPr>
          <a:xfrm>
            <a:off x="1518257" y="1909071"/>
            <a:ext cx="3807961" cy="2540000"/>
            <a:chOff x="1518257" y="1909071"/>
            <a:chExt cx="3807961" cy="2540000"/>
          </a:xfrm>
        </p:grpSpPr>
        <p:pic>
          <p:nvPicPr>
            <p:cNvPr id="25602" name="Picture 2" descr="Albert Einstein | Biography, Education, Discoveries, &amp; Facts | Britannica">
              <a:extLst>
                <a:ext uri="{FF2B5EF4-FFF2-40B4-BE49-F238E27FC236}">
                  <a16:creationId xmlns:a16="http://schemas.microsoft.com/office/drawing/2014/main" id="{58EC6DE9-050E-95A2-6E25-C971139FE7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8257" y="2159427"/>
              <a:ext cx="2039289" cy="2039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E6412A7-E78E-2736-0E6F-01A377083C1F}"/>
                </a:ext>
              </a:extLst>
            </p:cNvPr>
            <p:cNvGrpSpPr/>
            <p:nvPr/>
          </p:nvGrpSpPr>
          <p:grpSpPr>
            <a:xfrm>
              <a:off x="4114733" y="1909071"/>
              <a:ext cx="1211485" cy="2540000"/>
              <a:chOff x="4424831" y="1939703"/>
              <a:chExt cx="2056717" cy="462013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7A516DF-5561-2019-E766-CEBB485FDFBE}"/>
                  </a:ext>
                </a:extLst>
              </p:cNvPr>
              <p:cNvGrpSpPr/>
              <p:nvPr/>
            </p:nvGrpSpPr>
            <p:grpSpPr>
              <a:xfrm>
                <a:off x="4424831" y="1939703"/>
                <a:ext cx="2056717" cy="4620136"/>
                <a:chOff x="4424831" y="1939703"/>
                <a:chExt cx="2056717" cy="4620136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239B60E6-3C90-C6B0-0611-84A9F3B99315}"/>
                    </a:ext>
                  </a:extLst>
                </p:cNvPr>
                <p:cNvGrpSpPr/>
                <p:nvPr/>
              </p:nvGrpSpPr>
              <p:grpSpPr>
                <a:xfrm>
                  <a:off x="4424831" y="1939703"/>
                  <a:ext cx="2056717" cy="4612173"/>
                  <a:chOff x="4424831" y="1939703"/>
                  <a:chExt cx="2056717" cy="461217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438F3808-30D5-618B-E215-103DAAF666D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24831" y="1939703"/>
                        <a:ext cx="2056717" cy="53043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oMath>
                        </a14:m>
                        <a:r>
                          <a:rPr lang="en-US" sz="1200" dirty="0"/>
                          <a:t>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𝑤𝑒𝑖𝑔h𝑡𝑠</m:t>
                            </m:r>
                          </m:oMath>
                        </a14:m>
                        <a:endParaRPr 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438F3808-30D5-618B-E215-103DAAF666D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424831" y="1939703"/>
                        <a:ext cx="2056717" cy="530439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1B6B092C-8F80-0056-F569-D96742A96D44}"/>
                      </a:ext>
                    </a:extLst>
                  </p:cNvPr>
                  <p:cNvSpPr/>
                  <p:nvPr/>
                </p:nvSpPr>
                <p:spPr>
                  <a:xfrm>
                    <a:off x="4576904" y="2409246"/>
                    <a:ext cx="448749" cy="414263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CB64A93-1F8D-8C8B-B8E1-BD4BE2262B1D}"/>
                    </a:ext>
                  </a:extLst>
                </p:cNvPr>
                <p:cNvSpPr/>
                <p:nvPr/>
              </p:nvSpPr>
              <p:spPr>
                <a:xfrm>
                  <a:off x="4898003" y="2500202"/>
                  <a:ext cx="246491" cy="250949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1AEB053-6F6C-2706-06D5-872A6C4E7F57}"/>
                    </a:ext>
                  </a:extLst>
                </p:cNvPr>
                <p:cNvSpPr/>
                <p:nvPr/>
              </p:nvSpPr>
              <p:spPr>
                <a:xfrm>
                  <a:off x="4887004" y="2867075"/>
                  <a:ext cx="246491" cy="250949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77031BED-04A0-8F87-607C-B63FB04EF617}"/>
                    </a:ext>
                  </a:extLst>
                </p:cNvPr>
                <p:cNvSpPr/>
                <p:nvPr/>
              </p:nvSpPr>
              <p:spPr>
                <a:xfrm>
                  <a:off x="4887004" y="3244312"/>
                  <a:ext cx="246491" cy="250949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4B63960E-03EA-F3F6-4D91-1757D916C501}"/>
                    </a:ext>
                  </a:extLst>
                </p:cNvPr>
                <p:cNvSpPr/>
                <p:nvPr/>
              </p:nvSpPr>
              <p:spPr>
                <a:xfrm>
                  <a:off x="4887004" y="3610172"/>
                  <a:ext cx="246491" cy="250949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080F695B-07C3-BF6B-64A2-4BF7553DD3D1}"/>
                    </a:ext>
                  </a:extLst>
                </p:cNvPr>
                <p:cNvSpPr/>
                <p:nvPr/>
              </p:nvSpPr>
              <p:spPr>
                <a:xfrm>
                  <a:off x="4894027" y="3981520"/>
                  <a:ext cx="246491" cy="250949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CB52109-94ED-E2CA-DAC8-F77AB3291F58}"/>
                    </a:ext>
                  </a:extLst>
                </p:cNvPr>
                <p:cNvSpPr/>
                <p:nvPr/>
              </p:nvSpPr>
              <p:spPr>
                <a:xfrm>
                  <a:off x="4894027" y="4343848"/>
                  <a:ext cx="246491" cy="250949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D8453010-4B77-747F-9C67-10C3108A4FDA}"/>
                    </a:ext>
                  </a:extLst>
                </p:cNvPr>
                <p:cNvSpPr/>
                <p:nvPr/>
              </p:nvSpPr>
              <p:spPr>
                <a:xfrm>
                  <a:off x="4884727" y="6308890"/>
                  <a:ext cx="246491" cy="250949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6D11FD7-FA42-892A-5CCA-AAAD6E3B7C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972" y="4758160"/>
                <a:ext cx="1" cy="1444598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3A3F969-1608-D8C8-8719-28C7AAF636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5245" y="2275674"/>
              <a:ext cx="2538201" cy="25047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A0BC5D4-ACAD-D15D-3BA8-96FA7B65A9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6159" y="2278693"/>
              <a:ext cx="2159467" cy="249643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E2B4AC2-451F-EC38-5CBA-9004E51926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4061" y="2286197"/>
              <a:ext cx="1451565" cy="22615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41B62DD-ECCA-38D5-1F29-8357F5AEC7FC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1855245" y="2286197"/>
              <a:ext cx="2538201" cy="59117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6D19FEF-F243-6081-6BA3-1D472640836E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2226159" y="2286197"/>
              <a:ext cx="2167287" cy="627297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66FD4F7-21BD-A381-BAB9-B68B8DBAF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44816" y="2306389"/>
              <a:ext cx="1540810" cy="57533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8C8E921-A166-151B-F16B-184E537E8C13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1879024" y="2286197"/>
              <a:ext cx="2514422" cy="1006714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1394ACC-DE34-FD7D-FEBA-629883E991EC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2249938" y="2286197"/>
              <a:ext cx="2143508" cy="104896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51D6F1-A64E-72CB-858B-6E65CCF9DA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4193" y="2286864"/>
              <a:ext cx="1631433" cy="103358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05" name="Group 25604">
            <a:extLst>
              <a:ext uri="{FF2B5EF4-FFF2-40B4-BE49-F238E27FC236}">
                <a16:creationId xmlns:a16="http://schemas.microsoft.com/office/drawing/2014/main" id="{9AF390AD-8E6A-A1FF-2EB3-05D9C2EFA09A}"/>
              </a:ext>
            </a:extLst>
          </p:cNvPr>
          <p:cNvGrpSpPr/>
          <p:nvPr/>
        </p:nvGrpSpPr>
        <p:grpSpPr>
          <a:xfrm>
            <a:off x="2512253" y="4775501"/>
            <a:ext cx="2573533" cy="793840"/>
            <a:chOff x="2996122" y="4630905"/>
            <a:chExt cx="2573533" cy="793840"/>
          </a:xfrm>
        </p:grpSpPr>
        <p:pic>
          <p:nvPicPr>
            <p:cNvPr id="35" name="Picture 2" descr="Albert Einstein | Biography, Education, Discoveries, &amp; Facts | Britannica">
              <a:extLst>
                <a:ext uri="{FF2B5EF4-FFF2-40B4-BE49-F238E27FC236}">
                  <a16:creationId xmlns:a16="http://schemas.microsoft.com/office/drawing/2014/main" id="{8C868D80-264A-BDCF-3A06-AE64C4E0F1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731" r="5875" b="65787"/>
            <a:stretch/>
          </p:blipFill>
          <p:spPr bwMode="auto">
            <a:xfrm>
              <a:off x="4786684" y="4630905"/>
              <a:ext cx="782971" cy="697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56F4B29-96DB-8C8F-B2BD-6C67FBE0BA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5157" y="4838535"/>
              <a:ext cx="2266314" cy="25729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AC2C959-CF15-A537-B55A-5CA3E6A590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8062" y="4848274"/>
              <a:ext cx="2073409" cy="576471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8C7ADDE-E200-287F-C3E2-9C157741A6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6459" y="4848274"/>
              <a:ext cx="2235012" cy="41654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2E03FE-3D6C-6212-A437-C9448F6B91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6122" y="4834157"/>
              <a:ext cx="2315349" cy="58422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600" name="TextBox 25599">
                <a:extLst>
                  <a:ext uri="{FF2B5EF4-FFF2-40B4-BE49-F238E27FC236}">
                    <a16:creationId xmlns:a16="http://schemas.microsoft.com/office/drawing/2014/main" id="{5F56CBCE-56E8-A294-890B-DB0037C969B6}"/>
                  </a:ext>
                </a:extLst>
              </p:cNvPr>
              <p:cNvSpPr txBox="1"/>
              <p:nvPr/>
            </p:nvSpPr>
            <p:spPr>
              <a:xfrm rot="5400000">
                <a:off x="4539332" y="3007856"/>
                <a:ext cx="947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𝑎𝑦𝑒𝑟𝑠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600" name="TextBox 25599">
                <a:extLst>
                  <a:ext uri="{FF2B5EF4-FFF2-40B4-BE49-F238E27FC236}">
                    <a16:creationId xmlns:a16="http://schemas.microsoft.com/office/drawing/2014/main" id="{5F56CBCE-56E8-A294-890B-DB0037C96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539332" y="3007856"/>
                <a:ext cx="947632" cy="369332"/>
              </a:xfrm>
              <a:prstGeom prst="rect">
                <a:avLst/>
              </a:prstGeom>
              <a:blipFill>
                <a:blip r:embed="rId5"/>
                <a:stretch>
                  <a:fillRect l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1" name="TextBox 25600">
                <a:extLst>
                  <a:ext uri="{FF2B5EF4-FFF2-40B4-BE49-F238E27FC236}">
                    <a16:creationId xmlns:a16="http://schemas.microsoft.com/office/drawing/2014/main" id="{BACA503A-BDFB-D568-0F97-556ECF56B8A4}"/>
                  </a:ext>
                </a:extLst>
              </p:cNvPr>
              <p:cNvSpPr txBox="1"/>
              <p:nvPr/>
            </p:nvSpPr>
            <p:spPr>
              <a:xfrm rot="5400000">
                <a:off x="3745254" y="6041181"/>
                <a:ext cx="1571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𝑒𝑎𝑡𝑢𝑟𝑒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601" name="TextBox 25600">
                <a:extLst>
                  <a:ext uri="{FF2B5EF4-FFF2-40B4-BE49-F238E27FC236}">
                    <a16:creationId xmlns:a16="http://schemas.microsoft.com/office/drawing/2014/main" id="{BACA503A-BDFB-D568-0F97-556ECF56B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745254" y="6041181"/>
                <a:ext cx="1571136" cy="369332"/>
              </a:xfrm>
              <a:prstGeom prst="rect">
                <a:avLst/>
              </a:prstGeom>
              <a:blipFill>
                <a:blip r:embed="rId6"/>
                <a:stretch>
                  <a:fillRect l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3" name="TextBox 25602">
            <a:extLst>
              <a:ext uri="{FF2B5EF4-FFF2-40B4-BE49-F238E27FC236}">
                <a16:creationId xmlns:a16="http://schemas.microsoft.com/office/drawing/2014/main" id="{6B8B73A7-DA2D-AFA1-1393-7331939E5513}"/>
              </a:ext>
            </a:extLst>
          </p:cNvPr>
          <p:cNvSpPr txBox="1"/>
          <p:nvPr/>
        </p:nvSpPr>
        <p:spPr>
          <a:xfrm>
            <a:off x="6104735" y="2640342"/>
            <a:ext cx="4569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Spatial, adjacent and ordering info is lost,</a:t>
            </a:r>
          </a:p>
          <a:p>
            <a:r>
              <a:rPr lang="en-US" dirty="0"/>
              <a:t> the data is flattened to 1D vector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TextBox 25603">
                <a:extLst>
                  <a:ext uri="{FF2B5EF4-FFF2-40B4-BE49-F238E27FC236}">
                    <a16:creationId xmlns:a16="http://schemas.microsoft.com/office/drawing/2014/main" id="{ECB90442-C711-34A8-7C6D-0F71D5A1D4AF}"/>
                  </a:ext>
                </a:extLst>
              </p:cNvPr>
              <p:cNvSpPr txBox="1"/>
              <p:nvPr/>
            </p:nvSpPr>
            <p:spPr>
              <a:xfrm>
                <a:off x="4088557" y="4502008"/>
                <a:ext cx="1211485" cy="291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𝑤𝑒𝑖𝑔h𝑡𝑠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5604" name="TextBox 25603">
                <a:extLst>
                  <a:ext uri="{FF2B5EF4-FFF2-40B4-BE49-F238E27FC236}">
                    <a16:creationId xmlns:a16="http://schemas.microsoft.com/office/drawing/2014/main" id="{ECB90442-C711-34A8-7C6D-0F71D5A1D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557" y="4502008"/>
                <a:ext cx="1211485" cy="2916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10" name="TextBox 25609">
            <a:extLst>
              <a:ext uri="{FF2B5EF4-FFF2-40B4-BE49-F238E27FC236}">
                <a16:creationId xmlns:a16="http://schemas.microsoft.com/office/drawing/2014/main" id="{6512F419-CADC-047E-FB59-0F537F896C38}"/>
              </a:ext>
            </a:extLst>
          </p:cNvPr>
          <p:cNvSpPr txBox="1"/>
          <p:nvPr/>
        </p:nvSpPr>
        <p:spPr>
          <a:xfrm>
            <a:off x="6069076" y="4673684"/>
            <a:ext cx="4919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Spatial, adjacent and ordering preserved,</a:t>
            </a:r>
          </a:p>
          <a:p>
            <a:r>
              <a:rPr lang="en-US" dirty="0"/>
              <a:t>Data remains in 2D/3D setting in each layer, called feature 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B8174-0BB8-E19B-526F-FF5D5104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6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2C04-B98B-9B24-FD9B-928BF3AE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362;p179">
            <a:extLst>
              <a:ext uri="{FF2B5EF4-FFF2-40B4-BE49-F238E27FC236}">
                <a16:creationId xmlns:a16="http://schemas.microsoft.com/office/drawing/2014/main" id="{E6F8828B-0DC2-9B43-F217-C5CD95DA38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1784" y="2318434"/>
            <a:ext cx="4342233" cy="320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369;p180">
            <a:extLst>
              <a:ext uri="{FF2B5EF4-FFF2-40B4-BE49-F238E27FC236}">
                <a16:creationId xmlns:a16="http://schemas.microsoft.com/office/drawing/2014/main" id="{7B4EDD4C-0CF9-F306-F691-0237443A65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357" y="2096898"/>
            <a:ext cx="5237875" cy="38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74648C-4C81-E8C6-A9BD-E841CF5EA0E5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2363;p179">
            <a:extLst>
              <a:ext uri="{FF2B5EF4-FFF2-40B4-BE49-F238E27FC236}">
                <a16:creationId xmlns:a16="http://schemas.microsoft.com/office/drawing/2014/main" id="{66B65FD8-6EAC-3967-8156-F88CC2A604EC}"/>
              </a:ext>
            </a:extLst>
          </p:cNvPr>
          <p:cNvSpPr txBox="1">
            <a:spLocks/>
          </p:cNvSpPr>
          <p:nvPr/>
        </p:nvSpPr>
        <p:spPr>
          <a:xfrm>
            <a:off x="4127601" y="1333715"/>
            <a:ext cx="3936798" cy="63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000" dirty="0"/>
              <a:t>Convolving</a:t>
            </a:r>
          </a:p>
        </p:txBody>
      </p:sp>
      <p:pic>
        <p:nvPicPr>
          <p:cNvPr id="10" name="Google Shape;2364;p179">
            <a:extLst>
              <a:ext uri="{FF2B5EF4-FFF2-40B4-BE49-F238E27FC236}">
                <a16:creationId xmlns:a16="http://schemas.microsoft.com/office/drawing/2014/main" id="{AFC80D9F-6288-F77D-1DFB-D446C2BF4B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45790"/>
          <a:stretch/>
        </p:blipFill>
        <p:spPr>
          <a:xfrm>
            <a:off x="1947349" y="2426356"/>
            <a:ext cx="4651649" cy="28672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4107D2-58B2-26FE-B881-CAA32DF6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4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7B35-4B94-A19B-1D93-23CD17E0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8D1593-0578-B72D-0F23-5C0447FA36A8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FFD9E1-7BD8-5262-6E64-8997DF1783C3}"/>
              </a:ext>
            </a:extLst>
          </p:cNvPr>
          <p:cNvGrpSpPr/>
          <p:nvPr/>
        </p:nvGrpSpPr>
        <p:grpSpPr>
          <a:xfrm>
            <a:off x="1181821" y="1376309"/>
            <a:ext cx="7556289" cy="3680241"/>
            <a:chOff x="2186367" y="2084455"/>
            <a:chExt cx="7556289" cy="368024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61127D6-C1FD-6345-A1F0-793ABED8ACD5}"/>
                </a:ext>
              </a:extLst>
            </p:cNvPr>
            <p:cNvGrpSpPr/>
            <p:nvPr/>
          </p:nvGrpSpPr>
          <p:grpSpPr>
            <a:xfrm>
              <a:off x="2186367" y="2103929"/>
              <a:ext cx="7556289" cy="3660767"/>
              <a:chOff x="2186367" y="2103929"/>
              <a:chExt cx="7556289" cy="3660767"/>
            </a:xfrm>
          </p:grpSpPr>
          <p:pic>
            <p:nvPicPr>
              <p:cNvPr id="6" name="Picture 3">
                <a:extLst>
                  <a:ext uri="{FF2B5EF4-FFF2-40B4-BE49-F238E27FC236}">
                    <a16:creationId xmlns:a16="http://schemas.microsoft.com/office/drawing/2014/main" id="{D6DF590D-AB0A-9746-85CE-1DB16C17A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833" t="15305" r="17517" b="66690"/>
              <a:stretch>
                <a:fillRect/>
              </a:stretch>
            </p:blipFill>
            <p:spPr bwMode="auto">
              <a:xfrm>
                <a:off x="2186367" y="2127782"/>
                <a:ext cx="7556289" cy="3636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E7788CF-6212-EBDA-1691-1D0C26DC6D30}"/>
                  </a:ext>
                </a:extLst>
              </p:cNvPr>
              <p:cNvSpPr/>
              <p:nvPr/>
            </p:nvSpPr>
            <p:spPr>
              <a:xfrm>
                <a:off x="7227736" y="2305878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BDF0860-C44B-3140-3AB0-EC399104A5A2}"/>
                  </a:ext>
                </a:extLst>
              </p:cNvPr>
              <p:cNvSpPr/>
              <p:nvPr/>
            </p:nvSpPr>
            <p:spPr>
              <a:xfrm>
                <a:off x="3197750" y="2103929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18D635-B94F-08D2-1762-3B015978E1C0}"/>
                </a:ext>
              </a:extLst>
            </p:cNvPr>
            <p:cNvSpPr txBox="1"/>
            <p:nvPr/>
          </p:nvSpPr>
          <p:spPr>
            <a:xfrm>
              <a:off x="7086982" y="2269121"/>
              <a:ext cx="1883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hidden layer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62C3AF-46B7-1CAE-2CEB-C13047E18EFC}"/>
                </a:ext>
              </a:extLst>
            </p:cNvPr>
            <p:cNvSpPr txBox="1"/>
            <p:nvPr/>
          </p:nvSpPr>
          <p:spPr>
            <a:xfrm>
              <a:off x="3418562" y="2084455"/>
              <a:ext cx="1566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 neurons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4758D2-8B93-DC96-98BD-06B69635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27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47D824-FCBF-2AE9-BC65-11C5439FA955}"/>
              </a:ext>
            </a:extLst>
          </p:cNvPr>
          <p:cNvGrpSpPr/>
          <p:nvPr/>
        </p:nvGrpSpPr>
        <p:grpSpPr>
          <a:xfrm>
            <a:off x="2057155" y="2182397"/>
            <a:ext cx="7556289" cy="3680241"/>
            <a:chOff x="2186367" y="2084455"/>
            <a:chExt cx="7556289" cy="368024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91906F6-40E8-27F8-3987-08B4663DDE13}"/>
                </a:ext>
              </a:extLst>
            </p:cNvPr>
            <p:cNvGrpSpPr/>
            <p:nvPr/>
          </p:nvGrpSpPr>
          <p:grpSpPr>
            <a:xfrm>
              <a:off x="2186367" y="2103929"/>
              <a:ext cx="7556289" cy="3660767"/>
              <a:chOff x="2186367" y="2103929"/>
              <a:chExt cx="7556289" cy="3660767"/>
            </a:xfrm>
          </p:grpSpPr>
          <p:pic>
            <p:nvPicPr>
              <p:cNvPr id="16" name="Picture 3">
                <a:extLst>
                  <a:ext uri="{FF2B5EF4-FFF2-40B4-BE49-F238E27FC236}">
                    <a16:creationId xmlns:a16="http://schemas.microsoft.com/office/drawing/2014/main" id="{F729C18E-ABE9-187C-5B1C-2DB7D3D6A6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833" t="15305" r="17517" b="66690"/>
              <a:stretch>
                <a:fillRect/>
              </a:stretch>
            </p:blipFill>
            <p:spPr bwMode="auto">
              <a:xfrm>
                <a:off x="2186367" y="2127782"/>
                <a:ext cx="7556289" cy="3636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C8CFD0B-522D-506B-8AED-290E579A5981}"/>
                  </a:ext>
                </a:extLst>
              </p:cNvPr>
              <p:cNvSpPr/>
              <p:nvPr/>
            </p:nvSpPr>
            <p:spPr>
              <a:xfrm>
                <a:off x="7227736" y="2305878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D70302-EC34-8F83-5100-C88299537286}"/>
                  </a:ext>
                </a:extLst>
              </p:cNvPr>
              <p:cNvSpPr/>
              <p:nvPr/>
            </p:nvSpPr>
            <p:spPr>
              <a:xfrm>
                <a:off x="3197750" y="2103929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903522-D8AA-1692-7FF3-535021959AA4}"/>
                </a:ext>
              </a:extLst>
            </p:cNvPr>
            <p:cNvSpPr txBox="1"/>
            <p:nvPr/>
          </p:nvSpPr>
          <p:spPr>
            <a:xfrm>
              <a:off x="7086982" y="2269121"/>
              <a:ext cx="1883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hidden layer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3F36F8-60D8-C6E2-0BD7-6199B6E26380}"/>
                </a:ext>
              </a:extLst>
            </p:cNvPr>
            <p:cNvSpPr txBox="1"/>
            <p:nvPr/>
          </p:nvSpPr>
          <p:spPr>
            <a:xfrm>
              <a:off x="3418562" y="2084455"/>
              <a:ext cx="1566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 neurons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460BD1-4CD2-7F93-AA56-1F02FDE198A5}"/>
              </a:ext>
            </a:extLst>
          </p:cNvPr>
          <p:cNvGrpSpPr/>
          <p:nvPr/>
        </p:nvGrpSpPr>
        <p:grpSpPr>
          <a:xfrm>
            <a:off x="2932489" y="3049380"/>
            <a:ext cx="7556289" cy="3680241"/>
            <a:chOff x="2186367" y="2084455"/>
            <a:chExt cx="7556289" cy="368024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2F4C8D2-9743-407F-0FC2-5952F2BDB2EA}"/>
                </a:ext>
              </a:extLst>
            </p:cNvPr>
            <p:cNvGrpSpPr/>
            <p:nvPr/>
          </p:nvGrpSpPr>
          <p:grpSpPr>
            <a:xfrm>
              <a:off x="2186367" y="2103929"/>
              <a:ext cx="7556289" cy="3660767"/>
              <a:chOff x="2186367" y="2103929"/>
              <a:chExt cx="7556289" cy="3660767"/>
            </a:xfrm>
          </p:grpSpPr>
          <p:pic>
            <p:nvPicPr>
              <p:cNvPr id="23" name="Picture 3">
                <a:extLst>
                  <a:ext uri="{FF2B5EF4-FFF2-40B4-BE49-F238E27FC236}">
                    <a16:creationId xmlns:a16="http://schemas.microsoft.com/office/drawing/2014/main" id="{F18F1FF2-F0C7-22C2-2F45-19A55A7251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833" t="15305" r="17517" b="66690"/>
              <a:stretch>
                <a:fillRect/>
              </a:stretch>
            </p:blipFill>
            <p:spPr bwMode="auto">
              <a:xfrm>
                <a:off x="2186367" y="2127782"/>
                <a:ext cx="7556289" cy="3636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BC8AD15-32B0-B5D2-03E1-BB07FDCE19B3}"/>
                  </a:ext>
                </a:extLst>
              </p:cNvPr>
              <p:cNvSpPr/>
              <p:nvPr/>
            </p:nvSpPr>
            <p:spPr>
              <a:xfrm>
                <a:off x="7227736" y="2305878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95D6D28-B449-599A-B4C3-D51C37C8E8D0}"/>
                  </a:ext>
                </a:extLst>
              </p:cNvPr>
              <p:cNvSpPr/>
              <p:nvPr/>
            </p:nvSpPr>
            <p:spPr>
              <a:xfrm>
                <a:off x="3197750" y="2103929"/>
                <a:ext cx="1868556" cy="3498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96AA7D8-45A3-C3F2-5E78-502CAB8DD564}"/>
                </a:ext>
              </a:extLst>
            </p:cNvPr>
            <p:cNvSpPr txBox="1"/>
            <p:nvPr/>
          </p:nvSpPr>
          <p:spPr>
            <a:xfrm>
              <a:off x="7086982" y="2269121"/>
              <a:ext cx="1883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hidden layer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C62FF9-B5B2-D860-BC11-6D3564C03298}"/>
                </a:ext>
              </a:extLst>
            </p:cNvPr>
            <p:cNvSpPr txBox="1"/>
            <p:nvPr/>
          </p:nvSpPr>
          <p:spPr>
            <a:xfrm>
              <a:off x="3418562" y="2084455"/>
              <a:ext cx="1566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 neurons</a:t>
              </a:r>
            </a:p>
          </p:txBody>
        </p:sp>
      </p:grpSp>
      <p:sp>
        <p:nvSpPr>
          <p:cNvPr id="26" name="Right Brace 25">
            <a:extLst>
              <a:ext uri="{FF2B5EF4-FFF2-40B4-BE49-F238E27FC236}">
                <a16:creationId xmlns:a16="http://schemas.microsoft.com/office/drawing/2014/main" id="{47DE4AC0-D887-D51C-EA7F-3E8B00D6DC45}"/>
              </a:ext>
            </a:extLst>
          </p:cNvPr>
          <p:cNvSpPr/>
          <p:nvPr/>
        </p:nvSpPr>
        <p:spPr>
          <a:xfrm rot="19160549">
            <a:off x="9663116" y="1122727"/>
            <a:ext cx="468244" cy="256700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F72353-7A3F-1174-ECB6-989AC8120636}"/>
              </a:ext>
            </a:extLst>
          </p:cNvPr>
          <p:cNvSpPr txBox="1"/>
          <p:nvPr/>
        </p:nvSpPr>
        <p:spPr>
          <a:xfrm rot="2840806">
            <a:off x="9483504" y="1888630"/>
            <a:ext cx="1618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Feature maps</a:t>
            </a:r>
          </a:p>
        </p:txBody>
      </p:sp>
    </p:spTree>
    <p:extLst>
      <p:ext uri="{BB962C8B-B14F-4D97-AF65-F5344CB8AC3E}">
        <p14:creationId xmlns:p14="http://schemas.microsoft.com/office/powerpoint/2010/main" val="1197837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B024-5DA9-DAE7-CA62-B51A71CA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E72DEA-7ABB-0042-81EE-43D7AA9BA299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2376;p181">
            <a:extLst>
              <a:ext uri="{FF2B5EF4-FFF2-40B4-BE49-F238E27FC236}">
                <a16:creationId xmlns:a16="http://schemas.microsoft.com/office/drawing/2014/main" id="{8A85F403-E789-8D6C-B430-24BBD1A71F4F}"/>
              </a:ext>
            </a:extLst>
          </p:cNvPr>
          <p:cNvSpPr txBox="1">
            <a:spLocks/>
          </p:cNvSpPr>
          <p:nvPr/>
        </p:nvSpPr>
        <p:spPr>
          <a:xfrm>
            <a:off x="421419" y="1312672"/>
            <a:ext cx="8197795" cy="639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dirty="0"/>
              <a:t>CNN layer for a single multi-channel kernel</a:t>
            </a:r>
          </a:p>
        </p:txBody>
      </p:sp>
      <p:pic>
        <p:nvPicPr>
          <p:cNvPr id="3" name="Google Shape;2377;p181">
            <a:extLst>
              <a:ext uri="{FF2B5EF4-FFF2-40B4-BE49-F238E27FC236}">
                <a16:creationId xmlns:a16="http://schemas.microsoft.com/office/drawing/2014/main" id="{A9D47C46-803D-29CA-209F-F15A965259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0357"/>
          <a:stretch/>
        </p:blipFill>
        <p:spPr>
          <a:xfrm>
            <a:off x="1490899" y="2313084"/>
            <a:ext cx="5934264" cy="1088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378;p181">
            <a:extLst>
              <a:ext uri="{FF2B5EF4-FFF2-40B4-BE49-F238E27FC236}">
                <a16:creationId xmlns:a16="http://schemas.microsoft.com/office/drawing/2014/main" id="{8F43252C-CC50-2CC5-9D21-F2CC4FA1B9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1324" y="3482684"/>
            <a:ext cx="4203001" cy="16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79;p181">
            <a:extLst>
              <a:ext uri="{FF2B5EF4-FFF2-40B4-BE49-F238E27FC236}">
                <a16:creationId xmlns:a16="http://schemas.microsoft.com/office/drawing/2014/main" id="{6D563D97-19B4-C60A-E6E5-E869BFF4F91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164" y="5208984"/>
            <a:ext cx="898975" cy="11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380;p181">
            <a:extLst>
              <a:ext uri="{FF2B5EF4-FFF2-40B4-BE49-F238E27FC236}">
                <a16:creationId xmlns:a16="http://schemas.microsoft.com/office/drawing/2014/main" id="{811203FE-62AE-9872-1EE9-C73E5C8604F3}"/>
              </a:ext>
            </a:extLst>
          </p:cNvPr>
          <p:cNvSpPr txBox="1"/>
          <p:nvPr/>
        </p:nvSpPr>
        <p:spPr>
          <a:xfrm>
            <a:off x="3196324" y="6362933"/>
            <a:ext cx="285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u="sng" dirty="0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https://towardsdatascience.com/intuitively-understanding-convolutions-for-deep-learning-1f6f42faee1</a:t>
            </a:r>
            <a:endParaRPr sz="700" dirty="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2381;p181">
            <a:extLst>
              <a:ext uri="{FF2B5EF4-FFF2-40B4-BE49-F238E27FC236}">
                <a16:creationId xmlns:a16="http://schemas.microsoft.com/office/drawing/2014/main" id="{23B3F9A6-8709-11DE-B7B8-12608BDE8847}"/>
              </a:ext>
            </a:extLst>
          </p:cNvPr>
          <p:cNvSpPr txBox="1"/>
          <p:nvPr/>
        </p:nvSpPr>
        <p:spPr>
          <a:xfrm>
            <a:off x="279199" y="2435984"/>
            <a:ext cx="12582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Raleway"/>
                <a:ea typeface="Raleway"/>
                <a:cs typeface="Raleway"/>
                <a:sym typeface="Raleway"/>
              </a:rPr>
              <a:t>Perform convolution across channels</a:t>
            </a:r>
            <a:endParaRPr sz="12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" name="Google Shape;2382;p181">
            <a:extLst>
              <a:ext uri="{FF2B5EF4-FFF2-40B4-BE49-F238E27FC236}">
                <a16:creationId xmlns:a16="http://schemas.microsoft.com/office/drawing/2014/main" id="{1DC99FF3-19CD-76FF-4B64-EE5137F8A79B}"/>
              </a:ext>
            </a:extLst>
          </p:cNvPr>
          <p:cNvSpPr txBox="1"/>
          <p:nvPr/>
        </p:nvSpPr>
        <p:spPr>
          <a:xfrm>
            <a:off x="1762974" y="3915309"/>
            <a:ext cx="1258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Raleway"/>
                <a:ea typeface="Raleway"/>
                <a:cs typeface="Raleway"/>
                <a:sym typeface="Raleway"/>
              </a:rPr>
              <a:t>Sum across channels</a:t>
            </a:r>
            <a:endParaRPr sz="1200" b="1" dirty="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" name="Google Shape;2383;p181">
            <a:extLst>
              <a:ext uri="{FF2B5EF4-FFF2-40B4-BE49-F238E27FC236}">
                <a16:creationId xmlns:a16="http://schemas.microsoft.com/office/drawing/2014/main" id="{89221999-9CDA-E94B-74A6-AEEF0C283EFB}"/>
              </a:ext>
            </a:extLst>
          </p:cNvPr>
          <p:cNvSpPr txBox="1"/>
          <p:nvPr/>
        </p:nvSpPr>
        <p:spPr>
          <a:xfrm>
            <a:off x="2234299" y="5456159"/>
            <a:ext cx="12582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Raleway"/>
                <a:ea typeface="Raleway"/>
                <a:cs typeface="Raleway"/>
                <a:sym typeface="Raleway"/>
              </a:rPr>
              <a:t>Add bias term</a:t>
            </a:r>
            <a:endParaRPr sz="1200" b="1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25DF9CE4-1026-838F-A63B-16662931F9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t="34300" b="5052"/>
          <a:stretch/>
        </p:blipFill>
        <p:spPr>
          <a:xfrm>
            <a:off x="6940016" y="3791153"/>
            <a:ext cx="5238749" cy="184965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6FACF-DA6B-8E3A-7C7A-7D5D86C8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3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36D0-C66B-D86E-51C1-7682D13C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44E2C0-25D9-89D7-875D-062B1777F54C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2395;p183">
            <a:extLst>
              <a:ext uri="{FF2B5EF4-FFF2-40B4-BE49-F238E27FC236}">
                <a16:creationId xmlns:a16="http://schemas.microsoft.com/office/drawing/2014/main" id="{5F7C3AA8-2BFB-03AF-25E9-B1D17B81C034}"/>
              </a:ext>
            </a:extLst>
          </p:cNvPr>
          <p:cNvSpPr txBox="1">
            <a:spLocks/>
          </p:cNvSpPr>
          <p:nvPr/>
        </p:nvSpPr>
        <p:spPr>
          <a:xfrm>
            <a:off x="1206855" y="1184653"/>
            <a:ext cx="8845200" cy="63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dirty="0"/>
              <a:t>Connecting CNNs to Fully Connected Networks</a:t>
            </a:r>
          </a:p>
        </p:txBody>
      </p:sp>
      <p:pic>
        <p:nvPicPr>
          <p:cNvPr id="10" name="Google Shape;2397;p183">
            <a:extLst>
              <a:ext uri="{FF2B5EF4-FFF2-40B4-BE49-F238E27FC236}">
                <a16:creationId xmlns:a16="http://schemas.microsoft.com/office/drawing/2014/main" id="{3DA6649E-1046-4FA1-3416-DC4171C0B2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719" y="2225761"/>
            <a:ext cx="7113473" cy="3807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398;p183">
            <a:extLst>
              <a:ext uri="{FF2B5EF4-FFF2-40B4-BE49-F238E27FC236}">
                <a16:creationId xmlns:a16="http://schemas.microsoft.com/office/drawing/2014/main" id="{551A4B85-8EC7-9FD5-2CDD-2D3AFEBD39C6}"/>
              </a:ext>
            </a:extLst>
          </p:cNvPr>
          <p:cNvSpPr/>
          <p:nvPr/>
        </p:nvSpPr>
        <p:spPr>
          <a:xfrm>
            <a:off x="6730730" y="2274861"/>
            <a:ext cx="2580900" cy="3807600"/>
          </a:xfrm>
          <a:prstGeom prst="rect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399;p183">
            <a:extLst>
              <a:ext uri="{FF2B5EF4-FFF2-40B4-BE49-F238E27FC236}">
                <a16:creationId xmlns:a16="http://schemas.microsoft.com/office/drawing/2014/main" id="{F4A5782D-82F4-DF7A-121D-4309224A4F5D}"/>
              </a:ext>
            </a:extLst>
          </p:cNvPr>
          <p:cNvSpPr txBox="1"/>
          <p:nvPr/>
        </p:nvSpPr>
        <p:spPr>
          <a:xfrm>
            <a:off x="3005808" y="5892212"/>
            <a:ext cx="38334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Lato"/>
                <a:ea typeface="Lato"/>
                <a:cs typeface="Lato"/>
                <a:sym typeface="Lato"/>
              </a:rPr>
              <a:t>Example courtesy of </a:t>
            </a:r>
            <a:r>
              <a:rPr lang="en" sz="1200" dirty="0" err="1">
                <a:latin typeface="Lato"/>
                <a:ea typeface="Lato"/>
                <a:cs typeface="Lato"/>
                <a:sym typeface="Lato"/>
              </a:rPr>
              <a:t>Imme</a:t>
            </a:r>
            <a:r>
              <a:rPr lang="en" sz="1200" dirty="0">
                <a:latin typeface="Lato"/>
                <a:ea typeface="Lato"/>
                <a:cs typeface="Lato"/>
                <a:sym typeface="Lato"/>
              </a:rPr>
              <a:t> Ebert-Uphoff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E8A3D6-6494-7EA3-A5FE-D0C0274A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11C8C-5E88-58A0-B368-057A98CEB166}"/>
              </a:ext>
            </a:extLst>
          </p:cNvPr>
          <p:cNvSpPr txBox="1"/>
          <p:nvPr/>
        </p:nvSpPr>
        <p:spPr>
          <a:xfrm>
            <a:off x="4922508" y="6574540"/>
            <a:ext cx="71134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towardsdatascience.com</a:t>
            </a:r>
            <a:r>
              <a:rPr lang="en-US" sz="1000" dirty="0"/>
              <a:t>/a-comprehensive-guide-to-convolutional-neural-networks-the-eli5-way-3bd2b1164a53</a:t>
            </a:r>
          </a:p>
        </p:txBody>
      </p:sp>
    </p:spTree>
    <p:extLst>
      <p:ext uri="{BB962C8B-B14F-4D97-AF65-F5344CB8AC3E}">
        <p14:creationId xmlns:p14="http://schemas.microsoft.com/office/powerpoint/2010/main" val="2960570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2D00-0151-5A55-608B-6C3EB7BC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8C48D4-F035-E85E-9E08-0C123A4E3627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46385-3439-5EA6-A44B-EA318DE0E3A7}"/>
              </a:ext>
            </a:extLst>
          </p:cNvPr>
          <p:cNvSpPr txBox="1"/>
          <p:nvPr/>
        </p:nvSpPr>
        <p:spPr>
          <a:xfrm>
            <a:off x="778600" y="1156066"/>
            <a:ext cx="31613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Common pattern for CNN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CFE4AA-9B9D-58E4-B8E6-C3B4EB12595F}"/>
              </a:ext>
            </a:extLst>
          </p:cNvPr>
          <p:cNvGrpSpPr/>
          <p:nvPr/>
        </p:nvGrpSpPr>
        <p:grpSpPr>
          <a:xfrm>
            <a:off x="889180" y="1556176"/>
            <a:ext cx="10049182" cy="4621033"/>
            <a:chOff x="876117" y="1104686"/>
            <a:chExt cx="10049182" cy="46210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17C2C5-51AC-CFDD-0678-A86DB3D44F75}"/>
                </a:ext>
              </a:extLst>
            </p:cNvPr>
            <p:cNvSpPr/>
            <p:nvPr/>
          </p:nvSpPr>
          <p:spPr>
            <a:xfrm>
              <a:off x="8853544" y="1104686"/>
              <a:ext cx="1602889" cy="5306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Input Image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E3F8FE-F9F0-7D33-66B4-9093E9C5A330}"/>
                </a:ext>
              </a:extLst>
            </p:cNvPr>
            <p:cNvSpPr/>
            <p:nvPr/>
          </p:nvSpPr>
          <p:spPr>
            <a:xfrm>
              <a:off x="8459679" y="1886477"/>
              <a:ext cx="2465620" cy="5306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Convolution Layer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357F88-94B4-2488-DCD5-5A87062D90FF}"/>
                </a:ext>
              </a:extLst>
            </p:cNvPr>
            <p:cNvSpPr/>
            <p:nvPr/>
          </p:nvSpPr>
          <p:spPr>
            <a:xfrm>
              <a:off x="8459679" y="2732149"/>
              <a:ext cx="2465620" cy="5306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Activation Function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15679B-3651-661B-88D8-A5A5E6464CC1}"/>
                </a:ext>
              </a:extLst>
            </p:cNvPr>
            <p:cNvSpPr/>
            <p:nvPr/>
          </p:nvSpPr>
          <p:spPr>
            <a:xfrm>
              <a:off x="8853544" y="3542196"/>
              <a:ext cx="1602889" cy="5306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Pooling Layer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D83B8B-471F-0C73-859E-5965C7C3E77C}"/>
                </a:ext>
              </a:extLst>
            </p:cNvPr>
            <p:cNvSpPr/>
            <p:nvPr/>
          </p:nvSpPr>
          <p:spPr>
            <a:xfrm>
              <a:off x="8870019" y="4349351"/>
              <a:ext cx="1602889" cy="5306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Full Connected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3BD911-4628-A61F-C5B6-8E451DDC258D}"/>
                </a:ext>
              </a:extLst>
            </p:cNvPr>
            <p:cNvSpPr/>
            <p:nvPr/>
          </p:nvSpPr>
          <p:spPr>
            <a:xfrm>
              <a:off x="8891044" y="5195023"/>
              <a:ext cx="1602889" cy="5306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Prediction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4065439-4B25-264A-EB8A-FA8D876DC50C}"/>
                </a:ext>
              </a:extLst>
            </p:cNvPr>
            <p:cNvGrpSpPr/>
            <p:nvPr/>
          </p:nvGrpSpPr>
          <p:grpSpPr>
            <a:xfrm>
              <a:off x="7528956" y="2163700"/>
              <a:ext cx="1324588" cy="1643844"/>
              <a:chOff x="7528956" y="2163700"/>
              <a:chExt cx="1324588" cy="164384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E7AC342-7379-11EA-C361-BF8CEDCDD0A1}"/>
                  </a:ext>
                </a:extLst>
              </p:cNvPr>
              <p:cNvCxnSpPr>
                <a:stCxn id="11" idx="1"/>
              </p:cNvCxnSpPr>
              <p:nvPr/>
            </p:nvCxnSpPr>
            <p:spPr>
              <a:xfrm flipH="1">
                <a:off x="7528956" y="3807544"/>
                <a:ext cx="13245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D144439-0A02-5A40-6472-8EB4764C24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8956" y="2166876"/>
                <a:ext cx="0" cy="164066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7B5C09FB-917D-DED4-4FD3-4AC79E69BF18}"/>
                  </a:ext>
                </a:extLst>
              </p:cNvPr>
              <p:cNvCxnSpPr/>
              <p:nvPr/>
            </p:nvCxnSpPr>
            <p:spPr>
              <a:xfrm>
                <a:off x="7528956" y="2163700"/>
                <a:ext cx="93072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D9AD5D5-8065-5402-30A2-ED75F2D3C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987" y="1641526"/>
              <a:ext cx="2" cy="2523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E84A082-7D28-16E9-FA98-87123C504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4886" y="2435193"/>
              <a:ext cx="2" cy="2523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C4EA5AE-CADD-DE1F-8458-C1BDC00038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2906" y="3276360"/>
              <a:ext cx="2" cy="2523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9971EBB-42A9-3DF3-EA26-BF9AC1A0D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9534" y="4072892"/>
              <a:ext cx="2" cy="2523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21853B8-1C41-2582-4B74-F3B8948531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4248" y="4904121"/>
              <a:ext cx="2" cy="2523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057E739-E232-2965-5E20-7D79814A1E7E}"/>
                </a:ext>
              </a:extLst>
            </p:cNvPr>
            <p:cNvCxnSpPr/>
            <p:nvPr/>
          </p:nvCxnSpPr>
          <p:spPr>
            <a:xfrm>
              <a:off x="4820194" y="2163700"/>
              <a:ext cx="2063932" cy="0"/>
            </a:xfrm>
            <a:prstGeom prst="straightConnector1">
              <a:avLst/>
            </a:prstGeom>
            <a:ln w="412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7A5DE5A-5732-D6D3-C6F5-2EAD924E04B2}"/>
                </a:ext>
              </a:extLst>
            </p:cNvPr>
            <p:cNvCxnSpPr/>
            <p:nvPr/>
          </p:nvCxnSpPr>
          <p:spPr>
            <a:xfrm>
              <a:off x="4820194" y="2962283"/>
              <a:ext cx="2063932" cy="0"/>
            </a:xfrm>
            <a:prstGeom prst="straightConnector1">
              <a:avLst/>
            </a:prstGeom>
            <a:ln w="412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73C10E4-419E-51B7-574D-4F8FC55D1BDA}"/>
                </a:ext>
              </a:extLst>
            </p:cNvPr>
            <p:cNvCxnSpPr/>
            <p:nvPr/>
          </p:nvCxnSpPr>
          <p:spPr>
            <a:xfrm>
              <a:off x="4820194" y="3800204"/>
              <a:ext cx="2063932" cy="0"/>
            </a:xfrm>
            <a:prstGeom prst="straightConnector1">
              <a:avLst/>
            </a:prstGeom>
            <a:ln w="41275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36F3DE-7797-AB40-1187-B297FBEDC266}"/>
                </a:ext>
              </a:extLst>
            </p:cNvPr>
            <p:cNvSpPr txBox="1"/>
            <p:nvPr/>
          </p:nvSpPr>
          <p:spPr>
            <a:xfrm>
              <a:off x="991541" y="1809757"/>
              <a:ext cx="33854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Extract spatial features in feature maps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B47AA19-E521-288B-AF36-2D2BD2DEC8AE}"/>
                </a:ext>
              </a:extLst>
            </p:cNvPr>
            <p:cNvSpPr txBox="1"/>
            <p:nvPr/>
          </p:nvSpPr>
          <p:spPr>
            <a:xfrm>
              <a:off x="876117" y="2687578"/>
              <a:ext cx="33854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Integrate nonlinearity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299BCF7-7E5D-4E46-FCF7-3BB0ABD49618}"/>
                </a:ext>
              </a:extLst>
            </p:cNvPr>
            <p:cNvSpPr txBox="1"/>
            <p:nvPr/>
          </p:nvSpPr>
          <p:spPr>
            <a:xfrm>
              <a:off x="876117" y="3453601"/>
              <a:ext cx="33854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Dimensionality reduction and location invariance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4B8892-A6D2-2747-E1F8-10EF7C25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65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7B84-4E88-48B3-8579-C45D1EAF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F9174B-3CA5-5AEC-BEDE-C4C870684EC9}"/>
              </a:ext>
            </a:extLst>
          </p:cNvPr>
          <p:cNvSpPr txBox="1"/>
          <p:nvPr/>
        </p:nvSpPr>
        <p:spPr>
          <a:xfrm>
            <a:off x="778600" y="508666"/>
            <a:ext cx="2557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2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NN</a:t>
            </a:r>
            <a:endParaRPr lang="en-US" sz="2200" b="1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2412;p185">
            <a:extLst>
              <a:ext uri="{FF2B5EF4-FFF2-40B4-BE49-F238E27FC236}">
                <a16:creationId xmlns:a16="http://schemas.microsoft.com/office/drawing/2014/main" id="{1A2CF43D-C2FD-8D34-C049-9E0B2510F0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953" y="2182282"/>
            <a:ext cx="8534986" cy="396407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413;p185">
            <a:extLst>
              <a:ext uri="{FF2B5EF4-FFF2-40B4-BE49-F238E27FC236}">
                <a16:creationId xmlns:a16="http://schemas.microsoft.com/office/drawing/2014/main" id="{5CF25370-8632-5249-8BCA-D60947C4915A}"/>
              </a:ext>
            </a:extLst>
          </p:cNvPr>
          <p:cNvSpPr txBox="1">
            <a:spLocks/>
          </p:cNvSpPr>
          <p:nvPr/>
        </p:nvSpPr>
        <p:spPr>
          <a:xfrm>
            <a:off x="3281475" y="992133"/>
            <a:ext cx="4684200" cy="586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000" dirty="0"/>
              <a:t>Seasonal ENSO prediction</a:t>
            </a:r>
          </a:p>
        </p:txBody>
      </p:sp>
      <p:sp>
        <p:nvSpPr>
          <p:cNvPr id="6" name="Google Shape;2415;p185">
            <a:extLst>
              <a:ext uri="{FF2B5EF4-FFF2-40B4-BE49-F238E27FC236}">
                <a16:creationId xmlns:a16="http://schemas.microsoft.com/office/drawing/2014/main" id="{8785DF1F-E13C-B3D6-03BF-457C1592BAE7}"/>
              </a:ext>
            </a:extLst>
          </p:cNvPr>
          <p:cNvSpPr txBox="1"/>
          <p:nvPr/>
        </p:nvSpPr>
        <p:spPr>
          <a:xfrm>
            <a:off x="961078" y="1659983"/>
            <a:ext cx="89157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latin typeface="Lato"/>
                <a:ea typeface="Lato"/>
                <a:cs typeface="Lato"/>
                <a:sym typeface="Lato"/>
              </a:rPr>
              <a:t>Task</a:t>
            </a:r>
            <a:r>
              <a:rPr lang="en" sz="1500" dirty="0">
                <a:latin typeface="Lato"/>
                <a:ea typeface="Lato"/>
                <a:cs typeface="Lato"/>
                <a:sym typeface="Lato"/>
              </a:rPr>
              <a:t>: Predict Nino3.4 index __ months into the future using maps of the ocean state </a:t>
            </a:r>
            <a:endParaRPr sz="15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2416;p185">
            <a:extLst>
              <a:ext uri="{FF2B5EF4-FFF2-40B4-BE49-F238E27FC236}">
                <a16:creationId xmlns:a16="http://schemas.microsoft.com/office/drawing/2014/main" id="{D2F311CD-67AF-2505-47CA-9ED95D3F92F0}"/>
              </a:ext>
            </a:extLst>
          </p:cNvPr>
          <p:cNvSpPr txBox="1"/>
          <p:nvPr/>
        </p:nvSpPr>
        <p:spPr>
          <a:xfrm>
            <a:off x="4007855" y="4611218"/>
            <a:ext cx="25635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Lato"/>
                <a:ea typeface="Lato"/>
                <a:cs typeface="Lato"/>
                <a:sym typeface="Lato"/>
              </a:rPr>
              <a:t>Figure from Ham et al. (2019)</a:t>
            </a:r>
            <a:endParaRPr sz="1200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D9686-5C36-D20F-FF46-0B93C815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86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D3B6-A303-856E-B689-6100DD368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5A398E-CAA6-A6B1-FE6B-3F3EB3E028D1}"/>
              </a:ext>
            </a:extLst>
          </p:cNvPr>
          <p:cNvSpPr txBox="1"/>
          <p:nvPr/>
        </p:nvSpPr>
        <p:spPr>
          <a:xfrm>
            <a:off x="2676057" y="2567226"/>
            <a:ext cx="683988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/>
              <a:t>Developing CNN Code!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9B02EC-D0EF-FEE5-855E-0491A85F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25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494E6-20E0-6FE0-D613-0C97369F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90C347-6ABE-8C96-4671-22BB298AEB4A}"/>
              </a:ext>
            </a:extLst>
          </p:cNvPr>
          <p:cNvSpPr txBox="1"/>
          <p:nvPr/>
        </p:nvSpPr>
        <p:spPr>
          <a:xfrm>
            <a:off x="782711" y="523273"/>
            <a:ext cx="1593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References: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DD6BD-26A9-42C1-6EB3-3B13436A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292F9-EAF5-4F4A-8C2F-5B3D93BDC1B5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D591B-EB29-DEF9-A74E-123F4DC7DFEF}"/>
              </a:ext>
            </a:extLst>
          </p:cNvPr>
          <p:cNvSpPr txBox="1"/>
          <p:nvPr/>
        </p:nvSpPr>
        <p:spPr>
          <a:xfrm>
            <a:off x="550433" y="1387737"/>
            <a:ext cx="110911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Apaydin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H.,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Feizi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H.,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Sattari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M. T., Colak, M. S.,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Shamshirband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S., &amp; Chau, K.-W. (2020). Comparative analysis of recurrent neural network architectures for reservoir inflow forecasting.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Water, 12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(5), 1500.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Barnes, E., et al..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Applied Machine Learning for Earth Scientists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Barnes Research Group, Department of Atmospheric Science, Colorado State University.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Chollet, F. (2018).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Deep Learning with Python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 Manning Publications.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Ham, Y.-G., Kim, J.-H., &amp; Luo, J.-J. (2019). Deep learning for multi-year ENSO forecasts.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Nature, 573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(7775), 568–572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Toms, B. A., Barnes, E. A., &amp; Hurrell, J. W. (2021). Assessing decadal predictability in an earth-system model using explainable neural networks. </a:t>
            </a:r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Geophysical Research Letters, 48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(12), e2021GL093842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222832"/>
                </a:solidFill>
                <a:effectLst/>
                <a:latin typeface="-apple-system"/>
              </a:rPr>
              <a:t>Pyrcz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, M.J., 2024, Applied </a:t>
            </a:r>
            <a:r>
              <a:rPr lang="en-US" b="0" i="0" dirty="0" err="1">
                <a:solidFill>
                  <a:srgbClr val="222832"/>
                </a:solidFill>
                <a:effectLst/>
                <a:latin typeface="-apple-system"/>
              </a:rPr>
              <a:t>Geostatistics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 in Python: A Hands-on Guide with </a:t>
            </a:r>
            <a:r>
              <a:rPr lang="en-US" b="0" i="0" dirty="0" err="1">
                <a:solidFill>
                  <a:srgbClr val="222832"/>
                </a:solidFill>
                <a:effectLst/>
                <a:latin typeface="-apple-system"/>
              </a:rPr>
              <a:t>GeostatsPy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, </a:t>
            </a:r>
            <a:r>
              <a:rPr lang="en-US" b="0" i="0" dirty="0">
                <a:effectLst/>
                <a:latin typeface="-apple-system"/>
                <a:hlinkClick r:id="rId3"/>
              </a:rPr>
              <a:t>https://geostatsguy.github.io/GeostatsPyDemos_Book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53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6214</TotalTime>
  <Words>1905</Words>
  <Application>Microsoft Macintosh PowerPoint</Application>
  <PresentationFormat>Widescreen</PresentationFormat>
  <Paragraphs>432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-apple-system</vt:lpstr>
      <vt:lpstr>-webkit-standard</vt:lpstr>
      <vt:lpstr>Aptos</vt:lpstr>
      <vt:lpstr>Aptos Display</vt:lpstr>
      <vt:lpstr>Arial</vt:lpstr>
      <vt:lpstr>Cambria Math</vt:lpstr>
      <vt:lpstr>Lato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Sarhadi, Ali</dc:creator>
  <cp:lastModifiedBy>Sarhadi, Ali</cp:lastModifiedBy>
  <cp:revision>373</cp:revision>
  <dcterms:created xsi:type="dcterms:W3CDTF">2024-10-22T16:06:08Z</dcterms:created>
  <dcterms:modified xsi:type="dcterms:W3CDTF">2024-11-01T11:29:20Z</dcterms:modified>
</cp:coreProperties>
</file>